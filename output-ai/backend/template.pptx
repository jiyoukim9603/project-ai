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JASO Sans" panose="020B0600000101010101" charset="-127"/>
      <p:regular r:id="rId17"/>
    </p:embeddedFont>
    <p:embeddedFont>
      <p:font typeface="JASO Sans Bold" panose="020B0600000101010101" charset="-127"/>
      <p:regular r:id="rId18"/>
    </p:embeddedFont>
    <p:embeddedFont>
      <p:font typeface="JASO Sans Heavy" panose="020B0600000101010101" charset="-127"/>
      <p:regular r:id="rId19"/>
    </p:embeddedFont>
    <p:embeddedFont>
      <p:font typeface="JASO Sans Light" panose="020B0600000101010101" charset="-127"/>
      <p:regular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DIN Next" panose="020B0600000101010101" charset="0"/>
      <p:regular r:id="rId25"/>
    </p:embeddedFont>
    <p:embeddedFont>
      <p:font typeface="Poppins Bold" panose="020B0600000101010101" charset="0"/>
      <p:regular r:id="rId26"/>
    </p:embeddedFont>
    <p:embeddedFont>
      <p:font typeface="Poppins Light" panose="00000400000000000000" pitchFamily="2" charset="0"/>
      <p:regular r:id="rId27"/>
      <p:italic r:id="rId28"/>
    </p:embeddedFont>
    <p:embeddedFont>
      <p:font typeface="Poppins Semi-Bold" panose="020B0600000101010101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2" autoAdjust="0"/>
    <p:restoredTop sz="94622" autoAdjust="0"/>
  </p:normalViewPr>
  <p:slideViewPr>
    <p:cSldViewPr>
      <p:cViewPr varScale="1">
        <p:scale>
          <a:sx n="39" d="100"/>
          <a:sy n="39" d="100"/>
        </p:scale>
        <p:origin x="72" y="3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9.jpe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8.jpeg"/><Relationship Id="rId2" Type="http://schemas.openxmlformats.org/officeDocument/2006/relationships/image" Target="../media/image1.png"/><Relationship Id="rId16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1.svg"/><Relationship Id="rId2" Type="http://schemas.openxmlformats.org/officeDocument/2006/relationships/image" Target="../media/image1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24.jpe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3.svg"/><Relationship Id="rId2" Type="http://schemas.openxmlformats.org/officeDocument/2006/relationships/image" Target="../media/image1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25.jpe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28.png"/><Relationship Id="rId3" Type="http://schemas.openxmlformats.org/officeDocument/2006/relationships/image" Target="../media/image2.svg"/><Relationship Id="rId21" Type="http://schemas.openxmlformats.org/officeDocument/2006/relationships/image" Target="../media/image31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7.svg"/><Relationship Id="rId25" Type="http://schemas.openxmlformats.org/officeDocument/2006/relationships/image" Target="../media/image33.svg"/><Relationship Id="rId2" Type="http://schemas.openxmlformats.org/officeDocument/2006/relationships/image" Target="../media/image1.png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32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3.svg"/><Relationship Id="rId10" Type="http://schemas.openxmlformats.org/officeDocument/2006/relationships/image" Target="../media/image9.png"/><Relationship Id="rId19" Type="http://schemas.openxmlformats.org/officeDocument/2006/relationships/image" Target="../media/image29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1.svg"/><Relationship Id="rId2" Type="http://schemas.openxmlformats.org/officeDocument/2006/relationships/image" Target="../media/image1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35.svg"/><Relationship Id="rId2" Type="http://schemas.openxmlformats.org/officeDocument/2006/relationships/image" Target="../media/image1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37.jpe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4.jpeg"/><Relationship Id="rId2" Type="http://schemas.openxmlformats.org/officeDocument/2006/relationships/image" Target="../media/image1.png"/><Relationship Id="rId16" Type="http://schemas.openxmlformats.org/officeDocument/2006/relationships/image" Target="../media/image3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40.png"/><Relationship Id="rId3" Type="http://schemas.openxmlformats.org/officeDocument/2006/relationships/image" Target="../media/image2.svg"/><Relationship Id="rId21" Type="http://schemas.openxmlformats.org/officeDocument/2006/relationships/image" Target="../media/image29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39.svg"/><Relationship Id="rId2" Type="http://schemas.openxmlformats.org/officeDocument/2006/relationships/image" Target="../media/image1.png"/><Relationship Id="rId16" Type="http://schemas.openxmlformats.org/officeDocument/2006/relationships/image" Target="../media/image38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43.svg"/><Relationship Id="rId10" Type="http://schemas.openxmlformats.org/officeDocument/2006/relationships/image" Target="../media/image9.png"/><Relationship Id="rId19" Type="http://schemas.openxmlformats.org/officeDocument/2006/relationships/image" Target="../media/image41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46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45.svg"/><Relationship Id="rId2" Type="http://schemas.openxmlformats.org/officeDocument/2006/relationships/image" Target="../media/image1.png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47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21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0.png"/><Relationship Id="rId2" Type="http://schemas.openxmlformats.org/officeDocument/2006/relationships/image" Target="../media/image1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3.svg"/><Relationship Id="rId2" Type="http://schemas.openxmlformats.org/officeDocument/2006/relationships/image" Target="../media/image1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49.png"/><Relationship Id="rId3" Type="http://schemas.openxmlformats.org/officeDocument/2006/relationships/image" Target="../media/image2.svg"/><Relationship Id="rId21" Type="http://schemas.openxmlformats.org/officeDocument/2006/relationships/image" Target="../media/image31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9.svg"/><Relationship Id="rId2" Type="http://schemas.openxmlformats.org/officeDocument/2006/relationships/image" Target="../media/image1.png"/><Relationship Id="rId16" Type="http://schemas.openxmlformats.org/officeDocument/2006/relationships/image" Target="../media/image28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52.svg"/><Relationship Id="rId10" Type="http://schemas.openxmlformats.org/officeDocument/2006/relationships/image" Target="../media/image9.png"/><Relationship Id="rId19" Type="http://schemas.openxmlformats.org/officeDocument/2006/relationships/image" Target="../media/image50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83564" y="7175870"/>
            <a:ext cx="10520872" cy="826098"/>
            <a:chOff x="0" y="0"/>
            <a:chExt cx="2164788" cy="1699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64788" cy="169979"/>
            </a:xfrm>
            <a:custGeom>
              <a:avLst/>
              <a:gdLst/>
              <a:ahLst/>
              <a:cxnLst/>
              <a:rect l="l" t="t" r="r" b="b"/>
              <a:pathLst>
                <a:path w="2164788" h="169979">
                  <a:moveTo>
                    <a:pt x="0" y="0"/>
                  </a:moveTo>
                  <a:lnTo>
                    <a:pt x="2164788" y="0"/>
                  </a:lnTo>
                  <a:lnTo>
                    <a:pt x="2164788" y="169979"/>
                  </a:lnTo>
                  <a:lnTo>
                    <a:pt x="0" y="169979"/>
                  </a:lnTo>
                  <a:close/>
                </a:path>
              </a:pathLst>
            </a:custGeom>
            <a:solidFill>
              <a:srgbClr val="B3555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164788" cy="217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0" y="2485057"/>
            <a:ext cx="18288000" cy="1318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ctr">
              <a:lnSpc>
                <a:spcPts val="9961"/>
              </a:lnSpc>
            </a:pPr>
            <a:r>
              <a:rPr lang="en-US" sz="9765" spc="-195" dirty="0" err="1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심플하고</a:t>
            </a:r>
            <a:r>
              <a:rPr lang="en-US" sz="9765" spc="-195" dirty="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9765" spc="-195" dirty="0" err="1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간결한</a:t>
            </a:r>
            <a:endParaRPr lang="en-US" sz="9765" spc="-195" dirty="0">
              <a:solidFill>
                <a:srgbClr val="333333"/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0" y="3780442"/>
            <a:ext cx="18288000" cy="15371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ctr">
              <a:lnSpc>
                <a:spcPts val="11634"/>
              </a:lnSpc>
            </a:pPr>
            <a:r>
              <a:rPr lang="en-US" sz="11406" b="1" dirty="0">
                <a:solidFill>
                  <a:srgbClr val="B35555"/>
                </a:solidFill>
                <a:latin typeface="JASO Sans Heavy"/>
                <a:ea typeface="JASO Sans Heavy"/>
                <a:cs typeface="JASO Sans Heavy"/>
                <a:sym typeface="JASO Sans Heavy"/>
              </a:rPr>
              <a:t>Presentation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83564" y="5902013"/>
            <a:ext cx="10520872" cy="298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87"/>
              </a:lnSpc>
            </a:pPr>
            <a:r>
              <a:rPr lang="en-US" sz="1679" spc="-16" dirty="0" err="1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실무에</a:t>
            </a:r>
            <a:r>
              <a:rPr lang="en-US" sz="1679" spc="-16" dirty="0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679" spc="-16" dirty="0" err="1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바로</a:t>
            </a:r>
            <a:r>
              <a:rPr lang="en-US" sz="1679" spc="-16" dirty="0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679" spc="-16" dirty="0" err="1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적용할</a:t>
            </a:r>
            <a:r>
              <a:rPr lang="en-US" sz="1679" spc="-16" dirty="0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수 </a:t>
            </a:r>
            <a:r>
              <a:rPr lang="en-US" sz="1679" spc="-16" dirty="0" err="1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있는</a:t>
            </a:r>
            <a:r>
              <a:rPr lang="en-US" sz="1679" spc="-16" dirty="0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679" spc="-16" dirty="0" err="1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슬라이드</a:t>
            </a:r>
            <a:r>
              <a:rPr lang="en-US" sz="1679" spc="-16" dirty="0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679" spc="-16" dirty="0" err="1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구성법을</a:t>
            </a:r>
            <a:r>
              <a:rPr lang="en-US" sz="1679" spc="-16" dirty="0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679" spc="-16" dirty="0" err="1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소개하며</a:t>
            </a:r>
            <a:r>
              <a:rPr lang="en-US" sz="1679" spc="-16" dirty="0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, 각 </a:t>
            </a:r>
            <a:r>
              <a:rPr lang="en-US" sz="1679" spc="-16" dirty="0" err="1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슬라이드는</a:t>
            </a:r>
            <a:r>
              <a:rPr lang="en-US" sz="1679" spc="-16" dirty="0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679" spc="-16" dirty="0" err="1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실제</a:t>
            </a:r>
            <a:r>
              <a:rPr lang="en-US" sz="1679" spc="-16" dirty="0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679" spc="-16" dirty="0" err="1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시각적</a:t>
            </a:r>
            <a:r>
              <a:rPr lang="en-US" sz="1679" spc="-16" dirty="0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679" spc="-16" dirty="0" err="1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배치를</a:t>
            </a:r>
            <a:r>
              <a:rPr lang="en-US" sz="1679" spc="-16" dirty="0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679" spc="-16" dirty="0" err="1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예시로</a:t>
            </a:r>
            <a:r>
              <a:rPr lang="en-US" sz="1679" spc="-16" dirty="0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679" spc="-16" dirty="0" err="1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보여줍니다</a:t>
            </a:r>
            <a:r>
              <a:rPr lang="en-US" sz="1679" spc="-16" dirty="0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.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00010" y="5427293"/>
            <a:ext cx="7287980" cy="350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5"/>
              </a:lnSpc>
            </a:pPr>
            <a:r>
              <a:rPr lang="en-US" sz="2156" b="1" spc="-88" dirty="0" err="1">
                <a:solidFill>
                  <a:srgbClr val="333333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쉽게</a:t>
            </a:r>
            <a:r>
              <a:rPr lang="en-US" sz="2156" b="1" spc="-88" dirty="0">
                <a:solidFill>
                  <a:srgbClr val="333333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2156" b="1" spc="-88" dirty="0" err="1">
                <a:solidFill>
                  <a:srgbClr val="333333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따라</a:t>
            </a:r>
            <a:r>
              <a:rPr lang="en-US" sz="2156" b="1" spc="-88" dirty="0">
                <a:solidFill>
                  <a:srgbClr val="333333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할 수 </a:t>
            </a:r>
            <a:r>
              <a:rPr lang="en-US" sz="2156" b="1" spc="-88" dirty="0" err="1">
                <a:solidFill>
                  <a:srgbClr val="333333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있는</a:t>
            </a:r>
            <a:r>
              <a:rPr lang="en-US" sz="2156" b="1" spc="-88" dirty="0">
                <a:solidFill>
                  <a:srgbClr val="333333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2156" b="1" spc="-88" dirty="0" err="1">
                <a:solidFill>
                  <a:srgbClr val="333333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다양한</a:t>
            </a:r>
            <a:r>
              <a:rPr lang="en-US" sz="2156" b="1" spc="-88" dirty="0">
                <a:solidFill>
                  <a:srgbClr val="333333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2156" b="1" spc="-88" dirty="0" err="1">
                <a:solidFill>
                  <a:srgbClr val="333333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레이아웃</a:t>
            </a:r>
            <a:r>
              <a:rPr lang="en-US" sz="2156" b="1" spc="-88" dirty="0">
                <a:solidFill>
                  <a:srgbClr val="333333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2156" b="1" spc="-88" dirty="0" err="1">
                <a:solidFill>
                  <a:srgbClr val="333333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가이드</a:t>
            </a:r>
            <a:endParaRPr lang="en-US" sz="2156" b="1" spc="-88" dirty="0">
              <a:solidFill>
                <a:srgbClr val="333333">
                  <a:alpha val="93725"/>
                </a:srgbClr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849201" y="7425302"/>
            <a:ext cx="1843297" cy="28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8"/>
              </a:lnSpc>
            </a:pPr>
            <a:r>
              <a:rPr lang="en-US" sz="1800" spc="-36" dirty="0" err="1">
                <a:solidFill>
                  <a:srgbClr val="F5F4F4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마케팅</a:t>
            </a:r>
            <a:r>
              <a:rPr lang="en-US" sz="1800" spc="-36" dirty="0">
                <a:solidFill>
                  <a:srgbClr val="F5F4F4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 1팀 </a:t>
            </a:r>
            <a:r>
              <a:rPr lang="en-US" sz="1800" spc="-36" dirty="0" err="1">
                <a:solidFill>
                  <a:srgbClr val="F5F4F4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이수진</a:t>
            </a:r>
            <a:endParaRPr lang="en-US" sz="1800" spc="-36" dirty="0">
              <a:solidFill>
                <a:srgbClr val="F5F4F4"/>
              </a:solidFill>
              <a:latin typeface="JASO Sans Light"/>
              <a:ea typeface="JASO Sans Light"/>
              <a:cs typeface="JASO Sans Light"/>
              <a:sym typeface="JASO Sans Ligh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223984" y="7425302"/>
            <a:ext cx="1843297" cy="28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8"/>
              </a:lnSpc>
            </a:pPr>
            <a:r>
              <a:rPr lang="en-US" sz="1800" spc="-36" dirty="0">
                <a:solidFill>
                  <a:srgbClr val="F5F4F4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2060.06.29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15035" y="7521970"/>
            <a:ext cx="3038051" cy="162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7"/>
              </a:lnSpc>
            </a:pPr>
            <a:r>
              <a:rPr lang="en-US" sz="1430" spc="42" dirty="0">
                <a:solidFill>
                  <a:srgbClr val="F5F4F4"/>
                </a:solidFill>
                <a:latin typeface="Poppins Light"/>
                <a:ea typeface="Poppins Light"/>
                <a:cs typeface="Poppins Light"/>
                <a:sym typeface="Poppins Light"/>
              </a:rPr>
              <a:t>hello@reallygreatsite.com</a:t>
            </a:r>
          </a:p>
        </p:txBody>
      </p:sp>
      <p:sp>
        <p:nvSpPr>
          <p:cNvPr id="12" name="AutoShape 12"/>
          <p:cNvSpPr/>
          <p:nvPr/>
        </p:nvSpPr>
        <p:spPr>
          <a:xfrm flipV="1">
            <a:off x="7485796" y="7398014"/>
            <a:ext cx="0" cy="381811"/>
          </a:xfrm>
          <a:prstGeom prst="line">
            <a:avLst/>
          </a:prstGeom>
          <a:ln w="9525" cap="rnd">
            <a:solidFill>
              <a:srgbClr val="F5F4F4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flipV="1">
            <a:off x="10803816" y="7398014"/>
            <a:ext cx="0" cy="381811"/>
          </a:xfrm>
          <a:prstGeom prst="line">
            <a:avLst/>
          </a:prstGeom>
          <a:ln w="9525" cap="rnd">
            <a:solidFill>
              <a:srgbClr val="F5F4F4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15043432" y="485661"/>
            <a:ext cx="2795067" cy="240203"/>
            <a:chOff x="0" y="0"/>
            <a:chExt cx="3726756" cy="320271"/>
          </a:xfrm>
        </p:grpSpPr>
        <p:sp>
          <p:nvSpPr>
            <p:cNvPr id="15" name="Freeform 15"/>
            <p:cNvSpPr/>
            <p:nvPr/>
          </p:nvSpPr>
          <p:spPr>
            <a:xfrm>
              <a:off x="1679974" y="2970"/>
              <a:ext cx="225532" cy="314331"/>
            </a:xfrm>
            <a:custGeom>
              <a:avLst/>
              <a:gdLst/>
              <a:ahLst/>
              <a:cxnLst/>
              <a:rect l="l" t="t" r="r" b="b"/>
              <a:pathLst>
                <a:path w="225532" h="314331">
                  <a:moveTo>
                    <a:pt x="0" y="0"/>
                  </a:moveTo>
                  <a:lnTo>
                    <a:pt x="225532" y="0"/>
                  </a:lnTo>
                  <a:lnTo>
                    <a:pt x="225532" y="314331"/>
                  </a:lnTo>
                  <a:lnTo>
                    <a:pt x="0" y="314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6" name="Freeform 16"/>
            <p:cNvSpPr/>
            <p:nvPr/>
          </p:nvSpPr>
          <p:spPr>
            <a:xfrm>
              <a:off x="1106158" y="11191"/>
              <a:ext cx="287090" cy="297888"/>
            </a:xfrm>
            <a:custGeom>
              <a:avLst/>
              <a:gdLst/>
              <a:ahLst/>
              <a:cxnLst/>
              <a:rect l="l" t="t" r="r" b="b"/>
              <a:pathLst>
                <a:path w="287090" h="297888">
                  <a:moveTo>
                    <a:pt x="0" y="0"/>
                  </a:moveTo>
                  <a:lnTo>
                    <a:pt x="287090" y="0"/>
                  </a:lnTo>
                  <a:lnTo>
                    <a:pt x="287090" y="297888"/>
                  </a:lnTo>
                  <a:lnTo>
                    <a:pt x="0" y="297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7" name="Freeform 17"/>
            <p:cNvSpPr/>
            <p:nvPr/>
          </p:nvSpPr>
          <p:spPr>
            <a:xfrm>
              <a:off x="2172206" y="0"/>
              <a:ext cx="321880" cy="320271"/>
            </a:xfrm>
            <a:custGeom>
              <a:avLst/>
              <a:gdLst/>
              <a:ahLst/>
              <a:cxnLst/>
              <a:rect l="l" t="t" r="r" b="b"/>
              <a:pathLst>
                <a:path w="321880" h="320271">
                  <a:moveTo>
                    <a:pt x="0" y="0"/>
                  </a:moveTo>
                  <a:lnTo>
                    <a:pt x="321880" y="0"/>
                  </a:lnTo>
                  <a:lnTo>
                    <a:pt x="321880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3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8" name="Freeform 18"/>
            <p:cNvSpPr/>
            <p:nvPr/>
          </p:nvSpPr>
          <p:spPr>
            <a:xfrm>
              <a:off x="2755412" y="0"/>
              <a:ext cx="320271" cy="320271"/>
            </a:xfrm>
            <a:custGeom>
              <a:avLst/>
              <a:gdLst/>
              <a:ahLst/>
              <a:cxnLst/>
              <a:rect l="l" t="t" r="r" b="b"/>
              <a:pathLst>
                <a:path w="320271" h="320271">
                  <a:moveTo>
                    <a:pt x="0" y="0"/>
                  </a:moveTo>
                  <a:lnTo>
                    <a:pt x="320271" y="0"/>
                  </a:lnTo>
                  <a:lnTo>
                    <a:pt x="320271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30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9" name="Freeform 19"/>
            <p:cNvSpPr/>
            <p:nvPr/>
          </p:nvSpPr>
          <p:spPr>
            <a:xfrm rot="-5400000">
              <a:off x="3465879" y="-52825"/>
              <a:ext cx="95832" cy="425921"/>
            </a:xfrm>
            <a:custGeom>
              <a:avLst/>
              <a:gdLst/>
              <a:ahLst/>
              <a:cxnLst/>
              <a:rect l="l" t="t" r="r" b="b"/>
              <a:pathLst>
                <a:path w="95832" h="425921">
                  <a:moveTo>
                    <a:pt x="0" y="0"/>
                  </a:moveTo>
                  <a:lnTo>
                    <a:pt x="95832" y="0"/>
                  </a:lnTo>
                  <a:lnTo>
                    <a:pt x="95832" y="425921"/>
                  </a:lnTo>
                  <a:lnTo>
                    <a:pt x="0" y="425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30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0" name="Freeform 20"/>
            <p:cNvSpPr/>
            <p:nvPr/>
          </p:nvSpPr>
          <p:spPr>
            <a:xfrm>
              <a:off x="0" y="14822"/>
              <a:ext cx="283522" cy="287839"/>
            </a:xfrm>
            <a:custGeom>
              <a:avLst/>
              <a:gdLst/>
              <a:ahLst/>
              <a:cxnLst/>
              <a:rect l="l" t="t" r="r" b="b"/>
              <a:pathLst>
                <a:path w="283522" h="287839">
                  <a:moveTo>
                    <a:pt x="0" y="0"/>
                  </a:moveTo>
                  <a:lnTo>
                    <a:pt x="283522" y="0"/>
                  </a:lnTo>
                  <a:lnTo>
                    <a:pt x="283522" y="287839"/>
                  </a:lnTo>
                  <a:lnTo>
                    <a:pt x="0" y="287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30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537522" y="2970"/>
              <a:ext cx="314636" cy="299691"/>
            </a:xfrm>
            <a:custGeom>
              <a:avLst/>
              <a:gdLst/>
              <a:ahLst/>
              <a:cxnLst/>
              <a:rect l="l" t="t" r="r" b="b"/>
              <a:pathLst>
                <a:path w="314636" h="299691">
                  <a:moveTo>
                    <a:pt x="0" y="0"/>
                  </a:moveTo>
                  <a:lnTo>
                    <a:pt x="314636" y="0"/>
                  </a:lnTo>
                  <a:lnTo>
                    <a:pt x="314636" y="299691"/>
                  </a:lnTo>
                  <a:lnTo>
                    <a:pt x="0" y="299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30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43432" y="485661"/>
            <a:ext cx="2795067" cy="240203"/>
            <a:chOff x="0" y="0"/>
            <a:chExt cx="3726756" cy="320271"/>
          </a:xfrm>
        </p:grpSpPr>
        <p:sp>
          <p:nvSpPr>
            <p:cNvPr id="3" name="Freeform 3"/>
            <p:cNvSpPr/>
            <p:nvPr/>
          </p:nvSpPr>
          <p:spPr>
            <a:xfrm>
              <a:off x="1679974" y="2970"/>
              <a:ext cx="225532" cy="314331"/>
            </a:xfrm>
            <a:custGeom>
              <a:avLst/>
              <a:gdLst/>
              <a:ahLst/>
              <a:cxnLst/>
              <a:rect l="l" t="t" r="r" b="b"/>
              <a:pathLst>
                <a:path w="225532" h="314331">
                  <a:moveTo>
                    <a:pt x="0" y="0"/>
                  </a:moveTo>
                  <a:lnTo>
                    <a:pt x="225532" y="0"/>
                  </a:lnTo>
                  <a:lnTo>
                    <a:pt x="225532" y="314331"/>
                  </a:lnTo>
                  <a:lnTo>
                    <a:pt x="0" y="314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" name="Freeform 4"/>
            <p:cNvSpPr/>
            <p:nvPr/>
          </p:nvSpPr>
          <p:spPr>
            <a:xfrm>
              <a:off x="1106158" y="11191"/>
              <a:ext cx="287090" cy="297888"/>
            </a:xfrm>
            <a:custGeom>
              <a:avLst/>
              <a:gdLst/>
              <a:ahLst/>
              <a:cxnLst/>
              <a:rect l="l" t="t" r="r" b="b"/>
              <a:pathLst>
                <a:path w="287090" h="297888">
                  <a:moveTo>
                    <a:pt x="0" y="0"/>
                  </a:moveTo>
                  <a:lnTo>
                    <a:pt x="287090" y="0"/>
                  </a:lnTo>
                  <a:lnTo>
                    <a:pt x="287090" y="297888"/>
                  </a:lnTo>
                  <a:lnTo>
                    <a:pt x="0" y="297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2172206" y="0"/>
              <a:ext cx="321880" cy="320271"/>
            </a:xfrm>
            <a:custGeom>
              <a:avLst/>
              <a:gdLst/>
              <a:ahLst/>
              <a:cxnLst/>
              <a:rect l="l" t="t" r="r" b="b"/>
              <a:pathLst>
                <a:path w="321880" h="320271">
                  <a:moveTo>
                    <a:pt x="0" y="0"/>
                  </a:moveTo>
                  <a:lnTo>
                    <a:pt x="321880" y="0"/>
                  </a:lnTo>
                  <a:lnTo>
                    <a:pt x="321880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3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6" name="Freeform 6"/>
            <p:cNvSpPr/>
            <p:nvPr/>
          </p:nvSpPr>
          <p:spPr>
            <a:xfrm>
              <a:off x="2755412" y="0"/>
              <a:ext cx="320271" cy="320271"/>
            </a:xfrm>
            <a:custGeom>
              <a:avLst/>
              <a:gdLst/>
              <a:ahLst/>
              <a:cxnLst/>
              <a:rect l="l" t="t" r="r" b="b"/>
              <a:pathLst>
                <a:path w="320271" h="320271">
                  <a:moveTo>
                    <a:pt x="0" y="0"/>
                  </a:moveTo>
                  <a:lnTo>
                    <a:pt x="320271" y="0"/>
                  </a:lnTo>
                  <a:lnTo>
                    <a:pt x="320271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30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7" name="Freeform 7"/>
            <p:cNvSpPr/>
            <p:nvPr/>
          </p:nvSpPr>
          <p:spPr>
            <a:xfrm rot="-5400000">
              <a:off x="3465879" y="-52825"/>
              <a:ext cx="95832" cy="425921"/>
            </a:xfrm>
            <a:custGeom>
              <a:avLst/>
              <a:gdLst/>
              <a:ahLst/>
              <a:cxnLst/>
              <a:rect l="l" t="t" r="r" b="b"/>
              <a:pathLst>
                <a:path w="95832" h="425921">
                  <a:moveTo>
                    <a:pt x="0" y="0"/>
                  </a:moveTo>
                  <a:lnTo>
                    <a:pt x="95832" y="0"/>
                  </a:lnTo>
                  <a:lnTo>
                    <a:pt x="95832" y="425921"/>
                  </a:lnTo>
                  <a:lnTo>
                    <a:pt x="0" y="425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30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Freeform 8"/>
            <p:cNvSpPr/>
            <p:nvPr/>
          </p:nvSpPr>
          <p:spPr>
            <a:xfrm>
              <a:off x="0" y="14822"/>
              <a:ext cx="283522" cy="287839"/>
            </a:xfrm>
            <a:custGeom>
              <a:avLst/>
              <a:gdLst/>
              <a:ahLst/>
              <a:cxnLst/>
              <a:rect l="l" t="t" r="r" b="b"/>
              <a:pathLst>
                <a:path w="283522" h="287839">
                  <a:moveTo>
                    <a:pt x="0" y="0"/>
                  </a:moveTo>
                  <a:lnTo>
                    <a:pt x="283522" y="0"/>
                  </a:lnTo>
                  <a:lnTo>
                    <a:pt x="283522" y="287839"/>
                  </a:lnTo>
                  <a:lnTo>
                    <a:pt x="0" y="287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30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537522" y="2970"/>
              <a:ext cx="314636" cy="299691"/>
            </a:xfrm>
            <a:custGeom>
              <a:avLst/>
              <a:gdLst/>
              <a:ahLst/>
              <a:cxnLst/>
              <a:rect l="l" t="t" r="r" b="b"/>
              <a:pathLst>
                <a:path w="314636" h="299691">
                  <a:moveTo>
                    <a:pt x="0" y="0"/>
                  </a:moveTo>
                  <a:lnTo>
                    <a:pt x="314636" y="0"/>
                  </a:lnTo>
                  <a:lnTo>
                    <a:pt x="314636" y="299691"/>
                  </a:lnTo>
                  <a:lnTo>
                    <a:pt x="0" y="299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30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0" y="10192835"/>
            <a:ext cx="18288000" cy="94165"/>
            <a:chOff x="0" y="0"/>
            <a:chExt cx="3762963" cy="193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62963" cy="19376"/>
            </a:xfrm>
            <a:custGeom>
              <a:avLst/>
              <a:gdLst/>
              <a:ahLst/>
              <a:cxnLst/>
              <a:rect l="l" t="t" r="r" b="b"/>
              <a:pathLst>
                <a:path w="3762963" h="19376">
                  <a:moveTo>
                    <a:pt x="0" y="0"/>
                  </a:moveTo>
                  <a:lnTo>
                    <a:pt x="3762963" y="0"/>
                  </a:lnTo>
                  <a:lnTo>
                    <a:pt x="3762963" y="19376"/>
                  </a:lnTo>
                  <a:lnTo>
                    <a:pt x="0" y="19376"/>
                  </a:lnTo>
                  <a:close/>
                </a:path>
              </a:pathLst>
            </a:custGeom>
            <a:solidFill>
              <a:srgbClr val="B3555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3762963" cy="67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49478" y="852837"/>
            <a:ext cx="735448" cy="735448"/>
            <a:chOff x="0" y="0"/>
            <a:chExt cx="191064" cy="19106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1064" cy="191064"/>
            </a:xfrm>
            <a:custGeom>
              <a:avLst/>
              <a:gdLst/>
              <a:ahLst/>
              <a:cxnLst/>
              <a:rect l="l" t="t" r="r" b="b"/>
              <a:pathLst>
                <a:path w="191064" h="191064">
                  <a:moveTo>
                    <a:pt x="0" y="0"/>
                  </a:moveTo>
                  <a:lnTo>
                    <a:pt x="191064" y="0"/>
                  </a:lnTo>
                  <a:lnTo>
                    <a:pt x="191064" y="191064"/>
                  </a:lnTo>
                  <a:lnTo>
                    <a:pt x="0" y="191064"/>
                  </a:lnTo>
                  <a:close/>
                </a:path>
              </a:pathLst>
            </a:custGeom>
            <a:solidFill>
              <a:srgbClr val="B35555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91064" cy="2196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0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AutoShape 16"/>
          <p:cNvSpPr/>
          <p:nvPr/>
        </p:nvSpPr>
        <p:spPr>
          <a:xfrm flipV="1">
            <a:off x="662837" y="2117428"/>
            <a:ext cx="16962327" cy="0"/>
          </a:xfrm>
          <a:prstGeom prst="line">
            <a:avLst/>
          </a:prstGeom>
          <a:ln w="19050" cap="flat">
            <a:solidFill>
              <a:srgbClr val="363636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9139238" y="4762500"/>
            <a:ext cx="0" cy="4016516"/>
          </a:xfrm>
          <a:prstGeom prst="line">
            <a:avLst/>
          </a:prstGeom>
          <a:ln w="9525" cap="rnd">
            <a:solidFill>
              <a:srgbClr val="222222">
                <a:alpha val="29804"/>
              </a:srgbClr>
            </a:solidFill>
            <a:prstDash val="lgDash"/>
            <a:headEnd type="none" w="sm" len="sm"/>
            <a:tailEnd type="none" w="sm" len="sm"/>
          </a:ln>
        </p:spPr>
        <p:txBody>
          <a:bodyPr>
            <a:normAutofit fontScale="25000" lnSpcReduction="20000"/>
          </a:bodyPr>
          <a:lstStyle/>
          <a:p>
            <a:endParaRPr lang="ko-KR" altLang="en-US"/>
          </a:p>
        </p:txBody>
      </p:sp>
      <p:sp>
        <p:nvSpPr>
          <p:cNvPr id="18" name="Freeform 18"/>
          <p:cNvSpPr/>
          <p:nvPr/>
        </p:nvSpPr>
        <p:spPr>
          <a:xfrm flipH="1">
            <a:off x="1020646" y="3261717"/>
            <a:ext cx="641024" cy="502403"/>
          </a:xfrm>
          <a:custGeom>
            <a:avLst/>
            <a:gdLst/>
            <a:ahLst/>
            <a:cxnLst/>
            <a:rect l="l" t="t" r="r" b="b"/>
            <a:pathLst>
              <a:path w="641024" h="502403">
                <a:moveTo>
                  <a:pt x="641024" y="0"/>
                </a:moveTo>
                <a:lnTo>
                  <a:pt x="0" y="0"/>
                </a:lnTo>
                <a:lnTo>
                  <a:pt x="0" y="502402"/>
                </a:lnTo>
                <a:lnTo>
                  <a:pt x="641024" y="502402"/>
                </a:lnTo>
                <a:lnTo>
                  <a:pt x="641024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2073272" y="872658"/>
            <a:ext cx="16214727" cy="791056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l">
              <a:lnSpc>
                <a:spcPts val="5969"/>
              </a:lnSpc>
            </a:pPr>
            <a:r>
              <a:rPr lang="en-US" sz="5852" b="1" spc="-117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장문의</a:t>
            </a:r>
            <a:r>
              <a:rPr lang="en-US" sz="5852" b="1" spc="-117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5852" b="1" spc="-117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글이</a:t>
            </a:r>
            <a:r>
              <a:rPr lang="en-US" sz="5852" b="1" spc="-117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5852" b="1" spc="-117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있는</a:t>
            </a:r>
            <a:r>
              <a:rPr lang="en-US" sz="5852" b="1" spc="-117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5852" b="1" spc="-117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페이지</a:t>
            </a:r>
            <a:endParaRPr lang="en-US" sz="5852" b="1" spc="-117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425695" y="1358870"/>
            <a:ext cx="6293520" cy="228644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1" indent="0" algn="l">
              <a:lnSpc>
                <a:spcPts val="1860"/>
              </a:lnSpc>
              <a:spcBef>
                <a:spcPct val="0"/>
              </a:spcBef>
            </a:pPr>
            <a:r>
              <a:rPr lang="en-US" sz="1550" u="none" strike="noStrike" spc="-26" dirty="0" err="1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메인타이틀에</a:t>
            </a:r>
            <a:r>
              <a:rPr lang="en-US" sz="1550" u="none" strike="noStrike" spc="-26" dirty="0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550" u="none" strike="noStrike" spc="-26" dirty="0" err="1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대한</a:t>
            </a:r>
            <a:r>
              <a:rPr lang="en-US" sz="1550" u="none" strike="noStrike" spc="-26" dirty="0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550" u="none" strike="noStrike" spc="-26" dirty="0" err="1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세부</a:t>
            </a:r>
            <a:r>
              <a:rPr lang="en-US" sz="1550" u="none" strike="noStrike" spc="-26" dirty="0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550" u="none" strike="noStrike" spc="-26" dirty="0" err="1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설명을</a:t>
            </a:r>
            <a:r>
              <a:rPr lang="en-US" sz="1550" u="none" strike="noStrike" spc="-26" dirty="0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550" u="none" strike="noStrike" spc="-26" dirty="0" err="1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입력해</a:t>
            </a:r>
            <a:r>
              <a:rPr lang="en-US" sz="1550" u="none" strike="noStrike" spc="-26" dirty="0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550" u="none" strike="noStrike" spc="-26" dirty="0" err="1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주세요</a:t>
            </a:r>
            <a:r>
              <a:rPr lang="en-US" sz="1550" u="none" strike="noStrike" spc="-26" dirty="0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46912" y="4667250"/>
            <a:ext cx="6845178" cy="4092694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622"/>
              </a:lnSpc>
            </a:pPr>
            <a:r>
              <a:rPr lang="en-US" sz="2250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텍스트 중심 레이아웃은 이미지나 그래픽 요소보다는 텍스트 자체가 콘텐츠의 주를 이루는 형태로, 전달하고자 하는 </a:t>
            </a:r>
            <a:r>
              <a:rPr lang="en-US" sz="2250" b="1" spc="-78">
                <a:solidFill>
                  <a:srgbClr val="333333">
                    <a:alpha val="80000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메시지의 본질에 집중</a:t>
            </a:r>
            <a:r>
              <a:rPr lang="en-US" sz="2250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할 수 있게 도와주는 구조입니다. </a:t>
            </a:r>
          </a:p>
          <a:p>
            <a:pPr algn="l">
              <a:lnSpc>
                <a:spcPts val="3622"/>
              </a:lnSpc>
            </a:pPr>
            <a:r>
              <a:rPr lang="en-US" sz="2250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특히 </a:t>
            </a:r>
            <a:r>
              <a:rPr lang="en-US" sz="2250" b="1" spc="-78">
                <a:solidFill>
                  <a:srgbClr val="333333">
                    <a:alpha val="80000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전략 기획서, 비즈니스 보고서, 기업의 비전 공유 자료</a:t>
            </a:r>
            <a:r>
              <a:rPr lang="en-US" sz="2250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처럼 말의 힘이 중요한 문서에서 매우 효과적으로 사용됩니다. </a:t>
            </a:r>
          </a:p>
          <a:p>
            <a:pPr algn="l">
              <a:lnSpc>
                <a:spcPts val="3622"/>
              </a:lnSpc>
            </a:pPr>
            <a:endParaRPr lang="en-US" sz="2250" spc="-78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algn="l">
              <a:lnSpc>
                <a:spcPts val="3622"/>
              </a:lnSpc>
            </a:pPr>
            <a:r>
              <a:rPr lang="en-US" sz="2250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디자인적 요소는 최소한으로 활용하고, 배경은 깔끔한 톤으로 유지하며, 내용 구성은 </a:t>
            </a:r>
            <a:r>
              <a:rPr lang="en-US" sz="2250" b="1" spc="-78">
                <a:solidFill>
                  <a:srgbClr val="333333">
                    <a:alpha val="80000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‘제목-소제목-본문’</a:t>
            </a:r>
            <a:r>
              <a:rPr lang="en-US" sz="2250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의 삼단 구조로 계층을 명확히 하여 정보를 질서 있게 전달하는 것이 핵심입니다.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97753" y="4667250"/>
            <a:ext cx="6845178" cy="3178338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622"/>
              </a:lnSpc>
            </a:pPr>
            <a:r>
              <a:rPr lang="en-US" sz="2250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이 레이아웃은 많은 텍스트를 담더라도 불필요하게 복잡해 보이지 않도록 하기 위해 행간, 자간, 정렬 방식, 문단 간 간격 등을 철저히 고려해 가독성을 높입니다. </a:t>
            </a:r>
          </a:p>
          <a:p>
            <a:pPr algn="l">
              <a:lnSpc>
                <a:spcPts val="3622"/>
              </a:lnSpc>
            </a:pPr>
            <a:endParaRPr lang="en-US" sz="2250" spc="-78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algn="l">
              <a:lnSpc>
                <a:spcPts val="3622"/>
              </a:lnSpc>
            </a:pPr>
            <a:r>
              <a:rPr lang="en-US" sz="2250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텍스트 중심 레이아웃을 성공적으로 구현하기 위해서는 폰트 선택에서부터 텍스트 컬러, 간격 설정까지 모든 요소가 조화를 이루어야 합니다.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77159" y="3169996"/>
            <a:ext cx="8997178" cy="681946"/>
          </a:xfrm>
          <a:prstGeom prst="rect">
            <a:avLst/>
          </a:prstGeom>
        </p:spPr>
        <p:txBody>
          <a:bodyPr lIns="0" tIns="0" rIns="0" bIns="0" rtlCol="0" anchor="t">
            <a:normAutofit fontScale="92500"/>
          </a:bodyPr>
          <a:lstStyle/>
          <a:p>
            <a:pPr marL="0" lvl="0" indent="0" algn="l">
              <a:lnSpc>
                <a:spcPts val="5355"/>
              </a:lnSpc>
              <a:spcBef>
                <a:spcPct val="0"/>
              </a:spcBef>
            </a:pPr>
            <a:r>
              <a:rPr lang="en-US" sz="4500" b="1" u="none" strike="noStrike" spc="-99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텍스트로</a:t>
            </a:r>
            <a:r>
              <a:rPr lang="en-US" sz="4500" b="1" u="none" strike="noStrike" spc="-99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4500" b="1" u="none" strike="noStrike" spc="-99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핵심을</a:t>
            </a:r>
            <a:r>
              <a:rPr lang="en-US" sz="4500" b="1" u="none" strike="noStrike" spc="-99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4500" b="1" u="none" strike="noStrike" spc="-99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전달하는</a:t>
            </a:r>
            <a:r>
              <a:rPr lang="en-US" sz="4500" b="1" u="none" strike="noStrike" spc="-99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4500" b="1" u="none" strike="noStrike" spc="-99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레이아웃</a:t>
            </a:r>
            <a:endParaRPr lang="en-US" sz="4500" b="1" u="none" strike="noStrike" spc="-99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97B285A3-CAA6-4C5B-981D-71C45061A2B6}"/>
              </a:ext>
            </a:extLst>
          </p:cNvPr>
          <p:cNvSpPr txBox="1"/>
          <p:nvPr/>
        </p:nvSpPr>
        <p:spPr>
          <a:xfrm>
            <a:off x="1049478" y="852838"/>
            <a:ext cx="735448" cy="734676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marL="0" lvl="0" indent="0" algn="ctr">
              <a:lnSpc>
                <a:spcPts val="2336"/>
              </a:lnSpc>
              <a:spcBef>
                <a:spcPct val="0"/>
              </a:spcBef>
            </a:pPr>
            <a:r>
              <a:rPr lang="en-US" sz="2290" spc="-171" dirty="0">
                <a:solidFill>
                  <a:srgbClr val="F5F4F4"/>
                </a:solidFill>
                <a:latin typeface="DIN Next"/>
                <a:ea typeface="DIN Next"/>
                <a:cs typeface="DIN Next"/>
                <a:sym typeface="DIN Next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43432" y="485661"/>
            <a:ext cx="2795067" cy="240203"/>
            <a:chOff x="0" y="0"/>
            <a:chExt cx="3726756" cy="320271"/>
          </a:xfrm>
        </p:grpSpPr>
        <p:sp>
          <p:nvSpPr>
            <p:cNvPr id="3" name="Freeform 3"/>
            <p:cNvSpPr/>
            <p:nvPr/>
          </p:nvSpPr>
          <p:spPr>
            <a:xfrm>
              <a:off x="1679974" y="2970"/>
              <a:ext cx="225532" cy="314331"/>
            </a:xfrm>
            <a:custGeom>
              <a:avLst/>
              <a:gdLst/>
              <a:ahLst/>
              <a:cxnLst/>
              <a:rect l="l" t="t" r="r" b="b"/>
              <a:pathLst>
                <a:path w="225532" h="314331">
                  <a:moveTo>
                    <a:pt x="0" y="0"/>
                  </a:moveTo>
                  <a:lnTo>
                    <a:pt x="225532" y="0"/>
                  </a:lnTo>
                  <a:lnTo>
                    <a:pt x="225532" y="314331"/>
                  </a:lnTo>
                  <a:lnTo>
                    <a:pt x="0" y="314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>
              <a:normAutofit fontScale="62500" lnSpcReduction="20000"/>
            </a:bodyPr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1106158" y="11191"/>
              <a:ext cx="287090" cy="297888"/>
            </a:xfrm>
            <a:custGeom>
              <a:avLst/>
              <a:gdLst/>
              <a:ahLst/>
              <a:cxnLst/>
              <a:rect l="l" t="t" r="r" b="b"/>
              <a:pathLst>
                <a:path w="287090" h="297888">
                  <a:moveTo>
                    <a:pt x="0" y="0"/>
                  </a:moveTo>
                  <a:lnTo>
                    <a:pt x="287090" y="0"/>
                  </a:lnTo>
                  <a:lnTo>
                    <a:pt x="287090" y="297888"/>
                  </a:lnTo>
                  <a:lnTo>
                    <a:pt x="0" y="297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>
              <a:normAutofit fontScale="55000" lnSpcReduction="20000"/>
            </a:bodyPr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2172206" y="0"/>
              <a:ext cx="321880" cy="320271"/>
            </a:xfrm>
            <a:custGeom>
              <a:avLst/>
              <a:gdLst/>
              <a:ahLst/>
              <a:cxnLst/>
              <a:rect l="l" t="t" r="r" b="b"/>
              <a:pathLst>
                <a:path w="321880" h="320271">
                  <a:moveTo>
                    <a:pt x="0" y="0"/>
                  </a:moveTo>
                  <a:lnTo>
                    <a:pt x="321880" y="0"/>
                  </a:lnTo>
                  <a:lnTo>
                    <a:pt x="321880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3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>
              <a:normAutofit fontScale="62500" lnSpcReduction="20000"/>
            </a:bodyPr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2755412" y="0"/>
              <a:ext cx="320271" cy="320271"/>
            </a:xfrm>
            <a:custGeom>
              <a:avLst/>
              <a:gdLst/>
              <a:ahLst/>
              <a:cxnLst/>
              <a:rect l="l" t="t" r="r" b="b"/>
              <a:pathLst>
                <a:path w="320271" h="320271">
                  <a:moveTo>
                    <a:pt x="0" y="0"/>
                  </a:moveTo>
                  <a:lnTo>
                    <a:pt x="320271" y="0"/>
                  </a:lnTo>
                  <a:lnTo>
                    <a:pt x="320271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30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>
              <a:normAutofit fontScale="62500" lnSpcReduction="20000"/>
            </a:bodyPr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 rot="-5400000">
              <a:off x="3465879" y="-52825"/>
              <a:ext cx="95832" cy="425921"/>
            </a:xfrm>
            <a:custGeom>
              <a:avLst/>
              <a:gdLst/>
              <a:ahLst/>
              <a:cxnLst/>
              <a:rect l="l" t="t" r="r" b="b"/>
              <a:pathLst>
                <a:path w="95832" h="425921">
                  <a:moveTo>
                    <a:pt x="0" y="0"/>
                  </a:moveTo>
                  <a:lnTo>
                    <a:pt x="95832" y="0"/>
                  </a:lnTo>
                  <a:lnTo>
                    <a:pt x="95832" y="425921"/>
                  </a:lnTo>
                  <a:lnTo>
                    <a:pt x="0" y="425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30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>
              <a:normAutofit fontScale="92500" lnSpcReduction="20000"/>
            </a:bodyPr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14822"/>
              <a:ext cx="283522" cy="287839"/>
            </a:xfrm>
            <a:custGeom>
              <a:avLst/>
              <a:gdLst/>
              <a:ahLst/>
              <a:cxnLst/>
              <a:rect l="l" t="t" r="r" b="b"/>
              <a:pathLst>
                <a:path w="283522" h="287839">
                  <a:moveTo>
                    <a:pt x="0" y="0"/>
                  </a:moveTo>
                  <a:lnTo>
                    <a:pt x="283522" y="0"/>
                  </a:lnTo>
                  <a:lnTo>
                    <a:pt x="283522" y="287839"/>
                  </a:lnTo>
                  <a:lnTo>
                    <a:pt x="0" y="287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30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>
              <a:normAutofit fontScale="47500" lnSpcReduction="20000"/>
            </a:bodyPr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537522" y="2970"/>
              <a:ext cx="314636" cy="299691"/>
            </a:xfrm>
            <a:custGeom>
              <a:avLst/>
              <a:gdLst/>
              <a:ahLst/>
              <a:cxnLst/>
              <a:rect l="l" t="t" r="r" b="b"/>
              <a:pathLst>
                <a:path w="314636" h="299691">
                  <a:moveTo>
                    <a:pt x="0" y="0"/>
                  </a:moveTo>
                  <a:lnTo>
                    <a:pt x="314636" y="0"/>
                  </a:lnTo>
                  <a:lnTo>
                    <a:pt x="314636" y="299691"/>
                  </a:lnTo>
                  <a:lnTo>
                    <a:pt x="0" y="299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30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  <p:txBody>
            <a:bodyPr>
              <a:normAutofit fontScale="55000" lnSpcReduction="20000"/>
            </a:bodyPr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0" y="10192835"/>
            <a:ext cx="18288000" cy="94165"/>
            <a:chOff x="0" y="0"/>
            <a:chExt cx="3762963" cy="193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62963" cy="19376"/>
            </a:xfrm>
            <a:custGeom>
              <a:avLst/>
              <a:gdLst/>
              <a:ahLst/>
              <a:cxnLst/>
              <a:rect l="l" t="t" r="r" b="b"/>
              <a:pathLst>
                <a:path w="3762963" h="19376">
                  <a:moveTo>
                    <a:pt x="0" y="0"/>
                  </a:moveTo>
                  <a:lnTo>
                    <a:pt x="3762963" y="0"/>
                  </a:lnTo>
                  <a:lnTo>
                    <a:pt x="3762963" y="19376"/>
                  </a:lnTo>
                  <a:lnTo>
                    <a:pt x="0" y="19376"/>
                  </a:lnTo>
                  <a:close/>
                </a:path>
              </a:pathLst>
            </a:custGeom>
            <a:solidFill>
              <a:srgbClr val="B3555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3762963" cy="67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49478" y="852837"/>
            <a:ext cx="735448" cy="735448"/>
            <a:chOff x="0" y="0"/>
            <a:chExt cx="191064" cy="19106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1064" cy="191064"/>
            </a:xfrm>
            <a:custGeom>
              <a:avLst/>
              <a:gdLst/>
              <a:ahLst/>
              <a:cxnLst/>
              <a:rect l="l" t="t" r="r" b="b"/>
              <a:pathLst>
                <a:path w="191064" h="191064">
                  <a:moveTo>
                    <a:pt x="0" y="0"/>
                  </a:moveTo>
                  <a:lnTo>
                    <a:pt x="191064" y="0"/>
                  </a:lnTo>
                  <a:lnTo>
                    <a:pt x="191064" y="191064"/>
                  </a:lnTo>
                  <a:lnTo>
                    <a:pt x="0" y="191064"/>
                  </a:lnTo>
                  <a:close/>
                </a:path>
              </a:pathLst>
            </a:custGeom>
            <a:solidFill>
              <a:srgbClr val="B35555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91064" cy="2196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0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AutoShape 16"/>
          <p:cNvSpPr/>
          <p:nvPr/>
        </p:nvSpPr>
        <p:spPr>
          <a:xfrm flipV="1">
            <a:off x="662837" y="2117428"/>
            <a:ext cx="16962327" cy="0"/>
          </a:xfrm>
          <a:prstGeom prst="line">
            <a:avLst/>
          </a:prstGeom>
          <a:ln w="19050" cap="flat">
            <a:solidFill>
              <a:srgbClr val="363636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" name="Group 17"/>
          <p:cNvGrpSpPr/>
          <p:nvPr/>
        </p:nvGrpSpPr>
        <p:grpSpPr>
          <a:xfrm>
            <a:off x="1546912" y="3025354"/>
            <a:ext cx="6440820" cy="6139193"/>
            <a:chOff x="0" y="0"/>
            <a:chExt cx="914322" cy="87150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14322" cy="871504"/>
            </a:xfrm>
            <a:custGeom>
              <a:avLst/>
              <a:gdLst/>
              <a:ahLst/>
              <a:cxnLst/>
              <a:rect l="l" t="t" r="r" b="b"/>
              <a:pathLst>
                <a:path w="914322" h="871504">
                  <a:moveTo>
                    <a:pt x="0" y="0"/>
                  </a:moveTo>
                  <a:lnTo>
                    <a:pt x="914322" y="0"/>
                  </a:lnTo>
                  <a:lnTo>
                    <a:pt x="914322" y="871504"/>
                  </a:lnTo>
                  <a:lnTo>
                    <a:pt x="0" y="871504"/>
                  </a:lnTo>
                  <a:close/>
                </a:path>
              </a:pathLst>
            </a:custGeom>
            <a:blipFill>
              <a:blip r:embed="rId16"/>
              <a:stretch>
                <a:fillRect t="-28586" b="-28586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8224358" y="3025354"/>
            <a:ext cx="3109361" cy="2937382"/>
            <a:chOff x="0" y="0"/>
            <a:chExt cx="922529" cy="87150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22529" cy="871504"/>
            </a:xfrm>
            <a:custGeom>
              <a:avLst/>
              <a:gdLst/>
              <a:ahLst/>
              <a:cxnLst/>
              <a:rect l="l" t="t" r="r" b="b"/>
              <a:pathLst>
                <a:path w="922529" h="871504">
                  <a:moveTo>
                    <a:pt x="0" y="0"/>
                  </a:moveTo>
                  <a:lnTo>
                    <a:pt x="922529" y="0"/>
                  </a:lnTo>
                  <a:lnTo>
                    <a:pt x="922529" y="871504"/>
                  </a:lnTo>
                  <a:lnTo>
                    <a:pt x="0" y="871504"/>
                  </a:lnTo>
                  <a:close/>
                </a:path>
              </a:pathLst>
            </a:custGeom>
            <a:blipFill>
              <a:blip r:embed="rId17"/>
              <a:stretch>
                <a:fillRect l="-20851" r="-20851"/>
              </a:stretch>
            </a:blipFill>
            <a:ln cap="sq">
              <a:noFill/>
              <a:prstDash val="solid"/>
              <a:miter/>
            </a:ln>
          </p:spPr>
          <p:txBody>
            <a:bodyPr>
              <a:normAutofit/>
            </a:bodyPr>
            <a:lstStyle/>
            <a:p>
              <a:endParaRPr lang="ko-KR" alt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224358" y="6227165"/>
            <a:ext cx="3109361" cy="2937382"/>
            <a:chOff x="0" y="0"/>
            <a:chExt cx="922529" cy="87150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22529" cy="871504"/>
            </a:xfrm>
            <a:custGeom>
              <a:avLst/>
              <a:gdLst/>
              <a:ahLst/>
              <a:cxnLst/>
              <a:rect l="l" t="t" r="r" b="b"/>
              <a:pathLst>
                <a:path w="922529" h="871504">
                  <a:moveTo>
                    <a:pt x="0" y="0"/>
                  </a:moveTo>
                  <a:lnTo>
                    <a:pt x="922529" y="0"/>
                  </a:lnTo>
                  <a:lnTo>
                    <a:pt x="922529" y="871504"/>
                  </a:lnTo>
                  <a:lnTo>
                    <a:pt x="0" y="871504"/>
                  </a:lnTo>
                  <a:close/>
                </a:path>
              </a:pathLst>
            </a:custGeom>
            <a:blipFill>
              <a:blip r:embed="rId18"/>
              <a:stretch>
                <a:fillRect t="-32318"/>
              </a:stretch>
            </a:blipFill>
            <a:ln cap="sq">
              <a:noFill/>
              <a:prstDash val="solid"/>
              <a:miter/>
            </a:ln>
          </p:spPr>
          <p:txBody>
            <a:bodyPr>
              <a:normAutofit/>
            </a:bodyPr>
            <a:lstStyle/>
            <a:p>
              <a:endParaRPr lang="ko-KR" alt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073273" y="872658"/>
            <a:ext cx="8137082" cy="791056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l">
              <a:lnSpc>
                <a:spcPts val="5969"/>
              </a:lnSpc>
            </a:pPr>
            <a:r>
              <a:rPr lang="en-US" sz="5852" b="1" spc="-117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사진이</a:t>
            </a:r>
            <a:r>
              <a:rPr lang="en-US" sz="5852" b="1" spc="-117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5852" b="1" spc="-117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중심이</a:t>
            </a:r>
            <a:r>
              <a:rPr lang="en-US" sz="5852" b="1" spc="-117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5852" b="1" spc="-117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되는</a:t>
            </a:r>
            <a:r>
              <a:rPr lang="en-US" sz="5852" b="1" spc="-117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5852" b="1" spc="-117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페이지</a:t>
            </a:r>
            <a:endParaRPr lang="en-US" sz="5852" b="1" spc="-117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118871" y="1358870"/>
            <a:ext cx="6293520" cy="228644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1" indent="0" algn="l">
              <a:lnSpc>
                <a:spcPts val="1860"/>
              </a:lnSpc>
              <a:spcBef>
                <a:spcPct val="0"/>
              </a:spcBef>
            </a:pPr>
            <a:r>
              <a:rPr lang="en-US" sz="1550" u="none" strike="noStrike" spc="-26" dirty="0" err="1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메인타이틀에</a:t>
            </a:r>
            <a:r>
              <a:rPr lang="en-US" sz="1550" u="none" strike="noStrike" spc="-26" dirty="0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550" u="none" strike="noStrike" spc="-26" dirty="0" err="1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대한</a:t>
            </a:r>
            <a:r>
              <a:rPr lang="en-US" sz="1550" u="none" strike="noStrike" spc="-26" dirty="0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550" u="none" strike="noStrike" spc="-26" dirty="0" err="1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세부</a:t>
            </a:r>
            <a:r>
              <a:rPr lang="en-US" sz="1550" u="none" strike="noStrike" spc="-26" dirty="0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550" u="none" strike="noStrike" spc="-26" dirty="0" err="1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설명을</a:t>
            </a:r>
            <a:r>
              <a:rPr lang="en-US" sz="1550" u="none" strike="noStrike" spc="-26" dirty="0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550" u="none" strike="noStrike" spc="-26" dirty="0" err="1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입력해</a:t>
            </a:r>
            <a:r>
              <a:rPr lang="en-US" sz="1550" u="none" strike="noStrike" spc="-26" dirty="0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550" u="none" strike="noStrike" spc="-26" dirty="0" err="1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주세요</a:t>
            </a:r>
            <a:r>
              <a:rPr lang="en-US" sz="1550" u="none" strike="noStrike" spc="-26" dirty="0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088457" y="4614675"/>
            <a:ext cx="4654474" cy="4549872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622"/>
              </a:lnSpc>
            </a:pP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이미지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강조형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레이아웃은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텍스트보다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시각적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요소가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중심이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되는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구성입니다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.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강렬하거나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감성적인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사진을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슬라이드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전면에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배치하여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즉각적인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시선을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끌 수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있습니다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.</a:t>
            </a:r>
          </a:p>
          <a:p>
            <a:pPr algn="l">
              <a:lnSpc>
                <a:spcPts val="3622"/>
              </a:lnSpc>
            </a:pP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텍스트는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보조적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역할로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,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주로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상단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또는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하단에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짧은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문장으로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배치하는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것이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일반적입니다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. </a:t>
            </a:r>
          </a:p>
          <a:p>
            <a:pPr algn="l">
              <a:lnSpc>
                <a:spcPts val="3622"/>
              </a:lnSpc>
            </a:pP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이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레이아웃은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광고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,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캠페인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,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감성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콘텐츠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,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제품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소개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,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이벤트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홍보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등에서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매우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효과적입니다</a:t>
            </a:r>
            <a:r>
              <a:rPr lang="en-US" sz="2250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088457" y="3025354"/>
            <a:ext cx="5750042" cy="2077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355"/>
              </a:lnSpc>
            </a:pPr>
            <a:r>
              <a:rPr lang="en-US" sz="4500" b="1" spc="-99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사진</a:t>
            </a:r>
            <a:r>
              <a:rPr lang="en-US" sz="4500" b="1" spc="-99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4500" b="1" spc="-99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하나</a:t>
            </a:r>
            <a:r>
              <a:rPr lang="en-US" sz="4500" b="1" u="none" strike="noStrike" spc="-99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로</a:t>
            </a:r>
            <a:endParaRPr lang="en-US" sz="4500" b="1" u="none" strike="noStrike" spc="-99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  <a:p>
            <a:pPr marL="0" lvl="0" indent="0" algn="l">
              <a:lnSpc>
                <a:spcPts val="5355"/>
              </a:lnSpc>
            </a:pPr>
            <a:r>
              <a:rPr lang="en-US" sz="4500" b="1" u="none" strike="noStrike" spc="-99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메시지를</a:t>
            </a:r>
            <a:r>
              <a:rPr lang="en-US" sz="4500" b="1" u="none" strike="noStrike" spc="-99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4500" b="1" u="none" strike="noStrike" spc="-99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전하다</a:t>
            </a:r>
            <a:endParaRPr lang="en-US" sz="4500" b="1" u="none" strike="noStrike" spc="-99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  <a:p>
            <a:pPr marL="0" lvl="0" indent="0" algn="l">
              <a:lnSpc>
                <a:spcPts val="5355"/>
              </a:lnSpc>
            </a:pPr>
            <a:endParaRPr lang="en-US" sz="4500" b="1" u="none" strike="noStrike" spc="-99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28" name="TextBox 19">
            <a:extLst>
              <a:ext uri="{FF2B5EF4-FFF2-40B4-BE49-F238E27FC236}">
                <a16:creationId xmlns:a16="http://schemas.microsoft.com/office/drawing/2014/main" id="{6077CB40-04B3-4585-BF85-DEC3A3889E16}"/>
              </a:ext>
            </a:extLst>
          </p:cNvPr>
          <p:cNvSpPr txBox="1"/>
          <p:nvPr/>
        </p:nvSpPr>
        <p:spPr>
          <a:xfrm>
            <a:off x="1049478" y="852838"/>
            <a:ext cx="735448" cy="734676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marL="0" lvl="0" indent="0" algn="ctr">
              <a:lnSpc>
                <a:spcPts val="2336"/>
              </a:lnSpc>
              <a:spcBef>
                <a:spcPct val="0"/>
              </a:spcBef>
            </a:pPr>
            <a:r>
              <a:rPr lang="en-US" sz="2290" spc="-171" dirty="0">
                <a:solidFill>
                  <a:srgbClr val="F5F4F4"/>
                </a:solidFill>
                <a:latin typeface="DIN Next"/>
                <a:ea typeface="DIN Next"/>
                <a:cs typeface="DIN Next"/>
                <a:sym typeface="DIN Next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43432" y="485661"/>
            <a:ext cx="2795067" cy="240203"/>
            <a:chOff x="0" y="0"/>
            <a:chExt cx="3726756" cy="320271"/>
          </a:xfrm>
        </p:grpSpPr>
        <p:sp>
          <p:nvSpPr>
            <p:cNvPr id="3" name="Freeform 3"/>
            <p:cNvSpPr/>
            <p:nvPr/>
          </p:nvSpPr>
          <p:spPr>
            <a:xfrm>
              <a:off x="1679974" y="2970"/>
              <a:ext cx="225532" cy="314331"/>
            </a:xfrm>
            <a:custGeom>
              <a:avLst/>
              <a:gdLst/>
              <a:ahLst/>
              <a:cxnLst/>
              <a:rect l="l" t="t" r="r" b="b"/>
              <a:pathLst>
                <a:path w="225532" h="314331">
                  <a:moveTo>
                    <a:pt x="0" y="0"/>
                  </a:moveTo>
                  <a:lnTo>
                    <a:pt x="225532" y="0"/>
                  </a:lnTo>
                  <a:lnTo>
                    <a:pt x="225532" y="314331"/>
                  </a:lnTo>
                  <a:lnTo>
                    <a:pt x="0" y="314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>
              <a:normAutofit fontScale="62500" lnSpcReduction="20000"/>
            </a:bodyPr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1106158" y="11191"/>
              <a:ext cx="287090" cy="297888"/>
            </a:xfrm>
            <a:custGeom>
              <a:avLst/>
              <a:gdLst/>
              <a:ahLst/>
              <a:cxnLst/>
              <a:rect l="l" t="t" r="r" b="b"/>
              <a:pathLst>
                <a:path w="287090" h="297888">
                  <a:moveTo>
                    <a:pt x="0" y="0"/>
                  </a:moveTo>
                  <a:lnTo>
                    <a:pt x="287090" y="0"/>
                  </a:lnTo>
                  <a:lnTo>
                    <a:pt x="287090" y="297888"/>
                  </a:lnTo>
                  <a:lnTo>
                    <a:pt x="0" y="297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>
              <a:normAutofit fontScale="55000" lnSpcReduction="20000"/>
            </a:bodyPr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2172206" y="0"/>
              <a:ext cx="321880" cy="320271"/>
            </a:xfrm>
            <a:custGeom>
              <a:avLst/>
              <a:gdLst/>
              <a:ahLst/>
              <a:cxnLst/>
              <a:rect l="l" t="t" r="r" b="b"/>
              <a:pathLst>
                <a:path w="321880" h="320271">
                  <a:moveTo>
                    <a:pt x="0" y="0"/>
                  </a:moveTo>
                  <a:lnTo>
                    <a:pt x="321880" y="0"/>
                  </a:lnTo>
                  <a:lnTo>
                    <a:pt x="321880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3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>
              <a:normAutofit fontScale="62500" lnSpcReduction="20000"/>
            </a:bodyPr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2755412" y="0"/>
              <a:ext cx="320271" cy="320271"/>
            </a:xfrm>
            <a:custGeom>
              <a:avLst/>
              <a:gdLst/>
              <a:ahLst/>
              <a:cxnLst/>
              <a:rect l="l" t="t" r="r" b="b"/>
              <a:pathLst>
                <a:path w="320271" h="320271">
                  <a:moveTo>
                    <a:pt x="0" y="0"/>
                  </a:moveTo>
                  <a:lnTo>
                    <a:pt x="320271" y="0"/>
                  </a:lnTo>
                  <a:lnTo>
                    <a:pt x="320271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30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>
              <a:normAutofit fontScale="62500" lnSpcReduction="20000"/>
            </a:bodyPr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 rot="-5400000">
              <a:off x="3465879" y="-52825"/>
              <a:ext cx="95832" cy="425921"/>
            </a:xfrm>
            <a:custGeom>
              <a:avLst/>
              <a:gdLst/>
              <a:ahLst/>
              <a:cxnLst/>
              <a:rect l="l" t="t" r="r" b="b"/>
              <a:pathLst>
                <a:path w="95832" h="425921">
                  <a:moveTo>
                    <a:pt x="0" y="0"/>
                  </a:moveTo>
                  <a:lnTo>
                    <a:pt x="95832" y="0"/>
                  </a:lnTo>
                  <a:lnTo>
                    <a:pt x="95832" y="425921"/>
                  </a:lnTo>
                  <a:lnTo>
                    <a:pt x="0" y="425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30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>
              <a:normAutofit fontScale="92500" lnSpcReduction="20000"/>
            </a:bodyPr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14822"/>
              <a:ext cx="283522" cy="287839"/>
            </a:xfrm>
            <a:custGeom>
              <a:avLst/>
              <a:gdLst/>
              <a:ahLst/>
              <a:cxnLst/>
              <a:rect l="l" t="t" r="r" b="b"/>
              <a:pathLst>
                <a:path w="283522" h="287839">
                  <a:moveTo>
                    <a:pt x="0" y="0"/>
                  </a:moveTo>
                  <a:lnTo>
                    <a:pt x="283522" y="0"/>
                  </a:lnTo>
                  <a:lnTo>
                    <a:pt x="283522" y="287839"/>
                  </a:lnTo>
                  <a:lnTo>
                    <a:pt x="0" y="287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30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>
              <a:normAutofit fontScale="47500" lnSpcReduction="20000"/>
            </a:bodyPr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537522" y="2970"/>
              <a:ext cx="314636" cy="299691"/>
            </a:xfrm>
            <a:custGeom>
              <a:avLst/>
              <a:gdLst/>
              <a:ahLst/>
              <a:cxnLst/>
              <a:rect l="l" t="t" r="r" b="b"/>
              <a:pathLst>
                <a:path w="314636" h="299691">
                  <a:moveTo>
                    <a:pt x="0" y="0"/>
                  </a:moveTo>
                  <a:lnTo>
                    <a:pt x="314636" y="0"/>
                  </a:lnTo>
                  <a:lnTo>
                    <a:pt x="314636" y="299691"/>
                  </a:lnTo>
                  <a:lnTo>
                    <a:pt x="0" y="299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30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  <p:txBody>
            <a:bodyPr>
              <a:normAutofit fontScale="55000" lnSpcReduction="20000"/>
            </a:bodyPr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0" y="10192835"/>
            <a:ext cx="18288000" cy="94165"/>
            <a:chOff x="0" y="0"/>
            <a:chExt cx="3762963" cy="193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62963" cy="19376"/>
            </a:xfrm>
            <a:custGeom>
              <a:avLst/>
              <a:gdLst/>
              <a:ahLst/>
              <a:cxnLst/>
              <a:rect l="l" t="t" r="r" b="b"/>
              <a:pathLst>
                <a:path w="3762963" h="19376">
                  <a:moveTo>
                    <a:pt x="0" y="0"/>
                  </a:moveTo>
                  <a:lnTo>
                    <a:pt x="3762963" y="0"/>
                  </a:lnTo>
                  <a:lnTo>
                    <a:pt x="3762963" y="19376"/>
                  </a:lnTo>
                  <a:lnTo>
                    <a:pt x="0" y="19376"/>
                  </a:lnTo>
                  <a:close/>
                </a:path>
              </a:pathLst>
            </a:custGeom>
            <a:solidFill>
              <a:srgbClr val="B35555"/>
            </a:solidFill>
          </p:spPr>
          <p:txBody>
            <a:bodyPr>
              <a:normAutofit fontScale="25000" lnSpcReduction="20000"/>
            </a:bodyPr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3762963" cy="67001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 fontScale="25000" lnSpcReduction="20000"/>
            </a:bodyPr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49478" y="852837"/>
            <a:ext cx="735448" cy="735448"/>
            <a:chOff x="0" y="0"/>
            <a:chExt cx="191064" cy="19106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1064" cy="191064"/>
            </a:xfrm>
            <a:custGeom>
              <a:avLst/>
              <a:gdLst/>
              <a:ahLst/>
              <a:cxnLst/>
              <a:rect l="l" t="t" r="r" b="b"/>
              <a:pathLst>
                <a:path w="191064" h="191064">
                  <a:moveTo>
                    <a:pt x="0" y="0"/>
                  </a:moveTo>
                  <a:lnTo>
                    <a:pt x="191064" y="0"/>
                  </a:lnTo>
                  <a:lnTo>
                    <a:pt x="191064" y="191064"/>
                  </a:lnTo>
                  <a:lnTo>
                    <a:pt x="0" y="191064"/>
                  </a:lnTo>
                  <a:close/>
                </a:path>
              </a:pathLst>
            </a:custGeom>
            <a:solidFill>
              <a:srgbClr val="B35555"/>
            </a:solidFill>
            <a:ln cap="sq">
              <a:noFill/>
              <a:prstDash val="solid"/>
              <a:miter/>
            </a:ln>
          </p:spPr>
          <p:txBody>
            <a:bodyPr>
              <a:normAutofit/>
            </a:bodyPr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91064" cy="219639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70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AutoShape 16"/>
          <p:cNvSpPr/>
          <p:nvPr/>
        </p:nvSpPr>
        <p:spPr>
          <a:xfrm flipV="1">
            <a:off x="662837" y="2117428"/>
            <a:ext cx="16962327" cy="0"/>
          </a:xfrm>
          <a:prstGeom prst="line">
            <a:avLst/>
          </a:prstGeom>
          <a:ln w="19050" cap="flat">
            <a:solidFill>
              <a:srgbClr val="363636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>
            <a:normAutofit fontScale="25000" lnSpcReduction="20000"/>
          </a:bodyPr>
          <a:lstStyle/>
          <a:p>
            <a:endParaRPr lang="ko-KR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2073272" y="872658"/>
            <a:ext cx="16214727" cy="791056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l">
              <a:lnSpc>
                <a:spcPts val="5969"/>
              </a:lnSpc>
            </a:pPr>
            <a:r>
              <a:rPr lang="en-US" sz="5852" b="1" spc="-117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3장의 </a:t>
            </a:r>
            <a:r>
              <a:rPr lang="en-US" sz="5852" b="1" spc="-117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카드가</a:t>
            </a:r>
            <a:r>
              <a:rPr lang="en-US" sz="5852" b="1" spc="-117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5852" b="1" spc="-117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있는</a:t>
            </a:r>
            <a:r>
              <a:rPr lang="en-US" sz="5852" b="1" spc="-117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5852" b="1" spc="-117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페이지</a:t>
            </a:r>
            <a:endParaRPr lang="en-US" sz="5852" b="1" spc="-117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922897" y="1358870"/>
            <a:ext cx="6293520" cy="228644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1" indent="0" algn="l">
              <a:lnSpc>
                <a:spcPts val="1860"/>
              </a:lnSpc>
              <a:spcBef>
                <a:spcPct val="0"/>
              </a:spcBef>
            </a:pPr>
            <a:r>
              <a:rPr lang="en-US" sz="1550" u="none" strike="noStrike" spc="-26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메인타이틀에 대한 세부 설명을 입력해 주세요.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546912" y="3025354"/>
            <a:ext cx="4878837" cy="6139193"/>
            <a:chOff x="0" y="0"/>
            <a:chExt cx="1284961" cy="161690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84961" cy="1616907"/>
            </a:xfrm>
            <a:custGeom>
              <a:avLst/>
              <a:gdLst/>
              <a:ahLst/>
              <a:cxnLst/>
              <a:rect l="l" t="t" r="r" b="b"/>
              <a:pathLst>
                <a:path w="1284961" h="1616907">
                  <a:moveTo>
                    <a:pt x="0" y="0"/>
                  </a:moveTo>
                  <a:lnTo>
                    <a:pt x="1284961" y="0"/>
                  </a:lnTo>
                  <a:lnTo>
                    <a:pt x="1284961" y="1616907"/>
                  </a:lnTo>
                  <a:lnTo>
                    <a:pt x="0" y="1616907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>
              <a:normAutofit/>
            </a:bodyPr>
            <a:lstStyle/>
            <a:p>
              <a:endParaRPr lang="ko-KR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284961" cy="1645482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04581" y="3025354"/>
            <a:ext cx="4878837" cy="6139193"/>
            <a:chOff x="0" y="0"/>
            <a:chExt cx="1284961" cy="161690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84961" cy="1616907"/>
            </a:xfrm>
            <a:custGeom>
              <a:avLst/>
              <a:gdLst/>
              <a:ahLst/>
              <a:cxnLst/>
              <a:rect l="l" t="t" r="r" b="b"/>
              <a:pathLst>
                <a:path w="1284961" h="1616907">
                  <a:moveTo>
                    <a:pt x="0" y="0"/>
                  </a:moveTo>
                  <a:lnTo>
                    <a:pt x="1284961" y="0"/>
                  </a:lnTo>
                  <a:lnTo>
                    <a:pt x="1284961" y="1616907"/>
                  </a:lnTo>
                  <a:lnTo>
                    <a:pt x="0" y="1616907"/>
                  </a:lnTo>
                  <a:close/>
                </a:path>
              </a:pathLst>
            </a:custGeom>
            <a:solidFill>
              <a:srgbClr val="EEDFDE"/>
            </a:solidFill>
            <a:ln cap="sq">
              <a:noFill/>
              <a:prstDash val="solid"/>
              <a:miter/>
            </a:ln>
          </p:spPr>
          <p:txBody>
            <a:bodyPr>
              <a:normAutofit/>
            </a:bodyPr>
            <a:lstStyle/>
            <a:p>
              <a:endParaRPr lang="ko-KR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1284961" cy="1645482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864094" y="3025354"/>
            <a:ext cx="4878837" cy="6139193"/>
            <a:chOff x="0" y="0"/>
            <a:chExt cx="1284961" cy="161690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84961" cy="1616907"/>
            </a:xfrm>
            <a:custGeom>
              <a:avLst/>
              <a:gdLst/>
              <a:ahLst/>
              <a:cxnLst/>
              <a:rect l="l" t="t" r="r" b="b"/>
              <a:pathLst>
                <a:path w="1284961" h="1616907">
                  <a:moveTo>
                    <a:pt x="0" y="0"/>
                  </a:moveTo>
                  <a:lnTo>
                    <a:pt x="1284961" y="0"/>
                  </a:lnTo>
                  <a:lnTo>
                    <a:pt x="1284961" y="1616907"/>
                  </a:lnTo>
                  <a:lnTo>
                    <a:pt x="0" y="1616907"/>
                  </a:lnTo>
                  <a:close/>
                </a:path>
              </a:pathLst>
            </a:custGeom>
            <a:solidFill>
              <a:srgbClr val="E3E3E3"/>
            </a:solidFill>
            <a:ln cap="sq">
              <a:noFill/>
              <a:prstDash val="solid"/>
              <a:miter/>
            </a:ln>
          </p:spPr>
          <p:txBody>
            <a:bodyPr>
              <a:normAutofit/>
            </a:bodyPr>
            <a:lstStyle/>
            <a:p>
              <a:endParaRPr lang="ko-KR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1284961" cy="1645482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2228806" y="6028275"/>
            <a:ext cx="3622698" cy="25527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ctr">
              <a:lnSpc>
                <a:spcPts val="3375"/>
              </a:lnSpc>
            </a:pP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이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카드는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브랜드나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조직을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처음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</a:p>
          <a:p>
            <a:pPr marL="0" lvl="0" indent="0" algn="ctr">
              <a:lnSpc>
                <a:spcPts val="3375"/>
              </a:lnSpc>
            </a:pP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소개할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때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사용하는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레이아웃입니다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.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브랜드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철학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,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설립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연도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,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비전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등을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간략하게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정리해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한눈에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브랜드의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정체성을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전달할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수</a:t>
            </a:r>
          </a:p>
          <a:p>
            <a:pPr marL="0" lvl="0" indent="0" algn="ctr">
              <a:lnSpc>
                <a:spcPts val="3375"/>
              </a:lnSpc>
            </a:pP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있습니다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386475" y="6028275"/>
            <a:ext cx="3622698" cy="25527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ctr">
              <a:lnSpc>
                <a:spcPts val="3375"/>
              </a:lnSpc>
            </a:pP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기업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이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제공하는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주요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서비스나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제품을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간략히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소개하는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데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적합한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카드입니다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. 한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장의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카드에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하나의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서비스만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집중해서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담고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,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아이콘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등을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활용하여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직관성을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높입니다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545987" y="6028275"/>
            <a:ext cx="3622698" cy="25527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ctr">
              <a:lnSpc>
                <a:spcPts val="3375"/>
              </a:lnSpc>
            </a:pPr>
            <a:r>
              <a:rPr lang="en-US" sz="2250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정보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콘텐츠나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교육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자료의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핵심만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뽑아서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요약하는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카드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구성입니다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. [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콘텐츠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마케팅의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3가지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전략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]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처럼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주제를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간단하게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정리하고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,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핵심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키워드를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강조하여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50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구성합니다</a:t>
            </a:r>
            <a:r>
              <a:rPr lang="en-US" sz="2250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067664" y="4104739"/>
            <a:ext cx="3837333" cy="1253021"/>
          </a:xfrm>
          <a:prstGeom prst="rect">
            <a:avLst/>
          </a:prstGeom>
        </p:spPr>
        <p:txBody>
          <a:bodyPr lIns="0" tIns="0" rIns="0" bIns="0" rtlCol="0" anchor="t">
            <a:normAutofit fontScale="92500"/>
          </a:bodyPr>
          <a:lstStyle/>
          <a:p>
            <a:pPr marL="0" lvl="0" indent="0" algn="ctr">
              <a:lnSpc>
                <a:spcPts val="4998"/>
              </a:lnSpc>
            </a:pPr>
            <a:r>
              <a:rPr lang="en-US" sz="4200" b="1" spc="-92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브랜드</a:t>
            </a:r>
            <a:r>
              <a:rPr lang="en-US" sz="4200" b="1" spc="-92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4200" b="1" spc="-92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소개용</a:t>
            </a:r>
            <a:endParaRPr lang="en-US" sz="4200" b="1" spc="-92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  <a:p>
            <a:pPr marL="0" lvl="0" indent="0" algn="ctr">
              <a:lnSpc>
                <a:spcPts val="4998"/>
              </a:lnSpc>
            </a:pPr>
            <a:r>
              <a:rPr lang="en-US" sz="4200" b="1" u="none" strike="noStrike" spc="-92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슬라이드</a:t>
            </a:r>
            <a:endParaRPr lang="en-US" sz="4200" b="1" u="none" strike="noStrike" spc="-92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7225333" y="4104739"/>
            <a:ext cx="3837333" cy="1881627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ctr">
              <a:lnSpc>
                <a:spcPts val="4998"/>
              </a:lnSpc>
            </a:pPr>
            <a:r>
              <a:rPr lang="en-US" sz="4200" b="1" spc="-92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핵심</a:t>
            </a:r>
            <a:r>
              <a:rPr lang="en-US" sz="4200" b="1" spc="-92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4200" b="1" spc="-92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서비스</a:t>
            </a:r>
            <a:endParaRPr lang="en-US" sz="4200" b="1" spc="-92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  <a:p>
            <a:pPr marL="0" lvl="0" indent="0" algn="ctr">
              <a:lnSpc>
                <a:spcPts val="4998"/>
              </a:lnSpc>
            </a:pPr>
            <a:r>
              <a:rPr lang="en-US" sz="4200" b="1" u="none" strike="noStrike" spc="-92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안내</a:t>
            </a:r>
            <a:r>
              <a:rPr lang="en-US" sz="4200" b="1" u="none" strike="noStrike" spc="-92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4200" b="1" u="none" strike="noStrike" spc="-92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카드</a:t>
            </a:r>
            <a:endParaRPr lang="en-US" sz="4200" b="1" u="none" strike="noStrike" spc="-92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  <a:p>
            <a:pPr marL="0" lvl="0" indent="0" algn="ctr">
              <a:lnSpc>
                <a:spcPts val="4998"/>
              </a:lnSpc>
            </a:pPr>
            <a:endParaRPr lang="en-US" sz="4200" b="1" u="none" strike="noStrike" spc="-92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2384846" y="4104739"/>
            <a:ext cx="3837333" cy="1253021"/>
          </a:xfrm>
          <a:prstGeom prst="rect">
            <a:avLst/>
          </a:prstGeom>
        </p:spPr>
        <p:txBody>
          <a:bodyPr lIns="0" tIns="0" rIns="0" bIns="0" rtlCol="0" anchor="t">
            <a:normAutofit fontScale="92500"/>
          </a:bodyPr>
          <a:lstStyle/>
          <a:p>
            <a:pPr marL="0" lvl="0" indent="0" algn="ctr">
              <a:lnSpc>
                <a:spcPts val="4998"/>
              </a:lnSpc>
            </a:pPr>
            <a:r>
              <a:rPr lang="en-US" sz="4200" b="1" spc="-92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정보형</a:t>
            </a:r>
            <a:r>
              <a:rPr lang="en-US" sz="4200" b="1" spc="-92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4200" b="1" spc="-92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콘텐츠</a:t>
            </a:r>
            <a:endParaRPr lang="en-US" sz="4200" b="1" spc="-92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  <a:p>
            <a:pPr marL="0" lvl="0" indent="0" algn="ctr">
              <a:lnSpc>
                <a:spcPts val="4998"/>
              </a:lnSpc>
            </a:pPr>
            <a:r>
              <a:rPr lang="en-US" sz="4200" b="1" u="none" strike="noStrike" spc="-92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하이라이트</a:t>
            </a:r>
            <a:endParaRPr lang="en-US" sz="4200" b="1" u="none" strike="noStrike" spc="-92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35" name="AutoShape 35"/>
          <p:cNvSpPr/>
          <p:nvPr/>
        </p:nvSpPr>
        <p:spPr>
          <a:xfrm flipH="1">
            <a:off x="1960658" y="5733997"/>
            <a:ext cx="4051345" cy="0"/>
          </a:xfrm>
          <a:prstGeom prst="line">
            <a:avLst/>
          </a:prstGeom>
          <a:ln w="19050" cap="rnd">
            <a:solidFill>
              <a:srgbClr val="333333">
                <a:alpha val="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>
            <a:normAutofit fontScale="25000" lnSpcReduction="20000"/>
          </a:bodyPr>
          <a:lstStyle/>
          <a:p>
            <a:endParaRPr lang="ko-KR" altLang="en-US"/>
          </a:p>
        </p:txBody>
      </p:sp>
      <p:sp>
        <p:nvSpPr>
          <p:cNvPr id="36" name="AutoShape 36"/>
          <p:cNvSpPr/>
          <p:nvPr/>
        </p:nvSpPr>
        <p:spPr>
          <a:xfrm flipH="1">
            <a:off x="7118327" y="5733997"/>
            <a:ext cx="4051345" cy="0"/>
          </a:xfrm>
          <a:prstGeom prst="line">
            <a:avLst/>
          </a:prstGeom>
          <a:ln w="19050" cap="rnd">
            <a:solidFill>
              <a:srgbClr val="333333">
                <a:alpha val="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>
            <a:normAutofit fontScale="25000" lnSpcReduction="20000"/>
          </a:bodyPr>
          <a:lstStyle/>
          <a:p>
            <a:endParaRPr lang="ko-KR" altLang="en-US"/>
          </a:p>
        </p:txBody>
      </p:sp>
      <p:sp>
        <p:nvSpPr>
          <p:cNvPr id="37" name="AutoShape 37"/>
          <p:cNvSpPr/>
          <p:nvPr/>
        </p:nvSpPr>
        <p:spPr>
          <a:xfrm flipH="1">
            <a:off x="12277840" y="5733997"/>
            <a:ext cx="4051345" cy="0"/>
          </a:xfrm>
          <a:prstGeom prst="line">
            <a:avLst/>
          </a:prstGeom>
          <a:ln w="19050" cap="rnd">
            <a:solidFill>
              <a:srgbClr val="333333">
                <a:alpha val="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>
            <a:normAutofit fontScale="25000" lnSpcReduction="20000"/>
          </a:bodyPr>
          <a:lstStyle/>
          <a:p>
            <a:endParaRPr lang="ko-KR" altLang="en-US"/>
          </a:p>
        </p:txBody>
      </p:sp>
      <p:sp>
        <p:nvSpPr>
          <p:cNvPr id="38" name="TextBox 38"/>
          <p:cNvSpPr txBox="1"/>
          <p:nvPr/>
        </p:nvSpPr>
        <p:spPr>
          <a:xfrm rot="-18144">
            <a:off x="3590809" y="3643239"/>
            <a:ext cx="1028620" cy="26154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l">
              <a:lnSpc>
                <a:spcPts val="1894"/>
              </a:lnSpc>
            </a:pPr>
            <a:r>
              <a:rPr lang="en-US" sz="1857" b="1" spc="-13">
                <a:solidFill>
                  <a:srgbClr val="B3555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Card 01</a:t>
            </a:r>
          </a:p>
        </p:txBody>
      </p:sp>
      <p:sp>
        <p:nvSpPr>
          <p:cNvPr id="39" name="TextBox 39"/>
          <p:cNvSpPr txBox="1"/>
          <p:nvPr/>
        </p:nvSpPr>
        <p:spPr>
          <a:xfrm rot="-18144">
            <a:off x="8748478" y="3643239"/>
            <a:ext cx="1028620" cy="26154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l">
              <a:lnSpc>
                <a:spcPts val="1894"/>
              </a:lnSpc>
            </a:pPr>
            <a:r>
              <a:rPr lang="en-US" sz="1857" b="1" spc="-13" dirty="0">
                <a:solidFill>
                  <a:srgbClr val="B3555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Card 02</a:t>
            </a:r>
          </a:p>
        </p:txBody>
      </p:sp>
      <p:sp>
        <p:nvSpPr>
          <p:cNvPr id="40" name="TextBox 40"/>
          <p:cNvSpPr txBox="1"/>
          <p:nvPr/>
        </p:nvSpPr>
        <p:spPr>
          <a:xfrm rot="-18144">
            <a:off x="13907990" y="3643239"/>
            <a:ext cx="1028620" cy="26154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l">
              <a:lnSpc>
                <a:spcPts val="1894"/>
              </a:lnSpc>
            </a:pPr>
            <a:r>
              <a:rPr lang="en-US" sz="1857" b="1" spc="-13" dirty="0">
                <a:solidFill>
                  <a:srgbClr val="B35555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Card 03</a:t>
            </a:r>
          </a:p>
        </p:txBody>
      </p:sp>
      <p:sp>
        <p:nvSpPr>
          <p:cNvPr id="41" name="Freeform 41"/>
          <p:cNvSpPr/>
          <p:nvPr/>
        </p:nvSpPr>
        <p:spPr>
          <a:xfrm>
            <a:off x="3352549" y="3694368"/>
            <a:ext cx="171426" cy="130713"/>
          </a:xfrm>
          <a:custGeom>
            <a:avLst/>
            <a:gdLst/>
            <a:ahLst/>
            <a:cxnLst/>
            <a:rect l="l" t="t" r="r" b="b"/>
            <a:pathLst>
              <a:path w="171426" h="130713">
                <a:moveTo>
                  <a:pt x="0" y="0"/>
                </a:moveTo>
                <a:lnTo>
                  <a:pt x="171426" y="0"/>
                </a:lnTo>
                <a:lnTo>
                  <a:pt x="171426" y="130712"/>
                </a:lnTo>
                <a:lnTo>
                  <a:pt x="0" y="13071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>
            <a:normAutofit fontScale="25000" lnSpcReduction="20000"/>
          </a:bodyPr>
          <a:lstStyle/>
          <a:p>
            <a:endParaRPr lang="ko-KR" altLang="en-US"/>
          </a:p>
        </p:txBody>
      </p:sp>
      <p:sp>
        <p:nvSpPr>
          <p:cNvPr id="42" name="Freeform 42"/>
          <p:cNvSpPr/>
          <p:nvPr/>
        </p:nvSpPr>
        <p:spPr>
          <a:xfrm>
            <a:off x="8510218" y="3694368"/>
            <a:ext cx="171426" cy="130713"/>
          </a:xfrm>
          <a:custGeom>
            <a:avLst/>
            <a:gdLst/>
            <a:ahLst/>
            <a:cxnLst/>
            <a:rect l="l" t="t" r="r" b="b"/>
            <a:pathLst>
              <a:path w="171426" h="130713">
                <a:moveTo>
                  <a:pt x="0" y="0"/>
                </a:moveTo>
                <a:lnTo>
                  <a:pt x="171426" y="0"/>
                </a:lnTo>
                <a:lnTo>
                  <a:pt x="171426" y="130712"/>
                </a:lnTo>
                <a:lnTo>
                  <a:pt x="0" y="13071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>
            <a:normAutofit fontScale="25000" lnSpcReduction="20000"/>
          </a:bodyPr>
          <a:lstStyle/>
          <a:p>
            <a:endParaRPr lang="ko-KR" altLang="en-US"/>
          </a:p>
        </p:txBody>
      </p:sp>
      <p:sp>
        <p:nvSpPr>
          <p:cNvPr id="43" name="Freeform 43"/>
          <p:cNvSpPr/>
          <p:nvPr/>
        </p:nvSpPr>
        <p:spPr>
          <a:xfrm>
            <a:off x="13669730" y="3694368"/>
            <a:ext cx="171426" cy="130713"/>
          </a:xfrm>
          <a:custGeom>
            <a:avLst/>
            <a:gdLst/>
            <a:ahLst/>
            <a:cxnLst/>
            <a:rect l="l" t="t" r="r" b="b"/>
            <a:pathLst>
              <a:path w="171426" h="130713">
                <a:moveTo>
                  <a:pt x="0" y="0"/>
                </a:moveTo>
                <a:lnTo>
                  <a:pt x="171427" y="0"/>
                </a:lnTo>
                <a:lnTo>
                  <a:pt x="171427" y="130712"/>
                </a:lnTo>
                <a:lnTo>
                  <a:pt x="0" y="13071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>
            <a:normAutofit fontScale="25000" lnSpcReduction="20000"/>
          </a:bodyPr>
          <a:lstStyle/>
          <a:p>
            <a:endParaRPr lang="ko-KR" altLang="en-US"/>
          </a:p>
        </p:txBody>
      </p:sp>
      <p:sp>
        <p:nvSpPr>
          <p:cNvPr id="44" name="TextBox 19">
            <a:extLst>
              <a:ext uri="{FF2B5EF4-FFF2-40B4-BE49-F238E27FC236}">
                <a16:creationId xmlns:a16="http://schemas.microsoft.com/office/drawing/2014/main" id="{A8E4488E-BCDA-4511-A8A8-A7032CBC7414}"/>
              </a:ext>
            </a:extLst>
          </p:cNvPr>
          <p:cNvSpPr txBox="1"/>
          <p:nvPr/>
        </p:nvSpPr>
        <p:spPr>
          <a:xfrm>
            <a:off x="1049478" y="852838"/>
            <a:ext cx="735448" cy="734676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marL="0" lvl="0" indent="0" algn="ctr">
              <a:lnSpc>
                <a:spcPts val="2336"/>
              </a:lnSpc>
              <a:spcBef>
                <a:spcPct val="0"/>
              </a:spcBef>
            </a:pPr>
            <a:r>
              <a:rPr lang="en-US" sz="2290" spc="-171" dirty="0">
                <a:solidFill>
                  <a:srgbClr val="F5F4F4"/>
                </a:solidFill>
                <a:latin typeface="DIN Next"/>
                <a:ea typeface="DIN Next"/>
                <a:cs typeface="DIN Next"/>
                <a:sym typeface="DIN Next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43432" y="485661"/>
            <a:ext cx="2795067" cy="240203"/>
            <a:chOff x="0" y="0"/>
            <a:chExt cx="3726756" cy="320271"/>
          </a:xfrm>
        </p:grpSpPr>
        <p:sp>
          <p:nvSpPr>
            <p:cNvPr id="3" name="Freeform 3"/>
            <p:cNvSpPr/>
            <p:nvPr/>
          </p:nvSpPr>
          <p:spPr>
            <a:xfrm>
              <a:off x="1679974" y="2970"/>
              <a:ext cx="225532" cy="314331"/>
            </a:xfrm>
            <a:custGeom>
              <a:avLst/>
              <a:gdLst/>
              <a:ahLst/>
              <a:cxnLst/>
              <a:rect l="l" t="t" r="r" b="b"/>
              <a:pathLst>
                <a:path w="225532" h="314331">
                  <a:moveTo>
                    <a:pt x="0" y="0"/>
                  </a:moveTo>
                  <a:lnTo>
                    <a:pt x="225532" y="0"/>
                  </a:lnTo>
                  <a:lnTo>
                    <a:pt x="225532" y="314331"/>
                  </a:lnTo>
                  <a:lnTo>
                    <a:pt x="0" y="314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" name="Freeform 4"/>
            <p:cNvSpPr/>
            <p:nvPr/>
          </p:nvSpPr>
          <p:spPr>
            <a:xfrm>
              <a:off x="1106158" y="11191"/>
              <a:ext cx="287090" cy="297888"/>
            </a:xfrm>
            <a:custGeom>
              <a:avLst/>
              <a:gdLst/>
              <a:ahLst/>
              <a:cxnLst/>
              <a:rect l="l" t="t" r="r" b="b"/>
              <a:pathLst>
                <a:path w="287090" h="297888">
                  <a:moveTo>
                    <a:pt x="0" y="0"/>
                  </a:moveTo>
                  <a:lnTo>
                    <a:pt x="287090" y="0"/>
                  </a:lnTo>
                  <a:lnTo>
                    <a:pt x="287090" y="297888"/>
                  </a:lnTo>
                  <a:lnTo>
                    <a:pt x="0" y="297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2172206" y="0"/>
              <a:ext cx="321880" cy="320271"/>
            </a:xfrm>
            <a:custGeom>
              <a:avLst/>
              <a:gdLst/>
              <a:ahLst/>
              <a:cxnLst/>
              <a:rect l="l" t="t" r="r" b="b"/>
              <a:pathLst>
                <a:path w="321880" h="320271">
                  <a:moveTo>
                    <a:pt x="0" y="0"/>
                  </a:moveTo>
                  <a:lnTo>
                    <a:pt x="321880" y="0"/>
                  </a:lnTo>
                  <a:lnTo>
                    <a:pt x="321880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3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6" name="Freeform 6"/>
            <p:cNvSpPr/>
            <p:nvPr/>
          </p:nvSpPr>
          <p:spPr>
            <a:xfrm>
              <a:off x="2755412" y="0"/>
              <a:ext cx="320271" cy="320271"/>
            </a:xfrm>
            <a:custGeom>
              <a:avLst/>
              <a:gdLst/>
              <a:ahLst/>
              <a:cxnLst/>
              <a:rect l="l" t="t" r="r" b="b"/>
              <a:pathLst>
                <a:path w="320271" h="320271">
                  <a:moveTo>
                    <a:pt x="0" y="0"/>
                  </a:moveTo>
                  <a:lnTo>
                    <a:pt x="320271" y="0"/>
                  </a:lnTo>
                  <a:lnTo>
                    <a:pt x="320271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30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7" name="Freeform 7"/>
            <p:cNvSpPr/>
            <p:nvPr/>
          </p:nvSpPr>
          <p:spPr>
            <a:xfrm rot="-5400000">
              <a:off x="3465879" y="-52825"/>
              <a:ext cx="95832" cy="425921"/>
            </a:xfrm>
            <a:custGeom>
              <a:avLst/>
              <a:gdLst/>
              <a:ahLst/>
              <a:cxnLst/>
              <a:rect l="l" t="t" r="r" b="b"/>
              <a:pathLst>
                <a:path w="95832" h="425921">
                  <a:moveTo>
                    <a:pt x="0" y="0"/>
                  </a:moveTo>
                  <a:lnTo>
                    <a:pt x="95832" y="0"/>
                  </a:lnTo>
                  <a:lnTo>
                    <a:pt x="95832" y="425921"/>
                  </a:lnTo>
                  <a:lnTo>
                    <a:pt x="0" y="425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30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Freeform 8"/>
            <p:cNvSpPr/>
            <p:nvPr/>
          </p:nvSpPr>
          <p:spPr>
            <a:xfrm>
              <a:off x="0" y="14822"/>
              <a:ext cx="283522" cy="287839"/>
            </a:xfrm>
            <a:custGeom>
              <a:avLst/>
              <a:gdLst/>
              <a:ahLst/>
              <a:cxnLst/>
              <a:rect l="l" t="t" r="r" b="b"/>
              <a:pathLst>
                <a:path w="283522" h="287839">
                  <a:moveTo>
                    <a:pt x="0" y="0"/>
                  </a:moveTo>
                  <a:lnTo>
                    <a:pt x="283522" y="0"/>
                  </a:lnTo>
                  <a:lnTo>
                    <a:pt x="283522" y="287839"/>
                  </a:lnTo>
                  <a:lnTo>
                    <a:pt x="0" y="287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30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537522" y="2970"/>
              <a:ext cx="314636" cy="299691"/>
            </a:xfrm>
            <a:custGeom>
              <a:avLst/>
              <a:gdLst/>
              <a:ahLst/>
              <a:cxnLst/>
              <a:rect l="l" t="t" r="r" b="b"/>
              <a:pathLst>
                <a:path w="314636" h="299691">
                  <a:moveTo>
                    <a:pt x="0" y="0"/>
                  </a:moveTo>
                  <a:lnTo>
                    <a:pt x="314636" y="0"/>
                  </a:lnTo>
                  <a:lnTo>
                    <a:pt x="314636" y="299691"/>
                  </a:lnTo>
                  <a:lnTo>
                    <a:pt x="0" y="299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30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0" y="10192835"/>
            <a:ext cx="18288000" cy="94165"/>
            <a:chOff x="0" y="0"/>
            <a:chExt cx="3762963" cy="193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62963" cy="19376"/>
            </a:xfrm>
            <a:custGeom>
              <a:avLst/>
              <a:gdLst/>
              <a:ahLst/>
              <a:cxnLst/>
              <a:rect l="l" t="t" r="r" b="b"/>
              <a:pathLst>
                <a:path w="3762963" h="19376">
                  <a:moveTo>
                    <a:pt x="0" y="0"/>
                  </a:moveTo>
                  <a:lnTo>
                    <a:pt x="3762963" y="0"/>
                  </a:lnTo>
                  <a:lnTo>
                    <a:pt x="3762963" y="19376"/>
                  </a:lnTo>
                  <a:lnTo>
                    <a:pt x="0" y="19376"/>
                  </a:lnTo>
                  <a:close/>
                </a:path>
              </a:pathLst>
            </a:custGeom>
            <a:solidFill>
              <a:srgbClr val="B3555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3762963" cy="67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49478" y="852837"/>
            <a:ext cx="735448" cy="735448"/>
            <a:chOff x="0" y="0"/>
            <a:chExt cx="191064" cy="19106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1064" cy="191064"/>
            </a:xfrm>
            <a:custGeom>
              <a:avLst/>
              <a:gdLst/>
              <a:ahLst/>
              <a:cxnLst/>
              <a:rect l="l" t="t" r="r" b="b"/>
              <a:pathLst>
                <a:path w="191064" h="191064">
                  <a:moveTo>
                    <a:pt x="0" y="0"/>
                  </a:moveTo>
                  <a:lnTo>
                    <a:pt x="191064" y="0"/>
                  </a:lnTo>
                  <a:lnTo>
                    <a:pt x="191064" y="191064"/>
                  </a:lnTo>
                  <a:lnTo>
                    <a:pt x="0" y="191064"/>
                  </a:lnTo>
                  <a:close/>
                </a:path>
              </a:pathLst>
            </a:custGeom>
            <a:solidFill>
              <a:srgbClr val="B35555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91064" cy="219639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70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AutoShape 16"/>
          <p:cNvSpPr/>
          <p:nvPr/>
        </p:nvSpPr>
        <p:spPr>
          <a:xfrm flipV="1">
            <a:off x="662837" y="2117428"/>
            <a:ext cx="16962327" cy="0"/>
          </a:xfrm>
          <a:prstGeom prst="line">
            <a:avLst/>
          </a:prstGeom>
          <a:ln w="19050" cap="flat">
            <a:solidFill>
              <a:srgbClr val="363636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8841322" y="3298842"/>
            <a:ext cx="302678" cy="302678"/>
          </a:xfrm>
          <a:custGeom>
            <a:avLst/>
            <a:gdLst/>
            <a:ahLst/>
            <a:cxnLst/>
            <a:rect l="l" t="t" r="r" b="b"/>
            <a:pathLst>
              <a:path w="302678" h="302678">
                <a:moveTo>
                  <a:pt x="0" y="0"/>
                </a:moveTo>
                <a:lnTo>
                  <a:pt x="302678" y="0"/>
                </a:lnTo>
                <a:lnTo>
                  <a:pt x="302678" y="302679"/>
                </a:lnTo>
                <a:lnTo>
                  <a:pt x="0" y="3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8841322" y="6584301"/>
            <a:ext cx="302678" cy="302678"/>
          </a:xfrm>
          <a:custGeom>
            <a:avLst/>
            <a:gdLst/>
            <a:ahLst/>
            <a:cxnLst/>
            <a:rect l="l" t="t" r="r" b="b"/>
            <a:pathLst>
              <a:path w="302678" h="302678">
                <a:moveTo>
                  <a:pt x="0" y="0"/>
                </a:moveTo>
                <a:lnTo>
                  <a:pt x="302678" y="0"/>
                </a:lnTo>
                <a:lnTo>
                  <a:pt x="302678" y="302679"/>
                </a:lnTo>
                <a:lnTo>
                  <a:pt x="0" y="3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546912" y="3025354"/>
            <a:ext cx="6772225" cy="2858284"/>
            <a:chOff x="0" y="0"/>
            <a:chExt cx="961367" cy="40575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61367" cy="405754"/>
            </a:xfrm>
            <a:custGeom>
              <a:avLst/>
              <a:gdLst/>
              <a:ahLst/>
              <a:cxnLst/>
              <a:rect l="l" t="t" r="r" b="b"/>
              <a:pathLst>
                <a:path w="961367" h="405754">
                  <a:moveTo>
                    <a:pt x="0" y="0"/>
                  </a:moveTo>
                  <a:lnTo>
                    <a:pt x="961367" y="0"/>
                  </a:lnTo>
                  <a:lnTo>
                    <a:pt x="961367" y="405754"/>
                  </a:lnTo>
                  <a:lnTo>
                    <a:pt x="0" y="405754"/>
                  </a:lnTo>
                  <a:close/>
                </a:path>
              </a:pathLst>
            </a:custGeom>
            <a:blipFill>
              <a:blip r:embed="rId18"/>
              <a:stretch>
                <a:fillRect l="-15857" t="-98822" r="-7981" b="-94592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546912" y="6310813"/>
            <a:ext cx="6772225" cy="2858284"/>
            <a:chOff x="0" y="0"/>
            <a:chExt cx="961367" cy="40575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61367" cy="405754"/>
            </a:xfrm>
            <a:custGeom>
              <a:avLst/>
              <a:gdLst/>
              <a:ahLst/>
              <a:cxnLst/>
              <a:rect l="l" t="t" r="r" b="b"/>
              <a:pathLst>
                <a:path w="961367" h="405754">
                  <a:moveTo>
                    <a:pt x="0" y="0"/>
                  </a:moveTo>
                  <a:lnTo>
                    <a:pt x="961367" y="0"/>
                  </a:lnTo>
                  <a:lnTo>
                    <a:pt x="961367" y="405754"/>
                  </a:lnTo>
                  <a:lnTo>
                    <a:pt x="0" y="405754"/>
                  </a:lnTo>
                  <a:close/>
                </a:path>
              </a:pathLst>
            </a:custGeom>
            <a:blipFill>
              <a:blip r:embed="rId19"/>
              <a:stretch>
                <a:fillRect t="-29049" b="-29049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2073273" y="872658"/>
            <a:ext cx="8935899" cy="791056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l">
              <a:lnSpc>
                <a:spcPts val="5969"/>
              </a:lnSpc>
            </a:pPr>
            <a:r>
              <a:rPr lang="en-US" sz="5852" b="1" spc="-117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사진과 설명글이 있는 페이지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760447" y="1358870"/>
            <a:ext cx="6293520" cy="228644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1" indent="0" algn="l">
              <a:lnSpc>
                <a:spcPts val="1860"/>
              </a:lnSpc>
              <a:spcBef>
                <a:spcPct val="0"/>
              </a:spcBef>
            </a:pPr>
            <a:r>
              <a:rPr lang="en-US" sz="1550" u="none" strike="noStrike" spc="-26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메인타이틀에 대한 세부 설명을 입력해 주세요.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841322" y="3961105"/>
            <a:ext cx="7901609" cy="1806804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622"/>
              </a:lnSpc>
            </a:pPr>
            <a:r>
              <a:rPr lang="en-US" sz="2250" spc="-78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시각 자료를 중심으로 정보를 전달할 때 활용하기 좋은 레이아웃이에요.</a:t>
            </a:r>
          </a:p>
          <a:p>
            <a:pPr algn="l">
              <a:lnSpc>
                <a:spcPts val="3622"/>
              </a:lnSpc>
            </a:pPr>
            <a:r>
              <a:rPr lang="en-US" sz="2250" spc="-78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사진을 크게 배치해 실제 사례나 과정을 직관적으로 보여줄 수 있으며, 그 옆에 간단한 설명을 배치해 핵심 내용을 빠르게 이해하도록 도와줍니다.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841322" y="7246564"/>
            <a:ext cx="7901609" cy="2263982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622"/>
              </a:lnSpc>
            </a:pPr>
            <a:r>
              <a:rPr lang="en-US" sz="2250" spc="-78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동일한 구성의 반복 페이지를 통해 통일감 있는 정보 구조를 만들 수 있는 레이아웃입니다. 이미지를 중심으로 스토리의 흐름을 보여주거나 단계별 변화, 비교 자료 등을 소개할 때 유용하게 사용할 수 있어요.</a:t>
            </a:r>
          </a:p>
          <a:p>
            <a:pPr algn="l">
              <a:lnSpc>
                <a:spcPts val="3622"/>
              </a:lnSpc>
            </a:pPr>
            <a:r>
              <a:rPr lang="en-US" sz="2250" spc="-78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깔끔한 구성 덕분에 다양한 비즈니스·교육용 자료에서 자주 사용됩니다.</a:t>
            </a:r>
          </a:p>
          <a:p>
            <a:pPr algn="l">
              <a:lnSpc>
                <a:spcPts val="3622"/>
              </a:lnSpc>
            </a:pPr>
            <a:r>
              <a:rPr lang="en-US" sz="2250" spc="-78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00541" y="3156198"/>
            <a:ext cx="7901609" cy="614807"/>
          </a:xfrm>
          <a:prstGeom prst="rect">
            <a:avLst/>
          </a:prstGeom>
        </p:spPr>
        <p:txBody>
          <a:bodyPr lIns="0" tIns="0" rIns="0" bIns="0" rtlCol="0" anchor="t">
            <a:normAutofit fontScale="92500"/>
          </a:bodyPr>
          <a:lstStyle/>
          <a:p>
            <a:pPr marL="0" lvl="0" indent="0" algn="l">
              <a:lnSpc>
                <a:spcPts val="4879"/>
              </a:lnSpc>
            </a:pPr>
            <a:r>
              <a:rPr lang="en-US" sz="4100" b="1" spc="-9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실사 이미지 중심</a:t>
            </a:r>
            <a:r>
              <a:rPr lang="en-US" sz="4100" b="1" u="none" strike="noStrike" spc="-9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정보 소개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300541" y="6441657"/>
            <a:ext cx="7901609" cy="614807"/>
          </a:xfrm>
          <a:prstGeom prst="rect">
            <a:avLst/>
          </a:prstGeom>
        </p:spPr>
        <p:txBody>
          <a:bodyPr lIns="0" tIns="0" rIns="0" bIns="0" rtlCol="0" anchor="t">
            <a:normAutofit fontScale="92500"/>
          </a:bodyPr>
          <a:lstStyle/>
          <a:p>
            <a:pPr marL="0" lvl="0" indent="0" algn="l">
              <a:lnSpc>
                <a:spcPts val="4879"/>
              </a:lnSpc>
            </a:pPr>
            <a:r>
              <a:rPr lang="en-US" sz="4100" b="1" spc="-9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연속 이미지 기반</a:t>
            </a:r>
            <a:r>
              <a:rPr lang="en-US" sz="4100" b="1" u="none" strike="noStrike" spc="-9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설명형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0F4E8BEC-F512-41A7-8130-62C850948E4B}"/>
              </a:ext>
            </a:extLst>
          </p:cNvPr>
          <p:cNvSpPr txBox="1"/>
          <p:nvPr/>
        </p:nvSpPr>
        <p:spPr>
          <a:xfrm>
            <a:off x="1049478" y="852838"/>
            <a:ext cx="735448" cy="734676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marL="0" lvl="0" indent="0" algn="ctr">
              <a:lnSpc>
                <a:spcPts val="2336"/>
              </a:lnSpc>
              <a:spcBef>
                <a:spcPct val="0"/>
              </a:spcBef>
            </a:pPr>
            <a:r>
              <a:rPr lang="en-US" sz="2290" spc="-171" dirty="0">
                <a:solidFill>
                  <a:srgbClr val="F5F4F4"/>
                </a:solidFill>
                <a:latin typeface="DIN Next"/>
                <a:ea typeface="DIN Next"/>
                <a:cs typeface="DIN Next"/>
                <a:sym typeface="DIN Next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43432" y="485661"/>
            <a:ext cx="2795067" cy="240203"/>
            <a:chOff x="0" y="0"/>
            <a:chExt cx="3726756" cy="320271"/>
          </a:xfrm>
        </p:grpSpPr>
        <p:sp>
          <p:nvSpPr>
            <p:cNvPr id="3" name="Freeform 3"/>
            <p:cNvSpPr/>
            <p:nvPr/>
          </p:nvSpPr>
          <p:spPr>
            <a:xfrm>
              <a:off x="1679974" y="2970"/>
              <a:ext cx="225532" cy="314331"/>
            </a:xfrm>
            <a:custGeom>
              <a:avLst/>
              <a:gdLst/>
              <a:ahLst/>
              <a:cxnLst/>
              <a:rect l="l" t="t" r="r" b="b"/>
              <a:pathLst>
                <a:path w="225532" h="314331">
                  <a:moveTo>
                    <a:pt x="0" y="0"/>
                  </a:moveTo>
                  <a:lnTo>
                    <a:pt x="225532" y="0"/>
                  </a:lnTo>
                  <a:lnTo>
                    <a:pt x="225532" y="314331"/>
                  </a:lnTo>
                  <a:lnTo>
                    <a:pt x="0" y="314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>
              <a:normAutofit fontScale="62500" lnSpcReduction="20000"/>
            </a:bodyPr>
            <a:lstStyle/>
            <a:p>
              <a:endParaRPr lang="ko-KR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1106158" y="11191"/>
              <a:ext cx="287090" cy="297888"/>
            </a:xfrm>
            <a:custGeom>
              <a:avLst/>
              <a:gdLst/>
              <a:ahLst/>
              <a:cxnLst/>
              <a:rect l="l" t="t" r="r" b="b"/>
              <a:pathLst>
                <a:path w="287090" h="297888">
                  <a:moveTo>
                    <a:pt x="0" y="0"/>
                  </a:moveTo>
                  <a:lnTo>
                    <a:pt x="287090" y="0"/>
                  </a:lnTo>
                  <a:lnTo>
                    <a:pt x="287090" y="297888"/>
                  </a:lnTo>
                  <a:lnTo>
                    <a:pt x="0" y="297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>
              <a:normAutofit fontScale="55000" lnSpcReduction="20000"/>
            </a:bodyPr>
            <a:lstStyle/>
            <a:p>
              <a:endParaRPr lang="ko-KR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2172206" y="0"/>
              <a:ext cx="321880" cy="320271"/>
            </a:xfrm>
            <a:custGeom>
              <a:avLst/>
              <a:gdLst/>
              <a:ahLst/>
              <a:cxnLst/>
              <a:rect l="l" t="t" r="r" b="b"/>
              <a:pathLst>
                <a:path w="321880" h="320271">
                  <a:moveTo>
                    <a:pt x="0" y="0"/>
                  </a:moveTo>
                  <a:lnTo>
                    <a:pt x="321880" y="0"/>
                  </a:lnTo>
                  <a:lnTo>
                    <a:pt x="321880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3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>
              <a:normAutofit fontScale="62500" lnSpcReduction="20000"/>
            </a:bodyPr>
            <a:lstStyle/>
            <a:p>
              <a:endParaRPr lang="ko-KR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2755412" y="0"/>
              <a:ext cx="320271" cy="320271"/>
            </a:xfrm>
            <a:custGeom>
              <a:avLst/>
              <a:gdLst/>
              <a:ahLst/>
              <a:cxnLst/>
              <a:rect l="l" t="t" r="r" b="b"/>
              <a:pathLst>
                <a:path w="320271" h="320271">
                  <a:moveTo>
                    <a:pt x="0" y="0"/>
                  </a:moveTo>
                  <a:lnTo>
                    <a:pt x="320271" y="0"/>
                  </a:lnTo>
                  <a:lnTo>
                    <a:pt x="320271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30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>
              <a:normAutofit fontScale="62500" lnSpcReduction="20000"/>
            </a:bodyPr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 rot="-5400000">
              <a:off x="3465879" y="-52825"/>
              <a:ext cx="95832" cy="425921"/>
            </a:xfrm>
            <a:custGeom>
              <a:avLst/>
              <a:gdLst/>
              <a:ahLst/>
              <a:cxnLst/>
              <a:rect l="l" t="t" r="r" b="b"/>
              <a:pathLst>
                <a:path w="95832" h="425921">
                  <a:moveTo>
                    <a:pt x="0" y="0"/>
                  </a:moveTo>
                  <a:lnTo>
                    <a:pt x="95832" y="0"/>
                  </a:lnTo>
                  <a:lnTo>
                    <a:pt x="95832" y="425921"/>
                  </a:lnTo>
                  <a:lnTo>
                    <a:pt x="0" y="425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30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>
              <a:normAutofit fontScale="92500" lnSpcReduction="20000"/>
            </a:bodyPr>
            <a:lstStyle/>
            <a:p>
              <a:endParaRPr lang="ko-KR" alt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14822"/>
              <a:ext cx="283522" cy="287839"/>
            </a:xfrm>
            <a:custGeom>
              <a:avLst/>
              <a:gdLst/>
              <a:ahLst/>
              <a:cxnLst/>
              <a:rect l="l" t="t" r="r" b="b"/>
              <a:pathLst>
                <a:path w="283522" h="287839">
                  <a:moveTo>
                    <a:pt x="0" y="0"/>
                  </a:moveTo>
                  <a:lnTo>
                    <a:pt x="283522" y="0"/>
                  </a:lnTo>
                  <a:lnTo>
                    <a:pt x="283522" y="287839"/>
                  </a:lnTo>
                  <a:lnTo>
                    <a:pt x="0" y="287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30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>
              <a:normAutofit fontScale="47500" lnSpcReduction="20000"/>
            </a:bodyPr>
            <a:lstStyle/>
            <a:p>
              <a:endParaRPr lang="ko-KR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537522" y="2970"/>
              <a:ext cx="314636" cy="299691"/>
            </a:xfrm>
            <a:custGeom>
              <a:avLst/>
              <a:gdLst/>
              <a:ahLst/>
              <a:cxnLst/>
              <a:rect l="l" t="t" r="r" b="b"/>
              <a:pathLst>
                <a:path w="314636" h="299691">
                  <a:moveTo>
                    <a:pt x="0" y="0"/>
                  </a:moveTo>
                  <a:lnTo>
                    <a:pt x="314636" y="0"/>
                  </a:lnTo>
                  <a:lnTo>
                    <a:pt x="314636" y="299691"/>
                  </a:lnTo>
                  <a:lnTo>
                    <a:pt x="0" y="299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30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  <p:txBody>
            <a:bodyPr>
              <a:normAutofit fontScale="55000" lnSpcReduction="20000"/>
            </a:bodyPr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0" y="10192835"/>
            <a:ext cx="18288000" cy="94165"/>
            <a:chOff x="0" y="0"/>
            <a:chExt cx="3762963" cy="193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62963" cy="19376"/>
            </a:xfrm>
            <a:custGeom>
              <a:avLst/>
              <a:gdLst/>
              <a:ahLst/>
              <a:cxnLst/>
              <a:rect l="l" t="t" r="r" b="b"/>
              <a:pathLst>
                <a:path w="3762963" h="19376">
                  <a:moveTo>
                    <a:pt x="0" y="0"/>
                  </a:moveTo>
                  <a:lnTo>
                    <a:pt x="3762963" y="0"/>
                  </a:lnTo>
                  <a:lnTo>
                    <a:pt x="3762963" y="19376"/>
                  </a:lnTo>
                  <a:lnTo>
                    <a:pt x="0" y="19376"/>
                  </a:lnTo>
                  <a:close/>
                </a:path>
              </a:pathLst>
            </a:custGeom>
            <a:solidFill>
              <a:srgbClr val="B3555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3762963" cy="67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49478" y="852837"/>
            <a:ext cx="735448" cy="735448"/>
            <a:chOff x="0" y="0"/>
            <a:chExt cx="191064" cy="19106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1064" cy="191064"/>
            </a:xfrm>
            <a:custGeom>
              <a:avLst/>
              <a:gdLst/>
              <a:ahLst/>
              <a:cxnLst/>
              <a:rect l="l" t="t" r="r" b="b"/>
              <a:pathLst>
                <a:path w="191064" h="191064">
                  <a:moveTo>
                    <a:pt x="0" y="0"/>
                  </a:moveTo>
                  <a:lnTo>
                    <a:pt x="191064" y="0"/>
                  </a:lnTo>
                  <a:lnTo>
                    <a:pt x="191064" y="191064"/>
                  </a:lnTo>
                  <a:lnTo>
                    <a:pt x="0" y="191064"/>
                  </a:lnTo>
                  <a:close/>
                </a:path>
              </a:pathLst>
            </a:custGeom>
            <a:solidFill>
              <a:srgbClr val="B35555"/>
            </a:solidFill>
            <a:ln cap="sq">
              <a:noFill/>
              <a:prstDash val="solid"/>
              <a:miter/>
            </a:ln>
          </p:spPr>
          <p:txBody>
            <a:bodyPr>
              <a:normAutofit/>
            </a:bodyPr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91064" cy="219639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70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AutoShape 16"/>
          <p:cNvSpPr/>
          <p:nvPr/>
        </p:nvSpPr>
        <p:spPr>
          <a:xfrm flipV="1">
            <a:off x="662837" y="2117428"/>
            <a:ext cx="16962327" cy="0"/>
          </a:xfrm>
          <a:prstGeom prst="line">
            <a:avLst/>
          </a:prstGeom>
          <a:ln w="19050" cap="flat">
            <a:solidFill>
              <a:srgbClr val="363636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>
            <a:normAutofit fontScale="25000" lnSpcReduction="20000"/>
          </a:bodyPr>
          <a:lstStyle/>
          <a:p>
            <a:endParaRPr lang="ko-KR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2073273" y="872658"/>
            <a:ext cx="16214727" cy="791056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l">
              <a:lnSpc>
                <a:spcPts val="5969"/>
              </a:lnSpc>
            </a:pPr>
            <a:r>
              <a:rPr lang="en-US" sz="5852" b="1" spc="-117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키워드와</a:t>
            </a:r>
            <a:r>
              <a:rPr lang="en-US" sz="5852" b="1" spc="-117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5852" b="1" spc="-117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요약정리가</a:t>
            </a:r>
            <a:r>
              <a:rPr lang="en-US" sz="5852" b="1" spc="-117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5852" b="1" spc="-117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있는</a:t>
            </a:r>
            <a:r>
              <a:rPr lang="en-US" sz="5852" b="1" spc="-117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5852" b="1" spc="-117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페이지</a:t>
            </a:r>
            <a:endParaRPr lang="en-US" sz="5852" b="1" spc="-117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111418" y="1358870"/>
            <a:ext cx="6293520" cy="22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1860"/>
              </a:lnSpc>
              <a:spcBef>
                <a:spcPct val="0"/>
              </a:spcBef>
            </a:pPr>
            <a:r>
              <a:rPr lang="en-US" sz="1550" u="none" strike="noStrike" spc="-26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메인타이틀에 대한 세부 설명을 입력해 주세요.</a:t>
            </a:r>
          </a:p>
        </p:txBody>
      </p:sp>
      <p:sp>
        <p:nvSpPr>
          <p:cNvPr id="20" name="AutoShape 20"/>
          <p:cNvSpPr/>
          <p:nvPr/>
        </p:nvSpPr>
        <p:spPr>
          <a:xfrm flipH="1">
            <a:off x="3310422" y="6163414"/>
            <a:ext cx="0" cy="1605255"/>
          </a:xfrm>
          <a:prstGeom prst="line">
            <a:avLst/>
          </a:prstGeom>
          <a:ln w="19050" cap="rnd">
            <a:solidFill>
              <a:srgbClr val="333333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>
            <a:normAutofit fontScale="25000" lnSpcReduction="20000"/>
          </a:bodyPr>
          <a:lstStyle/>
          <a:p>
            <a:endParaRPr lang="ko-KR" altLang="en-US"/>
          </a:p>
        </p:txBody>
      </p:sp>
      <p:sp>
        <p:nvSpPr>
          <p:cNvPr id="21" name="AutoShape 21"/>
          <p:cNvSpPr/>
          <p:nvPr/>
        </p:nvSpPr>
        <p:spPr>
          <a:xfrm>
            <a:off x="7208585" y="6163414"/>
            <a:ext cx="0" cy="1605255"/>
          </a:xfrm>
          <a:prstGeom prst="line">
            <a:avLst/>
          </a:prstGeom>
          <a:ln w="19050" cap="rnd">
            <a:solidFill>
              <a:srgbClr val="333333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>
            <a:normAutofit fontScale="25000" lnSpcReduction="20000"/>
          </a:bodyPr>
          <a:lstStyle/>
          <a:p>
            <a:endParaRPr lang="ko-KR" altLang="en-US"/>
          </a:p>
        </p:txBody>
      </p:sp>
      <p:sp>
        <p:nvSpPr>
          <p:cNvPr id="22" name="AutoShape 22"/>
          <p:cNvSpPr/>
          <p:nvPr/>
        </p:nvSpPr>
        <p:spPr>
          <a:xfrm>
            <a:off x="11084478" y="6163414"/>
            <a:ext cx="0" cy="1605255"/>
          </a:xfrm>
          <a:prstGeom prst="line">
            <a:avLst/>
          </a:prstGeom>
          <a:ln w="19050" cap="rnd">
            <a:solidFill>
              <a:srgbClr val="333333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>
            <a:normAutofit fontScale="25000" lnSpcReduction="20000"/>
          </a:bodyPr>
          <a:lstStyle/>
          <a:p>
            <a:endParaRPr lang="ko-KR" altLang="en-US"/>
          </a:p>
        </p:txBody>
      </p:sp>
      <p:grpSp>
        <p:nvGrpSpPr>
          <p:cNvPr id="23" name="Group 23"/>
          <p:cNvGrpSpPr/>
          <p:nvPr/>
        </p:nvGrpSpPr>
        <p:grpSpPr>
          <a:xfrm>
            <a:off x="1546912" y="3025354"/>
            <a:ext cx="3536544" cy="3358257"/>
            <a:chOff x="0" y="0"/>
            <a:chExt cx="870097" cy="82623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70097" cy="826233"/>
            </a:xfrm>
            <a:custGeom>
              <a:avLst/>
              <a:gdLst/>
              <a:ahLst/>
              <a:cxnLst/>
              <a:rect l="l" t="t" r="r" b="b"/>
              <a:pathLst>
                <a:path w="870097" h="826233">
                  <a:moveTo>
                    <a:pt x="0" y="0"/>
                  </a:moveTo>
                  <a:lnTo>
                    <a:pt x="870097" y="0"/>
                  </a:lnTo>
                  <a:lnTo>
                    <a:pt x="870097" y="826233"/>
                  </a:lnTo>
                  <a:lnTo>
                    <a:pt x="0" y="826233"/>
                  </a:lnTo>
                  <a:close/>
                </a:path>
              </a:pathLst>
            </a:custGeom>
            <a:solidFill>
              <a:srgbClr val="EEDFDE"/>
            </a:solidFill>
            <a:ln cap="sq">
              <a:noFill/>
              <a:prstDash val="solid"/>
              <a:miter/>
            </a:ln>
          </p:spPr>
          <p:txBody>
            <a:bodyPr>
              <a:normAutofit/>
            </a:bodyPr>
            <a:lstStyle/>
            <a:p>
              <a:endParaRPr lang="ko-KR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870097" cy="854808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435550" y="3025354"/>
            <a:ext cx="3536544" cy="3358257"/>
            <a:chOff x="0" y="0"/>
            <a:chExt cx="870097" cy="82623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70097" cy="826233"/>
            </a:xfrm>
            <a:custGeom>
              <a:avLst/>
              <a:gdLst/>
              <a:ahLst/>
              <a:cxnLst/>
              <a:rect l="l" t="t" r="r" b="b"/>
              <a:pathLst>
                <a:path w="870097" h="826233">
                  <a:moveTo>
                    <a:pt x="0" y="0"/>
                  </a:moveTo>
                  <a:lnTo>
                    <a:pt x="870097" y="0"/>
                  </a:lnTo>
                  <a:lnTo>
                    <a:pt x="870097" y="826233"/>
                  </a:lnTo>
                  <a:lnTo>
                    <a:pt x="0" y="826233"/>
                  </a:lnTo>
                  <a:close/>
                </a:path>
              </a:pathLst>
            </a:custGeom>
            <a:solidFill>
              <a:srgbClr val="E3E3E3"/>
            </a:solidFill>
            <a:ln cap="sq">
              <a:noFill/>
              <a:prstDash val="solid"/>
              <a:miter/>
            </a:ln>
          </p:spPr>
          <p:txBody>
            <a:bodyPr>
              <a:normAutofit/>
            </a:bodyPr>
            <a:lstStyle/>
            <a:p>
              <a:endParaRPr lang="ko-KR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870097" cy="854808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320968" y="3025354"/>
            <a:ext cx="3536544" cy="3358257"/>
            <a:chOff x="0" y="0"/>
            <a:chExt cx="870097" cy="82623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70097" cy="826233"/>
            </a:xfrm>
            <a:custGeom>
              <a:avLst/>
              <a:gdLst/>
              <a:ahLst/>
              <a:cxnLst/>
              <a:rect l="l" t="t" r="r" b="b"/>
              <a:pathLst>
                <a:path w="870097" h="826233">
                  <a:moveTo>
                    <a:pt x="0" y="0"/>
                  </a:moveTo>
                  <a:lnTo>
                    <a:pt x="870097" y="0"/>
                  </a:lnTo>
                  <a:lnTo>
                    <a:pt x="870097" y="826233"/>
                  </a:lnTo>
                  <a:lnTo>
                    <a:pt x="0" y="826233"/>
                  </a:lnTo>
                  <a:close/>
                </a:path>
              </a:pathLst>
            </a:custGeom>
            <a:solidFill>
              <a:srgbClr val="EEDFDE"/>
            </a:solidFill>
            <a:ln cap="sq">
              <a:noFill/>
              <a:prstDash val="solid"/>
              <a:miter/>
            </a:ln>
          </p:spPr>
          <p:txBody>
            <a:bodyPr>
              <a:normAutofit/>
            </a:bodyPr>
            <a:lstStyle/>
            <a:p>
              <a:endParaRPr lang="ko-KR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28575"/>
              <a:ext cx="870097" cy="854808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AutoShape 32"/>
          <p:cNvSpPr/>
          <p:nvPr/>
        </p:nvSpPr>
        <p:spPr>
          <a:xfrm>
            <a:off x="15048195" y="6163414"/>
            <a:ext cx="0" cy="1605255"/>
          </a:xfrm>
          <a:prstGeom prst="line">
            <a:avLst/>
          </a:prstGeom>
          <a:ln w="19050" cap="rnd">
            <a:solidFill>
              <a:srgbClr val="333333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>
            <a:normAutofit fontScale="25000" lnSpcReduction="20000"/>
          </a:bodyPr>
          <a:lstStyle/>
          <a:p>
            <a:endParaRPr lang="ko-KR" altLang="en-US"/>
          </a:p>
        </p:txBody>
      </p:sp>
      <p:grpSp>
        <p:nvGrpSpPr>
          <p:cNvPr id="33" name="Group 33"/>
          <p:cNvGrpSpPr/>
          <p:nvPr/>
        </p:nvGrpSpPr>
        <p:grpSpPr>
          <a:xfrm>
            <a:off x="13206387" y="3025354"/>
            <a:ext cx="3536544" cy="3358257"/>
            <a:chOff x="0" y="0"/>
            <a:chExt cx="870097" cy="82623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70097" cy="826233"/>
            </a:xfrm>
            <a:custGeom>
              <a:avLst/>
              <a:gdLst/>
              <a:ahLst/>
              <a:cxnLst/>
              <a:rect l="l" t="t" r="r" b="b"/>
              <a:pathLst>
                <a:path w="870097" h="826233">
                  <a:moveTo>
                    <a:pt x="0" y="0"/>
                  </a:moveTo>
                  <a:lnTo>
                    <a:pt x="870097" y="0"/>
                  </a:lnTo>
                  <a:lnTo>
                    <a:pt x="870097" y="826233"/>
                  </a:lnTo>
                  <a:lnTo>
                    <a:pt x="0" y="826233"/>
                  </a:lnTo>
                  <a:close/>
                </a:path>
              </a:pathLst>
            </a:custGeom>
            <a:solidFill>
              <a:srgbClr val="E3E3E3"/>
            </a:solidFill>
            <a:ln cap="sq">
              <a:noFill/>
              <a:prstDash val="solid"/>
              <a:miter/>
            </a:ln>
          </p:spPr>
          <p:txBody>
            <a:bodyPr>
              <a:normAutofit/>
            </a:bodyPr>
            <a:lstStyle/>
            <a:p>
              <a:endParaRPr lang="ko-KR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870097" cy="854808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545069" y="7768669"/>
            <a:ext cx="15197862" cy="1395878"/>
            <a:chOff x="0" y="0"/>
            <a:chExt cx="4002729" cy="36763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002729" cy="367639"/>
            </a:xfrm>
            <a:custGeom>
              <a:avLst/>
              <a:gdLst/>
              <a:ahLst/>
              <a:cxnLst/>
              <a:rect l="l" t="t" r="r" b="b"/>
              <a:pathLst>
                <a:path w="4002729" h="367639">
                  <a:moveTo>
                    <a:pt x="0" y="0"/>
                  </a:moveTo>
                  <a:lnTo>
                    <a:pt x="4002729" y="0"/>
                  </a:lnTo>
                  <a:lnTo>
                    <a:pt x="4002729" y="367639"/>
                  </a:lnTo>
                  <a:lnTo>
                    <a:pt x="0" y="367639"/>
                  </a:lnTo>
                  <a:close/>
                </a:path>
              </a:pathLst>
            </a:custGeom>
            <a:ln w="19050" cap="sq">
              <a:solidFill>
                <a:srgbClr val="B35555"/>
              </a:solidFill>
              <a:prstDash val="solid"/>
              <a:miter/>
            </a:ln>
          </p:spPr>
          <p:txBody>
            <a:bodyPr>
              <a:normAutofit/>
            </a:bodyPr>
            <a:lstStyle/>
            <a:p>
              <a:endParaRPr lang="ko-KR" alt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4002729" cy="396214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546912" y="5276701"/>
            <a:ext cx="3622698" cy="415246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ctr">
              <a:lnSpc>
                <a:spcPts val="3524"/>
              </a:lnSpc>
            </a:pPr>
            <a:r>
              <a:rPr lang="en-US" sz="2349" spc="-82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핵심요약정리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392473" y="5276701"/>
            <a:ext cx="3622698" cy="415246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ctr">
              <a:lnSpc>
                <a:spcPts val="3524"/>
              </a:lnSpc>
            </a:pPr>
            <a:r>
              <a:rPr lang="en-US" sz="2349" spc="-82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중요포인트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281871" y="5276701"/>
            <a:ext cx="3622698" cy="415246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ctr">
              <a:lnSpc>
                <a:spcPts val="3524"/>
              </a:lnSpc>
            </a:pPr>
            <a:r>
              <a:rPr lang="en-US" sz="2349" spc="-82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핵심아이디어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171269" y="5276701"/>
            <a:ext cx="3622698" cy="415246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ctr">
              <a:lnSpc>
                <a:spcPts val="3524"/>
              </a:lnSpc>
            </a:pPr>
            <a:r>
              <a:rPr lang="en-US" sz="2349" spc="-82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주요 내용 정리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650805" y="4692050"/>
            <a:ext cx="3328759" cy="499524"/>
          </a:xfrm>
          <a:prstGeom prst="rect">
            <a:avLst/>
          </a:prstGeom>
        </p:spPr>
        <p:txBody>
          <a:bodyPr lIns="0" tIns="0" rIns="0" bIns="0" rtlCol="0" anchor="t">
            <a:normAutofit fontScale="92500"/>
          </a:bodyPr>
          <a:lstStyle/>
          <a:p>
            <a:pPr marL="0" lvl="0" indent="0" algn="ctr">
              <a:lnSpc>
                <a:spcPts val="3978"/>
              </a:lnSpc>
            </a:pPr>
            <a:r>
              <a:rPr lang="en-US" sz="3343" b="1" spc="-73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키워드 1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496366" y="4692050"/>
            <a:ext cx="3328759" cy="499524"/>
          </a:xfrm>
          <a:prstGeom prst="rect">
            <a:avLst/>
          </a:prstGeom>
        </p:spPr>
        <p:txBody>
          <a:bodyPr lIns="0" tIns="0" rIns="0" bIns="0" rtlCol="0" anchor="t">
            <a:normAutofit fontScale="92500"/>
          </a:bodyPr>
          <a:lstStyle/>
          <a:p>
            <a:pPr marL="0" lvl="0" indent="0" algn="ctr">
              <a:lnSpc>
                <a:spcPts val="3978"/>
              </a:lnSpc>
            </a:pPr>
            <a:r>
              <a:rPr lang="en-US" sz="3343" b="1" spc="-73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키워드 2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385764" y="4692050"/>
            <a:ext cx="3328759" cy="499524"/>
          </a:xfrm>
          <a:prstGeom prst="rect">
            <a:avLst/>
          </a:prstGeom>
        </p:spPr>
        <p:txBody>
          <a:bodyPr lIns="0" tIns="0" rIns="0" bIns="0" rtlCol="0" anchor="t">
            <a:normAutofit fontScale="92500"/>
          </a:bodyPr>
          <a:lstStyle/>
          <a:p>
            <a:pPr marL="0" lvl="0" indent="0" algn="ctr">
              <a:lnSpc>
                <a:spcPts val="3978"/>
              </a:lnSpc>
            </a:pPr>
            <a:r>
              <a:rPr lang="en-US" sz="3343" b="1" spc="-73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키워드 3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3275162" y="4692050"/>
            <a:ext cx="3328759" cy="499524"/>
          </a:xfrm>
          <a:prstGeom prst="rect">
            <a:avLst/>
          </a:prstGeom>
        </p:spPr>
        <p:txBody>
          <a:bodyPr lIns="0" tIns="0" rIns="0" bIns="0" rtlCol="0" anchor="t">
            <a:normAutofit fontScale="92500"/>
          </a:bodyPr>
          <a:lstStyle/>
          <a:p>
            <a:pPr marL="0" lvl="0" indent="0" algn="ctr">
              <a:lnSpc>
                <a:spcPts val="3978"/>
              </a:lnSpc>
            </a:pPr>
            <a:r>
              <a:rPr lang="en-US" sz="3343" b="1" spc="-73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키워드 4</a:t>
            </a:r>
          </a:p>
        </p:txBody>
      </p:sp>
      <p:sp>
        <p:nvSpPr>
          <p:cNvPr id="47" name="Freeform 47"/>
          <p:cNvSpPr/>
          <p:nvPr/>
        </p:nvSpPr>
        <p:spPr>
          <a:xfrm>
            <a:off x="6772297" y="3624485"/>
            <a:ext cx="872576" cy="830038"/>
          </a:xfrm>
          <a:custGeom>
            <a:avLst/>
            <a:gdLst/>
            <a:ahLst/>
            <a:cxnLst/>
            <a:rect l="l" t="t" r="r" b="b"/>
            <a:pathLst>
              <a:path w="872576" h="830038">
                <a:moveTo>
                  <a:pt x="0" y="0"/>
                </a:moveTo>
                <a:lnTo>
                  <a:pt x="872576" y="0"/>
                </a:lnTo>
                <a:lnTo>
                  <a:pt x="872576" y="830038"/>
                </a:lnTo>
                <a:lnTo>
                  <a:pt x="0" y="83003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8" name="Freeform 48"/>
          <p:cNvSpPr/>
          <p:nvPr/>
        </p:nvSpPr>
        <p:spPr>
          <a:xfrm>
            <a:off x="10650415" y="3624485"/>
            <a:ext cx="868125" cy="799760"/>
          </a:xfrm>
          <a:custGeom>
            <a:avLst/>
            <a:gdLst/>
            <a:ahLst/>
            <a:cxnLst/>
            <a:rect l="l" t="t" r="r" b="b"/>
            <a:pathLst>
              <a:path w="868125" h="799760">
                <a:moveTo>
                  <a:pt x="0" y="0"/>
                </a:moveTo>
                <a:lnTo>
                  <a:pt x="868125" y="0"/>
                </a:lnTo>
                <a:lnTo>
                  <a:pt x="868125" y="799760"/>
                </a:lnTo>
                <a:lnTo>
                  <a:pt x="0" y="79976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9" name="Freeform 49"/>
          <p:cNvSpPr/>
          <p:nvPr/>
        </p:nvSpPr>
        <p:spPr>
          <a:xfrm>
            <a:off x="2892793" y="3624485"/>
            <a:ext cx="835259" cy="830038"/>
          </a:xfrm>
          <a:custGeom>
            <a:avLst/>
            <a:gdLst/>
            <a:ahLst/>
            <a:cxnLst/>
            <a:rect l="l" t="t" r="r" b="b"/>
            <a:pathLst>
              <a:path w="835259" h="830038">
                <a:moveTo>
                  <a:pt x="0" y="0"/>
                </a:moveTo>
                <a:lnTo>
                  <a:pt x="835258" y="0"/>
                </a:lnTo>
                <a:lnTo>
                  <a:pt x="835258" y="830038"/>
                </a:lnTo>
                <a:lnTo>
                  <a:pt x="0" y="83003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50" name="Freeform 50"/>
          <p:cNvSpPr/>
          <p:nvPr/>
        </p:nvSpPr>
        <p:spPr>
          <a:xfrm>
            <a:off x="2976158" y="8301153"/>
            <a:ext cx="302678" cy="302678"/>
          </a:xfrm>
          <a:custGeom>
            <a:avLst/>
            <a:gdLst/>
            <a:ahLst/>
            <a:cxnLst/>
            <a:rect l="l" t="t" r="r" b="b"/>
            <a:pathLst>
              <a:path w="302678" h="302678">
                <a:moveTo>
                  <a:pt x="0" y="0"/>
                </a:moveTo>
                <a:lnTo>
                  <a:pt x="302678" y="0"/>
                </a:lnTo>
                <a:lnTo>
                  <a:pt x="302678" y="302678"/>
                </a:lnTo>
                <a:lnTo>
                  <a:pt x="0" y="30267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  <p:txBody>
          <a:bodyPr>
            <a:normAutofit fontScale="85000" lnSpcReduction="10000"/>
          </a:bodyPr>
          <a:lstStyle/>
          <a:p>
            <a:endParaRPr lang="ko-KR" altLang="en-US"/>
          </a:p>
        </p:txBody>
      </p:sp>
      <p:sp>
        <p:nvSpPr>
          <p:cNvPr id="51" name="TextBox 51"/>
          <p:cNvSpPr txBox="1"/>
          <p:nvPr/>
        </p:nvSpPr>
        <p:spPr>
          <a:xfrm>
            <a:off x="3435377" y="8235394"/>
            <a:ext cx="13168543" cy="451511"/>
          </a:xfrm>
          <a:prstGeom prst="rect">
            <a:avLst/>
          </a:prstGeom>
        </p:spPr>
        <p:txBody>
          <a:bodyPr lIns="0" tIns="0" rIns="0" bIns="0" rtlCol="0" anchor="t">
            <a:normAutofit fontScale="92500"/>
          </a:bodyPr>
          <a:lstStyle/>
          <a:p>
            <a:pPr marL="0" lvl="0" indent="0" algn="l">
              <a:lnSpc>
                <a:spcPts val="3573"/>
              </a:lnSpc>
            </a:pPr>
            <a:r>
              <a:rPr lang="en-US" sz="3003" b="1" spc="-66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여러 개의 키워드를 기반으로 핵심 메시지를 정리해  전달하는 레이아웃입니다.</a:t>
            </a:r>
          </a:p>
        </p:txBody>
      </p:sp>
      <p:sp>
        <p:nvSpPr>
          <p:cNvPr id="52" name="Freeform 52"/>
          <p:cNvSpPr/>
          <p:nvPr/>
        </p:nvSpPr>
        <p:spPr>
          <a:xfrm>
            <a:off x="14711296" y="3624485"/>
            <a:ext cx="673798" cy="799760"/>
          </a:xfrm>
          <a:custGeom>
            <a:avLst/>
            <a:gdLst/>
            <a:ahLst/>
            <a:cxnLst/>
            <a:rect l="l" t="t" r="r" b="b"/>
            <a:pathLst>
              <a:path w="673798" h="799760">
                <a:moveTo>
                  <a:pt x="0" y="0"/>
                </a:moveTo>
                <a:lnTo>
                  <a:pt x="673798" y="0"/>
                </a:lnTo>
                <a:lnTo>
                  <a:pt x="673798" y="799760"/>
                </a:lnTo>
                <a:lnTo>
                  <a:pt x="0" y="79976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53" name="TextBox 19">
            <a:extLst>
              <a:ext uri="{FF2B5EF4-FFF2-40B4-BE49-F238E27FC236}">
                <a16:creationId xmlns:a16="http://schemas.microsoft.com/office/drawing/2014/main" id="{474C1232-5DBB-404B-9AD0-20CE31B27D44}"/>
              </a:ext>
            </a:extLst>
          </p:cNvPr>
          <p:cNvSpPr txBox="1"/>
          <p:nvPr/>
        </p:nvSpPr>
        <p:spPr>
          <a:xfrm>
            <a:off x="1049478" y="852838"/>
            <a:ext cx="735448" cy="734676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marL="0" lvl="0" indent="0" algn="ctr">
              <a:lnSpc>
                <a:spcPts val="2336"/>
              </a:lnSpc>
              <a:spcBef>
                <a:spcPct val="0"/>
              </a:spcBef>
            </a:pPr>
            <a:r>
              <a:rPr lang="en-US" sz="2290" spc="-171" dirty="0">
                <a:solidFill>
                  <a:srgbClr val="F5F4F4"/>
                </a:solidFill>
                <a:latin typeface="DIN Next"/>
                <a:ea typeface="DIN Next"/>
                <a:cs typeface="DIN Next"/>
                <a:sym typeface="DIN Next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43432" y="485661"/>
            <a:ext cx="2795067" cy="240203"/>
            <a:chOff x="0" y="0"/>
            <a:chExt cx="3726756" cy="320271"/>
          </a:xfrm>
        </p:grpSpPr>
        <p:sp>
          <p:nvSpPr>
            <p:cNvPr id="3" name="Freeform 3"/>
            <p:cNvSpPr/>
            <p:nvPr/>
          </p:nvSpPr>
          <p:spPr>
            <a:xfrm>
              <a:off x="1679974" y="2970"/>
              <a:ext cx="225532" cy="314331"/>
            </a:xfrm>
            <a:custGeom>
              <a:avLst/>
              <a:gdLst/>
              <a:ahLst/>
              <a:cxnLst/>
              <a:rect l="l" t="t" r="r" b="b"/>
              <a:pathLst>
                <a:path w="225532" h="314331">
                  <a:moveTo>
                    <a:pt x="0" y="0"/>
                  </a:moveTo>
                  <a:lnTo>
                    <a:pt x="225532" y="0"/>
                  </a:lnTo>
                  <a:lnTo>
                    <a:pt x="225532" y="314331"/>
                  </a:lnTo>
                  <a:lnTo>
                    <a:pt x="0" y="314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" name="Freeform 4"/>
            <p:cNvSpPr/>
            <p:nvPr/>
          </p:nvSpPr>
          <p:spPr>
            <a:xfrm>
              <a:off x="1106158" y="11191"/>
              <a:ext cx="287090" cy="297888"/>
            </a:xfrm>
            <a:custGeom>
              <a:avLst/>
              <a:gdLst/>
              <a:ahLst/>
              <a:cxnLst/>
              <a:rect l="l" t="t" r="r" b="b"/>
              <a:pathLst>
                <a:path w="287090" h="297888">
                  <a:moveTo>
                    <a:pt x="0" y="0"/>
                  </a:moveTo>
                  <a:lnTo>
                    <a:pt x="287090" y="0"/>
                  </a:lnTo>
                  <a:lnTo>
                    <a:pt x="287090" y="297888"/>
                  </a:lnTo>
                  <a:lnTo>
                    <a:pt x="0" y="297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2172206" y="0"/>
              <a:ext cx="321880" cy="320271"/>
            </a:xfrm>
            <a:custGeom>
              <a:avLst/>
              <a:gdLst/>
              <a:ahLst/>
              <a:cxnLst/>
              <a:rect l="l" t="t" r="r" b="b"/>
              <a:pathLst>
                <a:path w="321880" h="320271">
                  <a:moveTo>
                    <a:pt x="0" y="0"/>
                  </a:moveTo>
                  <a:lnTo>
                    <a:pt x="321880" y="0"/>
                  </a:lnTo>
                  <a:lnTo>
                    <a:pt x="321880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3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6" name="Freeform 6"/>
            <p:cNvSpPr/>
            <p:nvPr/>
          </p:nvSpPr>
          <p:spPr>
            <a:xfrm>
              <a:off x="2755412" y="0"/>
              <a:ext cx="320271" cy="320271"/>
            </a:xfrm>
            <a:custGeom>
              <a:avLst/>
              <a:gdLst/>
              <a:ahLst/>
              <a:cxnLst/>
              <a:rect l="l" t="t" r="r" b="b"/>
              <a:pathLst>
                <a:path w="320271" h="320271">
                  <a:moveTo>
                    <a:pt x="0" y="0"/>
                  </a:moveTo>
                  <a:lnTo>
                    <a:pt x="320271" y="0"/>
                  </a:lnTo>
                  <a:lnTo>
                    <a:pt x="320271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30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7" name="Freeform 7"/>
            <p:cNvSpPr/>
            <p:nvPr/>
          </p:nvSpPr>
          <p:spPr>
            <a:xfrm rot="-5400000">
              <a:off x="3465879" y="-52825"/>
              <a:ext cx="95832" cy="425921"/>
            </a:xfrm>
            <a:custGeom>
              <a:avLst/>
              <a:gdLst/>
              <a:ahLst/>
              <a:cxnLst/>
              <a:rect l="l" t="t" r="r" b="b"/>
              <a:pathLst>
                <a:path w="95832" h="425921">
                  <a:moveTo>
                    <a:pt x="0" y="0"/>
                  </a:moveTo>
                  <a:lnTo>
                    <a:pt x="95832" y="0"/>
                  </a:lnTo>
                  <a:lnTo>
                    <a:pt x="95832" y="425921"/>
                  </a:lnTo>
                  <a:lnTo>
                    <a:pt x="0" y="425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30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Freeform 8"/>
            <p:cNvSpPr/>
            <p:nvPr/>
          </p:nvSpPr>
          <p:spPr>
            <a:xfrm>
              <a:off x="0" y="14822"/>
              <a:ext cx="283522" cy="287839"/>
            </a:xfrm>
            <a:custGeom>
              <a:avLst/>
              <a:gdLst/>
              <a:ahLst/>
              <a:cxnLst/>
              <a:rect l="l" t="t" r="r" b="b"/>
              <a:pathLst>
                <a:path w="283522" h="287839">
                  <a:moveTo>
                    <a:pt x="0" y="0"/>
                  </a:moveTo>
                  <a:lnTo>
                    <a:pt x="283522" y="0"/>
                  </a:lnTo>
                  <a:lnTo>
                    <a:pt x="283522" y="287839"/>
                  </a:lnTo>
                  <a:lnTo>
                    <a:pt x="0" y="287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30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537522" y="2970"/>
              <a:ext cx="314636" cy="299691"/>
            </a:xfrm>
            <a:custGeom>
              <a:avLst/>
              <a:gdLst/>
              <a:ahLst/>
              <a:cxnLst/>
              <a:rect l="l" t="t" r="r" b="b"/>
              <a:pathLst>
                <a:path w="314636" h="299691">
                  <a:moveTo>
                    <a:pt x="0" y="0"/>
                  </a:moveTo>
                  <a:lnTo>
                    <a:pt x="314636" y="0"/>
                  </a:lnTo>
                  <a:lnTo>
                    <a:pt x="314636" y="299691"/>
                  </a:lnTo>
                  <a:lnTo>
                    <a:pt x="0" y="299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30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0" y="10192835"/>
            <a:ext cx="18288000" cy="94165"/>
            <a:chOff x="0" y="0"/>
            <a:chExt cx="3762963" cy="193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62963" cy="19376"/>
            </a:xfrm>
            <a:custGeom>
              <a:avLst/>
              <a:gdLst/>
              <a:ahLst/>
              <a:cxnLst/>
              <a:rect l="l" t="t" r="r" b="b"/>
              <a:pathLst>
                <a:path w="3762963" h="19376">
                  <a:moveTo>
                    <a:pt x="0" y="0"/>
                  </a:moveTo>
                  <a:lnTo>
                    <a:pt x="3762963" y="0"/>
                  </a:lnTo>
                  <a:lnTo>
                    <a:pt x="3762963" y="19376"/>
                  </a:lnTo>
                  <a:lnTo>
                    <a:pt x="0" y="19376"/>
                  </a:lnTo>
                  <a:close/>
                </a:path>
              </a:pathLst>
            </a:custGeom>
            <a:solidFill>
              <a:srgbClr val="B3555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3762963" cy="67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49478" y="852837"/>
            <a:ext cx="735448" cy="735448"/>
            <a:chOff x="0" y="0"/>
            <a:chExt cx="191064" cy="19106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1064" cy="191064"/>
            </a:xfrm>
            <a:custGeom>
              <a:avLst/>
              <a:gdLst/>
              <a:ahLst/>
              <a:cxnLst/>
              <a:rect l="l" t="t" r="r" b="b"/>
              <a:pathLst>
                <a:path w="191064" h="191064">
                  <a:moveTo>
                    <a:pt x="0" y="0"/>
                  </a:moveTo>
                  <a:lnTo>
                    <a:pt x="191064" y="0"/>
                  </a:lnTo>
                  <a:lnTo>
                    <a:pt x="191064" y="191064"/>
                  </a:lnTo>
                  <a:lnTo>
                    <a:pt x="0" y="191064"/>
                  </a:lnTo>
                  <a:close/>
                </a:path>
              </a:pathLst>
            </a:custGeom>
            <a:solidFill>
              <a:srgbClr val="B35555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91064" cy="219639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70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AutoShape 16"/>
          <p:cNvSpPr/>
          <p:nvPr/>
        </p:nvSpPr>
        <p:spPr>
          <a:xfrm flipV="1">
            <a:off x="662837" y="2117428"/>
            <a:ext cx="16962327" cy="0"/>
          </a:xfrm>
          <a:prstGeom prst="line">
            <a:avLst/>
          </a:prstGeom>
          <a:ln w="19050" cap="flat">
            <a:solidFill>
              <a:srgbClr val="363636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2073273" y="872658"/>
            <a:ext cx="16214727" cy="791056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l">
              <a:lnSpc>
                <a:spcPts val="5969"/>
              </a:lnSpc>
            </a:pPr>
            <a:r>
              <a:rPr lang="en-US" sz="5852" b="1" spc="-117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리스트가</a:t>
            </a:r>
            <a:r>
              <a:rPr lang="en-US" sz="5852" b="1" spc="-117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5852" b="1" spc="-117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있는</a:t>
            </a:r>
            <a:r>
              <a:rPr lang="en-US" sz="5852" b="1" spc="-117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5852" b="1" spc="-117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페이지</a:t>
            </a:r>
            <a:endParaRPr lang="en-US" sz="5852" b="1" spc="-117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541889" y="1358870"/>
            <a:ext cx="6293520" cy="228644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1" indent="0" algn="l">
              <a:lnSpc>
                <a:spcPts val="1860"/>
              </a:lnSpc>
              <a:spcBef>
                <a:spcPct val="0"/>
              </a:spcBef>
            </a:pPr>
            <a:r>
              <a:rPr lang="en-US" sz="1550" u="none" strike="noStrike" spc="-26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메인타이틀에 대한 세부 설명을 입력해 주세요.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31872" y="3265897"/>
            <a:ext cx="14845507" cy="892448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ctr">
              <a:lnSpc>
                <a:spcPts val="3622"/>
              </a:lnSpc>
              <a:spcBef>
                <a:spcPct val="0"/>
              </a:spcBef>
            </a:pP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리스트형 콘텐츠 정리 레이아웃은 정보의 구조를 명확히 하고, 각 항목을 구분하여 보기 쉽게 정렬하는 데 매우 적합한 방식입니다.</a:t>
            </a:r>
          </a:p>
          <a:p>
            <a:pPr marL="0" lvl="0" indent="0" algn="ctr">
              <a:lnSpc>
                <a:spcPts val="3622"/>
              </a:lnSpc>
              <a:spcBef>
                <a:spcPct val="0"/>
              </a:spcBef>
            </a:pP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이 레이아웃은 복잡하거나 많은 내용을 간결하게 요약할 때 유용하며, 발표자와 청중 모두에게 정보 전달 효율을 높여줍니다.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546912" y="4777470"/>
            <a:ext cx="15197862" cy="1208595"/>
            <a:chOff x="0" y="0"/>
            <a:chExt cx="4002729" cy="31831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002729" cy="318313"/>
            </a:xfrm>
            <a:custGeom>
              <a:avLst/>
              <a:gdLst/>
              <a:ahLst/>
              <a:cxnLst/>
              <a:rect l="l" t="t" r="r" b="b"/>
              <a:pathLst>
                <a:path w="4002729" h="318313">
                  <a:moveTo>
                    <a:pt x="0" y="0"/>
                  </a:moveTo>
                  <a:lnTo>
                    <a:pt x="4002729" y="0"/>
                  </a:lnTo>
                  <a:lnTo>
                    <a:pt x="4002729" y="318313"/>
                  </a:lnTo>
                  <a:lnTo>
                    <a:pt x="0" y="318313"/>
                  </a:lnTo>
                  <a:close/>
                </a:path>
              </a:pathLst>
            </a:custGeom>
            <a:solidFill>
              <a:srgbClr val="ECECEC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4002729" cy="346888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46912" y="6200778"/>
            <a:ext cx="15197862" cy="1208595"/>
            <a:chOff x="0" y="0"/>
            <a:chExt cx="4002729" cy="31831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002729" cy="318313"/>
            </a:xfrm>
            <a:custGeom>
              <a:avLst/>
              <a:gdLst/>
              <a:ahLst/>
              <a:cxnLst/>
              <a:rect l="l" t="t" r="r" b="b"/>
              <a:pathLst>
                <a:path w="4002729" h="318313">
                  <a:moveTo>
                    <a:pt x="0" y="0"/>
                  </a:moveTo>
                  <a:lnTo>
                    <a:pt x="4002729" y="0"/>
                  </a:lnTo>
                  <a:lnTo>
                    <a:pt x="4002729" y="318313"/>
                  </a:lnTo>
                  <a:lnTo>
                    <a:pt x="0" y="318313"/>
                  </a:lnTo>
                  <a:close/>
                </a:path>
              </a:pathLst>
            </a:custGeom>
            <a:solidFill>
              <a:srgbClr val="ECECEC"/>
            </a:solid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4002729" cy="346888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546912" y="7628449"/>
            <a:ext cx="15197862" cy="1208595"/>
            <a:chOff x="0" y="0"/>
            <a:chExt cx="4002729" cy="31831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002729" cy="318313"/>
            </a:xfrm>
            <a:custGeom>
              <a:avLst/>
              <a:gdLst/>
              <a:ahLst/>
              <a:cxnLst/>
              <a:rect l="l" t="t" r="r" b="b"/>
              <a:pathLst>
                <a:path w="4002729" h="318313">
                  <a:moveTo>
                    <a:pt x="0" y="0"/>
                  </a:moveTo>
                  <a:lnTo>
                    <a:pt x="4002729" y="0"/>
                  </a:lnTo>
                  <a:lnTo>
                    <a:pt x="4002729" y="318313"/>
                  </a:lnTo>
                  <a:lnTo>
                    <a:pt x="0" y="318313"/>
                  </a:lnTo>
                  <a:close/>
                </a:path>
              </a:pathLst>
            </a:custGeom>
            <a:solidFill>
              <a:srgbClr val="ECECEC"/>
            </a:solidFill>
            <a:ln cap="sq">
              <a:noFill/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4002729" cy="346888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440307" y="5138034"/>
            <a:ext cx="11935017" cy="447631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450"/>
              </a:lnSpc>
            </a:pPr>
            <a:r>
              <a:rPr lang="en-US" sz="3000" spc="-51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각 항목은 </a:t>
            </a:r>
            <a:r>
              <a:rPr lang="en-US" sz="3000" b="1" spc="-51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하나의 주제</a:t>
            </a:r>
            <a:r>
              <a:rPr lang="en-US" sz="3000" spc="-51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에만 집중하여 정보를 쪼개어 전달합니다.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440307" y="6562585"/>
            <a:ext cx="11935017" cy="447631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450"/>
              </a:lnSpc>
            </a:pPr>
            <a:r>
              <a:rPr lang="en-US" sz="3000" spc="-51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체크아이콘, 숫자, 화살표 등으로 정보의 흐름을 </a:t>
            </a:r>
            <a:r>
              <a:rPr lang="en-US" sz="3000" b="1" spc="-51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시각적으로 표현</a:t>
            </a:r>
            <a:r>
              <a:rPr lang="en-US" sz="3000" spc="-51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합니다.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440307" y="7964601"/>
            <a:ext cx="11935017" cy="447631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450"/>
              </a:lnSpc>
            </a:pPr>
            <a:r>
              <a:rPr lang="en-US" sz="3000" spc="-51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동일한 간격, 균형 잡힌 정렬로 </a:t>
            </a:r>
            <a:r>
              <a:rPr lang="en-US" sz="3000" b="1" spc="-51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보기 좋은 구조</a:t>
            </a:r>
            <a:r>
              <a:rPr lang="en-US" sz="3000" spc="-51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를 만듭니다.</a:t>
            </a:r>
          </a:p>
        </p:txBody>
      </p:sp>
      <p:sp>
        <p:nvSpPr>
          <p:cNvPr id="33" name="Freeform 33"/>
          <p:cNvSpPr/>
          <p:nvPr/>
        </p:nvSpPr>
        <p:spPr>
          <a:xfrm>
            <a:off x="2088641" y="5291898"/>
            <a:ext cx="170988" cy="130378"/>
          </a:xfrm>
          <a:custGeom>
            <a:avLst/>
            <a:gdLst/>
            <a:ahLst/>
            <a:cxnLst/>
            <a:rect l="l" t="t" r="r" b="b"/>
            <a:pathLst>
              <a:path w="170988" h="130378">
                <a:moveTo>
                  <a:pt x="0" y="0"/>
                </a:moveTo>
                <a:lnTo>
                  <a:pt x="170988" y="0"/>
                </a:lnTo>
                <a:lnTo>
                  <a:pt x="170988" y="130379"/>
                </a:lnTo>
                <a:lnTo>
                  <a:pt x="0" y="13037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2088641" y="6674698"/>
            <a:ext cx="170988" cy="130378"/>
          </a:xfrm>
          <a:custGeom>
            <a:avLst/>
            <a:gdLst/>
            <a:ahLst/>
            <a:cxnLst/>
            <a:rect l="l" t="t" r="r" b="b"/>
            <a:pathLst>
              <a:path w="170988" h="130378">
                <a:moveTo>
                  <a:pt x="0" y="0"/>
                </a:moveTo>
                <a:lnTo>
                  <a:pt x="170988" y="0"/>
                </a:lnTo>
                <a:lnTo>
                  <a:pt x="170988" y="130378"/>
                </a:lnTo>
                <a:lnTo>
                  <a:pt x="0" y="13037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2088641" y="8102368"/>
            <a:ext cx="170988" cy="130378"/>
          </a:xfrm>
          <a:custGeom>
            <a:avLst/>
            <a:gdLst/>
            <a:ahLst/>
            <a:cxnLst/>
            <a:rect l="l" t="t" r="r" b="b"/>
            <a:pathLst>
              <a:path w="170988" h="130378">
                <a:moveTo>
                  <a:pt x="0" y="0"/>
                </a:moveTo>
                <a:lnTo>
                  <a:pt x="170988" y="0"/>
                </a:lnTo>
                <a:lnTo>
                  <a:pt x="170988" y="130378"/>
                </a:lnTo>
                <a:lnTo>
                  <a:pt x="0" y="13037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19">
            <a:extLst>
              <a:ext uri="{FF2B5EF4-FFF2-40B4-BE49-F238E27FC236}">
                <a16:creationId xmlns:a16="http://schemas.microsoft.com/office/drawing/2014/main" id="{746390DE-CF2F-4073-9059-C4F476F98799}"/>
              </a:ext>
            </a:extLst>
          </p:cNvPr>
          <p:cNvSpPr txBox="1"/>
          <p:nvPr/>
        </p:nvSpPr>
        <p:spPr>
          <a:xfrm>
            <a:off x="1049478" y="852838"/>
            <a:ext cx="735448" cy="734676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marL="0" lvl="0" indent="0" algn="ctr">
              <a:lnSpc>
                <a:spcPts val="2336"/>
              </a:lnSpc>
              <a:spcBef>
                <a:spcPct val="0"/>
              </a:spcBef>
            </a:pPr>
            <a:r>
              <a:rPr lang="en-US" sz="2290" spc="-171" dirty="0">
                <a:solidFill>
                  <a:srgbClr val="F5F4F4"/>
                </a:solidFill>
                <a:latin typeface="DIN Next"/>
                <a:ea typeface="DIN Next"/>
                <a:cs typeface="DIN Next"/>
                <a:sym typeface="DIN Next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43432" y="485661"/>
            <a:ext cx="2795067" cy="240203"/>
            <a:chOff x="0" y="0"/>
            <a:chExt cx="3726756" cy="320271"/>
          </a:xfrm>
        </p:grpSpPr>
        <p:sp>
          <p:nvSpPr>
            <p:cNvPr id="3" name="Freeform 3"/>
            <p:cNvSpPr/>
            <p:nvPr/>
          </p:nvSpPr>
          <p:spPr>
            <a:xfrm>
              <a:off x="1679974" y="2970"/>
              <a:ext cx="225532" cy="314331"/>
            </a:xfrm>
            <a:custGeom>
              <a:avLst/>
              <a:gdLst/>
              <a:ahLst/>
              <a:cxnLst/>
              <a:rect l="l" t="t" r="r" b="b"/>
              <a:pathLst>
                <a:path w="225532" h="314331">
                  <a:moveTo>
                    <a:pt x="0" y="0"/>
                  </a:moveTo>
                  <a:lnTo>
                    <a:pt x="225532" y="0"/>
                  </a:lnTo>
                  <a:lnTo>
                    <a:pt x="225532" y="314331"/>
                  </a:lnTo>
                  <a:lnTo>
                    <a:pt x="0" y="314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" name="Freeform 4"/>
            <p:cNvSpPr/>
            <p:nvPr/>
          </p:nvSpPr>
          <p:spPr>
            <a:xfrm>
              <a:off x="1106158" y="11191"/>
              <a:ext cx="287090" cy="297888"/>
            </a:xfrm>
            <a:custGeom>
              <a:avLst/>
              <a:gdLst/>
              <a:ahLst/>
              <a:cxnLst/>
              <a:rect l="l" t="t" r="r" b="b"/>
              <a:pathLst>
                <a:path w="287090" h="297888">
                  <a:moveTo>
                    <a:pt x="0" y="0"/>
                  </a:moveTo>
                  <a:lnTo>
                    <a:pt x="287090" y="0"/>
                  </a:lnTo>
                  <a:lnTo>
                    <a:pt x="287090" y="297888"/>
                  </a:lnTo>
                  <a:lnTo>
                    <a:pt x="0" y="297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2172206" y="0"/>
              <a:ext cx="321880" cy="320271"/>
            </a:xfrm>
            <a:custGeom>
              <a:avLst/>
              <a:gdLst/>
              <a:ahLst/>
              <a:cxnLst/>
              <a:rect l="l" t="t" r="r" b="b"/>
              <a:pathLst>
                <a:path w="321880" h="320271">
                  <a:moveTo>
                    <a:pt x="0" y="0"/>
                  </a:moveTo>
                  <a:lnTo>
                    <a:pt x="321880" y="0"/>
                  </a:lnTo>
                  <a:lnTo>
                    <a:pt x="321880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3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6" name="Freeform 6"/>
            <p:cNvSpPr/>
            <p:nvPr/>
          </p:nvSpPr>
          <p:spPr>
            <a:xfrm>
              <a:off x="2755412" y="0"/>
              <a:ext cx="320271" cy="320271"/>
            </a:xfrm>
            <a:custGeom>
              <a:avLst/>
              <a:gdLst/>
              <a:ahLst/>
              <a:cxnLst/>
              <a:rect l="l" t="t" r="r" b="b"/>
              <a:pathLst>
                <a:path w="320271" h="320271">
                  <a:moveTo>
                    <a:pt x="0" y="0"/>
                  </a:moveTo>
                  <a:lnTo>
                    <a:pt x="320271" y="0"/>
                  </a:lnTo>
                  <a:lnTo>
                    <a:pt x="320271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30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7" name="Freeform 7"/>
            <p:cNvSpPr/>
            <p:nvPr/>
          </p:nvSpPr>
          <p:spPr>
            <a:xfrm rot="-5400000">
              <a:off x="3465879" y="-52825"/>
              <a:ext cx="95832" cy="425921"/>
            </a:xfrm>
            <a:custGeom>
              <a:avLst/>
              <a:gdLst/>
              <a:ahLst/>
              <a:cxnLst/>
              <a:rect l="l" t="t" r="r" b="b"/>
              <a:pathLst>
                <a:path w="95832" h="425921">
                  <a:moveTo>
                    <a:pt x="0" y="0"/>
                  </a:moveTo>
                  <a:lnTo>
                    <a:pt x="95832" y="0"/>
                  </a:lnTo>
                  <a:lnTo>
                    <a:pt x="95832" y="425921"/>
                  </a:lnTo>
                  <a:lnTo>
                    <a:pt x="0" y="425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30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Freeform 8"/>
            <p:cNvSpPr/>
            <p:nvPr/>
          </p:nvSpPr>
          <p:spPr>
            <a:xfrm>
              <a:off x="0" y="14822"/>
              <a:ext cx="283522" cy="287839"/>
            </a:xfrm>
            <a:custGeom>
              <a:avLst/>
              <a:gdLst/>
              <a:ahLst/>
              <a:cxnLst/>
              <a:rect l="l" t="t" r="r" b="b"/>
              <a:pathLst>
                <a:path w="283522" h="287839">
                  <a:moveTo>
                    <a:pt x="0" y="0"/>
                  </a:moveTo>
                  <a:lnTo>
                    <a:pt x="283522" y="0"/>
                  </a:lnTo>
                  <a:lnTo>
                    <a:pt x="283522" y="287839"/>
                  </a:lnTo>
                  <a:lnTo>
                    <a:pt x="0" y="287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30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537522" y="2970"/>
              <a:ext cx="314636" cy="299691"/>
            </a:xfrm>
            <a:custGeom>
              <a:avLst/>
              <a:gdLst/>
              <a:ahLst/>
              <a:cxnLst/>
              <a:rect l="l" t="t" r="r" b="b"/>
              <a:pathLst>
                <a:path w="314636" h="299691">
                  <a:moveTo>
                    <a:pt x="0" y="0"/>
                  </a:moveTo>
                  <a:lnTo>
                    <a:pt x="314636" y="0"/>
                  </a:lnTo>
                  <a:lnTo>
                    <a:pt x="314636" y="299691"/>
                  </a:lnTo>
                  <a:lnTo>
                    <a:pt x="0" y="299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30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0" y="10192835"/>
            <a:ext cx="18288000" cy="94165"/>
            <a:chOff x="0" y="0"/>
            <a:chExt cx="3762963" cy="193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62963" cy="19376"/>
            </a:xfrm>
            <a:custGeom>
              <a:avLst/>
              <a:gdLst/>
              <a:ahLst/>
              <a:cxnLst/>
              <a:rect l="l" t="t" r="r" b="b"/>
              <a:pathLst>
                <a:path w="3762963" h="19376">
                  <a:moveTo>
                    <a:pt x="0" y="0"/>
                  </a:moveTo>
                  <a:lnTo>
                    <a:pt x="3762963" y="0"/>
                  </a:lnTo>
                  <a:lnTo>
                    <a:pt x="3762963" y="19376"/>
                  </a:lnTo>
                  <a:lnTo>
                    <a:pt x="0" y="19376"/>
                  </a:lnTo>
                  <a:close/>
                </a:path>
              </a:pathLst>
            </a:custGeom>
            <a:solidFill>
              <a:srgbClr val="B3555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3762963" cy="67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49478" y="852837"/>
            <a:ext cx="735448" cy="735448"/>
            <a:chOff x="0" y="0"/>
            <a:chExt cx="191064" cy="19106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1064" cy="191064"/>
            </a:xfrm>
            <a:custGeom>
              <a:avLst/>
              <a:gdLst/>
              <a:ahLst/>
              <a:cxnLst/>
              <a:rect l="l" t="t" r="r" b="b"/>
              <a:pathLst>
                <a:path w="191064" h="191064">
                  <a:moveTo>
                    <a:pt x="0" y="0"/>
                  </a:moveTo>
                  <a:lnTo>
                    <a:pt x="191064" y="0"/>
                  </a:lnTo>
                  <a:lnTo>
                    <a:pt x="191064" y="191064"/>
                  </a:lnTo>
                  <a:lnTo>
                    <a:pt x="0" y="191064"/>
                  </a:lnTo>
                  <a:close/>
                </a:path>
              </a:pathLst>
            </a:custGeom>
            <a:solidFill>
              <a:srgbClr val="B35555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91064" cy="219639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70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AutoShape 16"/>
          <p:cNvSpPr/>
          <p:nvPr/>
        </p:nvSpPr>
        <p:spPr>
          <a:xfrm flipV="1">
            <a:off x="662837" y="2117428"/>
            <a:ext cx="16962327" cy="0"/>
          </a:xfrm>
          <a:prstGeom prst="line">
            <a:avLst/>
          </a:prstGeom>
          <a:ln w="19050" cap="flat">
            <a:solidFill>
              <a:srgbClr val="363636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2073273" y="872658"/>
            <a:ext cx="16045578" cy="791056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l">
              <a:lnSpc>
                <a:spcPts val="5969"/>
              </a:lnSpc>
            </a:pPr>
            <a:r>
              <a:rPr lang="en-US" sz="5852" b="1" spc="-117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원인과</a:t>
            </a:r>
            <a:r>
              <a:rPr lang="en-US" sz="5852" b="1" spc="-117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5852" b="1" spc="-117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결과</a:t>
            </a:r>
            <a:r>
              <a:rPr lang="en-US" sz="5852" b="1" spc="-117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5852" b="1" spc="-117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있는</a:t>
            </a:r>
            <a:r>
              <a:rPr lang="en-US" sz="5852" b="1" spc="-117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5852" b="1" spc="-117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페이지</a:t>
            </a:r>
            <a:endParaRPr lang="en-US" sz="5852" b="1" spc="-117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423773" y="1358870"/>
            <a:ext cx="6293520" cy="228644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1" indent="0" algn="l">
              <a:lnSpc>
                <a:spcPts val="1860"/>
              </a:lnSpc>
              <a:spcBef>
                <a:spcPct val="0"/>
              </a:spcBef>
            </a:pPr>
            <a:r>
              <a:rPr lang="en-US" sz="1550" u="none" strike="noStrike" spc="-26" dirty="0" err="1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메인타이틀에</a:t>
            </a:r>
            <a:r>
              <a:rPr lang="en-US" sz="1550" u="none" strike="noStrike" spc="-26" dirty="0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550" u="none" strike="noStrike" spc="-26" dirty="0" err="1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대한</a:t>
            </a:r>
            <a:r>
              <a:rPr lang="en-US" sz="1550" u="none" strike="noStrike" spc="-26" dirty="0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550" u="none" strike="noStrike" spc="-26" dirty="0" err="1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세부</a:t>
            </a:r>
            <a:r>
              <a:rPr lang="en-US" sz="1550" u="none" strike="noStrike" spc="-26" dirty="0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550" u="none" strike="noStrike" spc="-26" dirty="0" err="1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설명을</a:t>
            </a:r>
            <a:r>
              <a:rPr lang="en-US" sz="1550" u="none" strike="noStrike" spc="-26" dirty="0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550" u="none" strike="noStrike" spc="-26" dirty="0" err="1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입력해</a:t>
            </a:r>
            <a:r>
              <a:rPr lang="en-US" sz="1550" u="none" strike="noStrike" spc="-26" dirty="0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550" u="none" strike="noStrike" spc="-26" dirty="0" err="1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주세요</a:t>
            </a:r>
            <a:r>
              <a:rPr lang="en-US" sz="1550" u="none" strike="noStrike" spc="-26" dirty="0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9478" y="852838"/>
            <a:ext cx="735448" cy="734676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marL="0" lvl="0" indent="0" algn="ctr">
              <a:lnSpc>
                <a:spcPts val="2336"/>
              </a:lnSpc>
              <a:spcBef>
                <a:spcPct val="0"/>
              </a:spcBef>
            </a:pPr>
            <a:r>
              <a:rPr lang="en-US" sz="2290" spc="-171" dirty="0">
                <a:solidFill>
                  <a:srgbClr val="F5F4F4"/>
                </a:solidFill>
                <a:latin typeface="DIN Next"/>
                <a:ea typeface="DIN Next"/>
                <a:cs typeface="DIN Next"/>
                <a:sym typeface="DIN Next"/>
              </a:rPr>
              <a:t>07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545069" y="3025354"/>
            <a:ext cx="7483304" cy="1858631"/>
            <a:chOff x="0" y="0"/>
            <a:chExt cx="1864367" cy="46305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864367" cy="463054"/>
            </a:xfrm>
            <a:custGeom>
              <a:avLst/>
              <a:gdLst/>
              <a:ahLst/>
              <a:cxnLst/>
              <a:rect l="l" t="t" r="r" b="b"/>
              <a:pathLst>
                <a:path w="1864367" h="463054">
                  <a:moveTo>
                    <a:pt x="0" y="0"/>
                  </a:moveTo>
                  <a:lnTo>
                    <a:pt x="1864367" y="0"/>
                  </a:lnTo>
                  <a:lnTo>
                    <a:pt x="1864367" y="463054"/>
                  </a:lnTo>
                  <a:lnTo>
                    <a:pt x="0" y="463054"/>
                  </a:lnTo>
                  <a:close/>
                </a:path>
              </a:pathLst>
            </a:custGeom>
            <a:solidFill>
              <a:srgbClr val="E3E3E3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864367" cy="491629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545069" y="5165343"/>
            <a:ext cx="7483304" cy="1858631"/>
            <a:chOff x="0" y="0"/>
            <a:chExt cx="1864367" cy="46305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864367" cy="463054"/>
            </a:xfrm>
            <a:custGeom>
              <a:avLst/>
              <a:gdLst/>
              <a:ahLst/>
              <a:cxnLst/>
              <a:rect l="l" t="t" r="r" b="b"/>
              <a:pathLst>
                <a:path w="1864367" h="463054">
                  <a:moveTo>
                    <a:pt x="0" y="0"/>
                  </a:moveTo>
                  <a:lnTo>
                    <a:pt x="1864367" y="0"/>
                  </a:lnTo>
                  <a:lnTo>
                    <a:pt x="1864367" y="463054"/>
                  </a:lnTo>
                  <a:lnTo>
                    <a:pt x="0" y="463054"/>
                  </a:lnTo>
                  <a:close/>
                </a:path>
              </a:pathLst>
            </a:custGeom>
            <a:solidFill>
              <a:srgbClr val="E3E3E3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1864367" cy="491629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45069" y="7305916"/>
            <a:ext cx="7483304" cy="1858631"/>
            <a:chOff x="0" y="0"/>
            <a:chExt cx="1864367" cy="46305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864367" cy="463054"/>
            </a:xfrm>
            <a:custGeom>
              <a:avLst/>
              <a:gdLst/>
              <a:ahLst/>
              <a:cxnLst/>
              <a:rect l="l" t="t" r="r" b="b"/>
              <a:pathLst>
                <a:path w="1864367" h="463054">
                  <a:moveTo>
                    <a:pt x="0" y="0"/>
                  </a:moveTo>
                  <a:lnTo>
                    <a:pt x="1864367" y="0"/>
                  </a:lnTo>
                  <a:lnTo>
                    <a:pt x="1864367" y="463054"/>
                  </a:lnTo>
                  <a:lnTo>
                    <a:pt x="0" y="463054"/>
                  </a:lnTo>
                  <a:close/>
                </a:path>
              </a:pathLst>
            </a:custGeom>
            <a:solidFill>
              <a:srgbClr val="E3E3E3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1864367" cy="491629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615314" y="3025354"/>
            <a:ext cx="6127617" cy="6139148"/>
            <a:chOff x="0" y="0"/>
            <a:chExt cx="1526452" cy="152933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526452" cy="1529334"/>
            </a:xfrm>
            <a:custGeom>
              <a:avLst/>
              <a:gdLst/>
              <a:ahLst/>
              <a:cxnLst/>
              <a:rect l="l" t="t" r="r" b="b"/>
              <a:pathLst>
                <a:path w="1526452" h="1529334">
                  <a:moveTo>
                    <a:pt x="1526452" y="0"/>
                  </a:moveTo>
                  <a:lnTo>
                    <a:pt x="1526452" y="1529334"/>
                  </a:lnTo>
                  <a:lnTo>
                    <a:pt x="0" y="15293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28575"/>
              <a:ext cx="1526452" cy="1557909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>
            <a:off x="9488738" y="5705355"/>
            <a:ext cx="781837" cy="712449"/>
          </a:xfrm>
          <a:custGeom>
            <a:avLst/>
            <a:gdLst/>
            <a:ahLst/>
            <a:cxnLst/>
            <a:rect l="l" t="t" r="r" b="b"/>
            <a:pathLst>
              <a:path w="781837" h="712449">
                <a:moveTo>
                  <a:pt x="0" y="0"/>
                </a:moveTo>
                <a:lnTo>
                  <a:pt x="781838" y="0"/>
                </a:lnTo>
                <a:lnTo>
                  <a:pt x="781838" y="712449"/>
                </a:lnTo>
                <a:lnTo>
                  <a:pt x="0" y="7124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36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3861440" y="3470116"/>
            <a:ext cx="4524838" cy="884333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l">
              <a:lnSpc>
                <a:spcPts val="3622"/>
              </a:lnSpc>
              <a:spcBef>
                <a:spcPct val="0"/>
              </a:spcBef>
            </a:pPr>
            <a:r>
              <a:rPr lang="en-US" sz="2249" u="none" strike="noStrike" spc="-78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문제가 발생한 배경 중 외부 환경이나 제도적 요인을 설명하는 카드입니다.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861440" y="5610105"/>
            <a:ext cx="4524838" cy="884333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l">
              <a:lnSpc>
                <a:spcPts val="3622"/>
              </a:lnSpc>
              <a:spcBef>
                <a:spcPct val="0"/>
              </a:spcBef>
            </a:pP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내부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시스템이나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조직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구조에서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비롯된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원인을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정리합니다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861440" y="7750678"/>
            <a:ext cx="4524838" cy="884333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l">
              <a:lnSpc>
                <a:spcPts val="3622"/>
              </a:lnSpc>
              <a:spcBef>
                <a:spcPct val="0"/>
              </a:spcBef>
            </a:pP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개인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또는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팀의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행동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,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선택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,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역량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등으로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발생한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원인을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설명합니다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.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2037335" y="3607796"/>
            <a:ext cx="1392300" cy="674696"/>
            <a:chOff x="0" y="0"/>
            <a:chExt cx="346873" cy="16809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46873" cy="168092"/>
            </a:xfrm>
            <a:custGeom>
              <a:avLst/>
              <a:gdLst/>
              <a:ahLst/>
              <a:cxnLst/>
              <a:rect l="l" t="t" r="r" b="b"/>
              <a:pathLst>
                <a:path w="346873" h="168092">
                  <a:moveTo>
                    <a:pt x="0" y="0"/>
                  </a:moveTo>
                  <a:lnTo>
                    <a:pt x="346873" y="0"/>
                  </a:lnTo>
                  <a:lnTo>
                    <a:pt x="346873" y="168092"/>
                  </a:lnTo>
                  <a:lnTo>
                    <a:pt x="0" y="168092"/>
                  </a:lnTo>
                  <a:close/>
                </a:path>
              </a:pathLst>
            </a:custGeom>
            <a:solidFill>
              <a:srgbClr val="B35555"/>
            </a:solidFill>
            <a:ln cap="sq">
              <a:noFill/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346873" cy="196667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70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833073" y="3252173"/>
            <a:ext cx="5692099" cy="1030319"/>
            <a:chOff x="0" y="0"/>
            <a:chExt cx="1417977" cy="25666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417977" cy="256666"/>
            </a:xfrm>
            <a:custGeom>
              <a:avLst/>
              <a:gdLst/>
              <a:ahLst/>
              <a:cxnLst/>
              <a:rect l="l" t="t" r="r" b="b"/>
              <a:pathLst>
                <a:path w="1417977" h="256666">
                  <a:moveTo>
                    <a:pt x="0" y="0"/>
                  </a:moveTo>
                  <a:lnTo>
                    <a:pt x="1417977" y="0"/>
                  </a:lnTo>
                  <a:lnTo>
                    <a:pt x="1417977" y="256666"/>
                  </a:lnTo>
                  <a:lnTo>
                    <a:pt x="0" y="256666"/>
                  </a:lnTo>
                  <a:close/>
                </a:path>
              </a:pathLst>
            </a:custGeom>
            <a:solidFill>
              <a:srgbClr val="B35555"/>
            </a:solidFill>
            <a:ln cap="sq">
              <a:noFill/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0" y="0"/>
              <a:ext cx="1417977" cy="256666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algn="ctr">
                <a:lnSpc>
                  <a:spcPts val="1860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2037335" y="5750760"/>
            <a:ext cx="1392300" cy="674696"/>
            <a:chOff x="0" y="0"/>
            <a:chExt cx="346873" cy="16809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46873" cy="168092"/>
            </a:xfrm>
            <a:custGeom>
              <a:avLst/>
              <a:gdLst/>
              <a:ahLst/>
              <a:cxnLst/>
              <a:rect l="l" t="t" r="r" b="b"/>
              <a:pathLst>
                <a:path w="346873" h="168092">
                  <a:moveTo>
                    <a:pt x="0" y="0"/>
                  </a:moveTo>
                  <a:lnTo>
                    <a:pt x="346873" y="0"/>
                  </a:lnTo>
                  <a:lnTo>
                    <a:pt x="346873" y="168092"/>
                  </a:lnTo>
                  <a:lnTo>
                    <a:pt x="0" y="168092"/>
                  </a:lnTo>
                  <a:close/>
                </a:path>
              </a:pathLst>
            </a:custGeom>
            <a:solidFill>
              <a:srgbClr val="B35555"/>
            </a:solidFill>
            <a:ln cap="sq">
              <a:noFill/>
              <a:prstDash val="solid"/>
              <a:miter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0" y="-28575"/>
              <a:ext cx="346873" cy="196667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70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037335" y="7890749"/>
            <a:ext cx="1392300" cy="674696"/>
            <a:chOff x="0" y="0"/>
            <a:chExt cx="346873" cy="16809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46873" cy="168092"/>
            </a:xfrm>
            <a:custGeom>
              <a:avLst/>
              <a:gdLst/>
              <a:ahLst/>
              <a:cxnLst/>
              <a:rect l="l" t="t" r="r" b="b"/>
              <a:pathLst>
                <a:path w="346873" h="168092">
                  <a:moveTo>
                    <a:pt x="0" y="0"/>
                  </a:moveTo>
                  <a:lnTo>
                    <a:pt x="346873" y="0"/>
                  </a:lnTo>
                  <a:lnTo>
                    <a:pt x="346873" y="168092"/>
                  </a:lnTo>
                  <a:lnTo>
                    <a:pt x="0" y="168092"/>
                  </a:lnTo>
                  <a:close/>
                </a:path>
              </a:pathLst>
            </a:custGeom>
            <a:solidFill>
              <a:srgbClr val="B35555"/>
            </a:solidFill>
            <a:ln cap="sq">
              <a:noFill/>
              <a:prstDash val="solid"/>
              <a:miter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0" y="-28575"/>
              <a:ext cx="346873" cy="196667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70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8" name="TextBox 48"/>
          <p:cNvSpPr txBox="1"/>
          <p:nvPr/>
        </p:nvSpPr>
        <p:spPr>
          <a:xfrm rot="-18144">
            <a:off x="2034685" y="3604479"/>
            <a:ext cx="1417216" cy="678007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marL="0" lvl="0" indent="0" algn="ctr">
              <a:lnSpc>
                <a:spcPts val="2760"/>
              </a:lnSpc>
            </a:pPr>
            <a:r>
              <a:rPr lang="en-US" sz="2400" b="1" spc="-52" dirty="0" err="1">
                <a:solidFill>
                  <a:srgbClr val="F5F4F4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원인</a:t>
            </a:r>
            <a:r>
              <a:rPr lang="en-US" sz="2400" b="1" spc="-52" dirty="0">
                <a:solidFill>
                  <a:srgbClr val="F5F4F4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1</a:t>
            </a:r>
          </a:p>
        </p:txBody>
      </p:sp>
      <p:sp>
        <p:nvSpPr>
          <p:cNvPr id="49" name="TextBox 49"/>
          <p:cNvSpPr txBox="1"/>
          <p:nvPr/>
        </p:nvSpPr>
        <p:spPr>
          <a:xfrm rot="-18144">
            <a:off x="2035940" y="5751550"/>
            <a:ext cx="1415972" cy="673898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marL="0" lvl="0" indent="0" algn="ctr">
              <a:lnSpc>
                <a:spcPts val="2760"/>
              </a:lnSpc>
            </a:pPr>
            <a:r>
              <a:rPr lang="en-US" sz="2400" b="1" spc="-52" dirty="0" err="1">
                <a:solidFill>
                  <a:srgbClr val="F5F4F4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원인</a:t>
            </a:r>
            <a:r>
              <a:rPr lang="en-US" sz="2400" b="1" spc="-52" dirty="0">
                <a:solidFill>
                  <a:srgbClr val="F5F4F4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2</a:t>
            </a:r>
          </a:p>
        </p:txBody>
      </p:sp>
      <p:sp>
        <p:nvSpPr>
          <p:cNvPr id="50" name="TextBox 50"/>
          <p:cNvSpPr txBox="1"/>
          <p:nvPr/>
        </p:nvSpPr>
        <p:spPr>
          <a:xfrm rot="-18144">
            <a:off x="2037127" y="7890746"/>
            <a:ext cx="1414773" cy="670955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marL="0" lvl="0" indent="0" algn="ctr">
              <a:lnSpc>
                <a:spcPts val="2760"/>
              </a:lnSpc>
            </a:pPr>
            <a:r>
              <a:rPr lang="en-US" sz="2400" b="1" spc="-52" dirty="0" err="1">
                <a:solidFill>
                  <a:srgbClr val="F5F4F4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원인</a:t>
            </a:r>
            <a:r>
              <a:rPr lang="en-US" sz="2400" b="1" spc="-52" dirty="0">
                <a:solidFill>
                  <a:srgbClr val="F5F4F4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3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275818" y="4788735"/>
            <a:ext cx="4806608" cy="3635516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ctr">
              <a:lnSpc>
                <a:spcPts val="3622"/>
              </a:lnSpc>
              <a:spcBef>
                <a:spcPct val="0"/>
              </a:spcBef>
            </a:pPr>
            <a:r>
              <a:rPr lang="en-US" sz="2250" u="none" strike="noStrike" spc="-78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여러 원인이 모여 하나의 결과를 만들어내는 흐름을 보여주는 레이아웃입니다.</a:t>
            </a:r>
          </a:p>
          <a:p>
            <a:pPr marL="0" lvl="0" indent="0" algn="ctr">
              <a:lnSpc>
                <a:spcPts val="3622"/>
              </a:lnSpc>
              <a:spcBef>
                <a:spcPct val="0"/>
              </a:spcBef>
            </a:pPr>
            <a:r>
              <a:rPr lang="en-US" sz="2250" u="none" strike="noStrike" spc="-78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세 가지 원인이 종합적으로 작용해 나타난</a:t>
            </a:r>
          </a:p>
          <a:p>
            <a:pPr marL="0" lvl="0" indent="0" algn="ctr">
              <a:lnSpc>
                <a:spcPts val="3622"/>
              </a:lnSpc>
              <a:spcBef>
                <a:spcPct val="0"/>
              </a:spcBef>
            </a:pPr>
            <a:r>
              <a:rPr lang="en-US" sz="2250" u="none" strike="noStrike" spc="-78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하나의 결과를 제시하는 카드입니다.</a:t>
            </a:r>
          </a:p>
          <a:p>
            <a:pPr marL="0" lvl="0" indent="0" algn="ctr">
              <a:lnSpc>
                <a:spcPts val="3622"/>
              </a:lnSpc>
              <a:spcBef>
                <a:spcPct val="0"/>
              </a:spcBef>
            </a:pPr>
            <a:r>
              <a:rPr lang="en-US" sz="2250" u="none" strike="noStrike" spc="-78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예: “프로젝트 일정 지연”, “매출 감소”등.</a:t>
            </a:r>
          </a:p>
          <a:p>
            <a:pPr marL="0" lvl="0" indent="0" algn="ctr">
              <a:lnSpc>
                <a:spcPts val="3622"/>
              </a:lnSpc>
              <a:spcBef>
                <a:spcPct val="0"/>
              </a:spcBef>
            </a:pPr>
            <a:r>
              <a:rPr lang="en-US" sz="2250" u="none" strike="noStrike" spc="-78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이 결과는 앞선 원인들과 시각적으로 연결되어 인과관계를 쉽게 이해할 수 있도록</a:t>
            </a:r>
          </a:p>
          <a:p>
            <a:pPr marL="0" lvl="0" indent="0" algn="ctr">
              <a:lnSpc>
                <a:spcPts val="3622"/>
              </a:lnSpc>
              <a:spcBef>
                <a:spcPct val="0"/>
              </a:spcBef>
            </a:pPr>
            <a:r>
              <a:rPr lang="en-US" sz="2250" u="none" strike="noStrike" spc="-78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설계합니다.</a:t>
            </a:r>
          </a:p>
        </p:txBody>
      </p:sp>
      <p:sp>
        <p:nvSpPr>
          <p:cNvPr id="52" name="TextBox 52"/>
          <p:cNvSpPr txBox="1"/>
          <p:nvPr/>
        </p:nvSpPr>
        <p:spPr>
          <a:xfrm rot="-18144">
            <a:off x="10833086" y="3251576"/>
            <a:ext cx="5690255" cy="1030706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marL="0" lvl="0" indent="0" algn="ctr">
              <a:lnSpc>
                <a:spcPts val="3497"/>
              </a:lnSpc>
            </a:pPr>
            <a:r>
              <a:rPr lang="en-US" sz="3041" b="1" spc="-66" dirty="0" err="1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결과</a:t>
            </a:r>
            <a:endParaRPr lang="en-US" sz="3041" b="1" spc="-66" dirty="0">
              <a:solidFill>
                <a:srgbClr val="FFFFFF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43432" y="485661"/>
            <a:ext cx="2795067" cy="240203"/>
            <a:chOff x="0" y="0"/>
            <a:chExt cx="3726756" cy="320271"/>
          </a:xfrm>
        </p:grpSpPr>
        <p:sp>
          <p:nvSpPr>
            <p:cNvPr id="3" name="Freeform 3"/>
            <p:cNvSpPr/>
            <p:nvPr/>
          </p:nvSpPr>
          <p:spPr>
            <a:xfrm>
              <a:off x="1679974" y="2970"/>
              <a:ext cx="225532" cy="314331"/>
            </a:xfrm>
            <a:custGeom>
              <a:avLst/>
              <a:gdLst/>
              <a:ahLst/>
              <a:cxnLst/>
              <a:rect l="l" t="t" r="r" b="b"/>
              <a:pathLst>
                <a:path w="225532" h="314331">
                  <a:moveTo>
                    <a:pt x="0" y="0"/>
                  </a:moveTo>
                  <a:lnTo>
                    <a:pt x="225532" y="0"/>
                  </a:lnTo>
                  <a:lnTo>
                    <a:pt x="225532" y="314331"/>
                  </a:lnTo>
                  <a:lnTo>
                    <a:pt x="0" y="314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" name="Freeform 4"/>
            <p:cNvSpPr/>
            <p:nvPr/>
          </p:nvSpPr>
          <p:spPr>
            <a:xfrm>
              <a:off x="1106158" y="11191"/>
              <a:ext cx="287090" cy="297888"/>
            </a:xfrm>
            <a:custGeom>
              <a:avLst/>
              <a:gdLst/>
              <a:ahLst/>
              <a:cxnLst/>
              <a:rect l="l" t="t" r="r" b="b"/>
              <a:pathLst>
                <a:path w="287090" h="297888">
                  <a:moveTo>
                    <a:pt x="0" y="0"/>
                  </a:moveTo>
                  <a:lnTo>
                    <a:pt x="287090" y="0"/>
                  </a:lnTo>
                  <a:lnTo>
                    <a:pt x="287090" y="297888"/>
                  </a:lnTo>
                  <a:lnTo>
                    <a:pt x="0" y="297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2172206" y="0"/>
              <a:ext cx="321880" cy="320271"/>
            </a:xfrm>
            <a:custGeom>
              <a:avLst/>
              <a:gdLst/>
              <a:ahLst/>
              <a:cxnLst/>
              <a:rect l="l" t="t" r="r" b="b"/>
              <a:pathLst>
                <a:path w="321880" h="320271">
                  <a:moveTo>
                    <a:pt x="0" y="0"/>
                  </a:moveTo>
                  <a:lnTo>
                    <a:pt x="321880" y="0"/>
                  </a:lnTo>
                  <a:lnTo>
                    <a:pt x="321880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3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6" name="Freeform 6"/>
            <p:cNvSpPr/>
            <p:nvPr/>
          </p:nvSpPr>
          <p:spPr>
            <a:xfrm>
              <a:off x="2755412" y="0"/>
              <a:ext cx="320271" cy="320271"/>
            </a:xfrm>
            <a:custGeom>
              <a:avLst/>
              <a:gdLst/>
              <a:ahLst/>
              <a:cxnLst/>
              <a:rect l="l" t="t" r="r" b="b"/>
              <a:pathLst>
                <a:path w="320271" h="320271">
                  <a:moveTo>
                    <a:pt x="0" y="0"/>
                  </a:moveTo>
                  <a:lnTo>
                    <a:pt x="320271" y="0"/>
                  </a:lnTo>
                  <a:lnTo>
                    <a:pt x="320271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30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7" name="Freeform 7"/>
            <p:cNvSpPr/>
            <p:nvPr/>
          </p:nvSpPr>
          <p:spPr>
            <a:xfrm rot="-5400000">
              <a:off x="3465879" y="-52825"/>
              <a:ext cx="95832" cy="425921"/>
            </a:xfrm>
            <a:custGeom>
              <a:avLst/>
              <a:gdLst/>
              <a:ahLst/>
              <a:cxnLst/>
              <a:rect l="l" t="t" r="r" b="b"/>
              <a:pathLst>
                <a:path w="95832" h="425921">
                  <a:moveTo>
                    <a:pt x="0" y="0"/>
                  </a:moveTo>
                  <a:lnTo>
                    <a:pt x="95832" y="0"/>
                  </a:lnTo>
                  <a:lnTo>
                    <a:pt x="95832" y="425921"/>
                  </a:lnTo>
                  <a:lnTo>
                    <a:pt x="0" y="425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30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Freeform 8"/>
            <p:cNvSpPr/>
            <p:nvPr/>
          </p:nvSpPr>
          <p:spPr>
            <a:xfrm>
              <a:off x="0" y="14822"/>
              <a:ext cx="283522" cy="287839"/>
            </a:xfrm>
            <a:custGeom>
              <a:avLst/>
              <a:gdLst/>
              <a:ahLst/>
              <a:cxnLst/>
              <a:rect l="l" t="t" r="r" b="b"/>
              <a:pathLst>
                <a:path w="283522" h="287839">
                  <a:moveTo>
                    <a:pt x="0" y="0"/>
                  </a:moveTo>
                  <a:lnTo>
                    <a:pt x="283522" y="0"/>
                  </a:lnTo>
                  <a:lnTo>
                    <a:pt x="283522" y="287839"/>
                  </a:lnTo>
                  <a:lnTo>
                    <a:pt x="0" y="287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30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537522" y="2970"/>
              <a:ext cx="314636" cy="299691"/>
            </a:xfrm>
            <a:custGeom>
              <a:avLst/>
              <a:gdLst/>
              <a:ahLst/>
              <a:cxnLst/>
              <a:rect l="l" t="t" r="r" b="b"/>
              <a:pathLst>
                <a:path w="314636" h="299691">
                  <a:moveTo>
                    <a:pt x="0" y="0"/>
                  </a:moveTo>
                  <a:lnTo>
                    <a:pt x="314636" y="0"/>
                  </a:lnTo>
                  <a:lnTo>
                    <a:pt x="314636" y="299691"/>
                  </a:lnTo>
                  <a:lnTo>
                    <a:pt x="0" y="299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30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0" y="10192835"/>
            <a:ext cx="18288000" cy="94165"/>
            <a:chOff x="0" y="0"/>
            <a:chExt cx="3762963" cy="193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62963" cy="19376"/>
            </a:xfrm>
            <a:custGeom>
              <a:avLst/>
              <a:gdLst/>
              <a:ahLst/>
              <a:cxnLst/>
              <a:rect l="l" t="t" r="r" b="b"/>
              <a:pathLst>
                <a:path w="3762963" h="19376">
                  <a:moveTo>
                    <a:pt x="0" y="0"/>
                  </a:moveTo>
                  <a:lnTo>
                    <a:pt x="3762963" y="0"/>
                  </a:lnTo>
                  <a:lnTo>
                    <a:pt x="3762963" y="19376"/>
                  </a:lnTo>
                  <a:lnTo>
                    <a:pt x="0" y="19376"/>
                  </a:lnTo>
                  <a:close/>
                </a:path>
              </a:pathLst>
            </a:custGeom>
            <a:solidFill>
              <a:srgbClr val="B3555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3762963" cy="67001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 fontScale="25000" lnSpcReduction="20000"/>
            </a:bodyPr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 rot="-18144">
            <a:off x="13006057" y="3557674"/>
            <a:ext cx="1125212" cy="438368"/>
          </a:xfrm>
          <a:prstGeom prst="rect">
            <a:avLst/>
          </a:prstGeom>
        </p:spPr>
        <p:txBody>
          <a:bodyPr lIns="0" tIns="0" rIns="0" bIns="0" rtlCol="0" anchor="t">
            <a:normAutofit fontScale="92500"/>
          </a:bodyPr>
          <a:lstStyle/>
          <a:p>
            <a:pPr marL="0" lvl="0" indent="0" algn="ctr">
              <a:lnSpc>
                <a:spcPts val="3497"/>
              </a:lnSpc>
            </a:pPr>
            <a:r>
              <a:rPr lang="en-US" sz="3041" b="1" spc="-66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결과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49478" y="852837"/>
            <a:ext cx="735448" cy="735448"/>
            <a:chOff x="0" y="0"/>
            <a:chExt cx="191064" cy="19106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1064" cy="191064"/>
            </a:xfrm>
            <a:custGeom>
              <a:avLst/>
              <a:gdLst/>
              <a:ahLst/>
              <a:cxnLst/>
              <a:rect l="l" t="t" r="r" b="b"/>
              <a:pathLst>
                <a:path w="191064" h="191064">
                  <a:moveTo>
                    <a:pt x="0" y="0"/>
                  </a:moveTo>
                  <a:lnTo>
                    <a:pt x="191064" y="0"/>
                  </a:lnTo>
                  <a:lnTo>
                    <a:pt x="191064" y="191064"/>
                  </a:lnTo>
                  <a:lnTo>
                    <a:pt x="0" y="191064"/>
                  </a:lnTo>
                  <a:close/>
                </a:path>
              </a:pathLst>
            </a:custGeom>
            <a:solidFill>
              <a:srgbClr val="B35555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191064" cy="219639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70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AutoShape 17"/>
          <p:cNvSpPr/>
          <p:nvPr/>
        </p:nvSpPr>
        <p:spPr>
          <a:xfrm flipV="1">
            <a:off x="662837" y="2117428"/>
            <a:ext cx="16962327" cy="0"/>
          </a:xfrm>
          <a:prstGeom prst="line">
            <a:avLst/>
          </a:prstGeom>
          <a:ln w="19050" cap="flat">
            <a:solidFill>
              <a:srgbClr val="363636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" name="Group 18"/>
          <p:cNvGrpSpPr/>
          <p:nvPr/>
        </p:nvGrpSpPr>
        <p:grpSpPr>
          <a:xfrm>
            <a:off x="1545069" y="3025354"/>
            <a:ext cx="4841708" cy="4161167"/>
            <a:chOff x="0" y="0"/>
            <a:chExt cx="738724" cy="63489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38724" cy="634891"/>
            </a:xfrm>
            <a:custGeom>
              <a:avLst/>
              <a:gdLst/>
              <a:ahLst/>
              <a:cxnLst/>
              <a:rect l="l" t="t" r="r" b="b"/>
              <a:pathLst>
                <a:path w="738724" h="634891">
                  <a:moveTo>
                    <a:pt x="0" y="0"/>
                  </a:moveTo>
                  <a:lnTo>
                    <a:pt x="738724" y="0"/>
                  </a:lnTo>
                  <a:lnTo>
                    <a:pt x="738724" y="634891"/>
                  </a:lnTo>
                  <a:lnTo>
                    <a:pt x="0" y="634891"/>
                  </a:lnTo>
                  <a:close/>
                </a:path>
              </a:pathLst>
            </a:custGeom>
            <a:blipFill>
              <a:blip r:embed="rId16"/>
              <a:stretch>
                <a:fillRect t="-37265" b="-37265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6720122" y="3025354"/>
            <a:ext cx="4841708" cy="4161167"/>
            <a:chOff x="0" y="0"/>
            <a:chExt cx="738724" cy="63489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38724" cy="634891"/>
            </a:xfrm>
            <a:custGeom>
              <a:avLst/>
              <a:gdLst/>
              <a:ahLst/>
              <a:cxnLst/>
              <a:rect l="l" t="t" r="r" b="b"/>
              <a:pathLst>
                <a:path w="738724" h="634891">
                  <a:moveTo>
                    <a:pt x="0" y="0"/>
                  </a:moveTo>
                  <a:lnTo>
                    <a:pt x="738724" y="0"/>
                  </a:lnTo>
                  <a:lnTo>
                    <a:pt x="738724" y="634891"/>
                  </a:lnTo>
                  <a:lnTo>
                    <a:pt x="0" y="634891"/>
                  </a:lnTo>
                  <a:close/>
                </a:path>
              </a:pathLst>
            </a:custGeom>
            <a:blipFill>
              <a:blip r:embed="rId17"/>
              <a:stretch>
                <a:fillRect t="-8177" b="-8177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1903066" y="3025354"/>
            <a:ext cx="4841708" cy="4161167"/>
            <a:chOff x="0" y="0"/>
            <a:chExt cx="738724" cy="63489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38724" cy="634891"/>
            </a:xfrm>
            <a:custGeom>
              <a:avLst/>
              <a:gdLst/>
              <a:ahLst/>
              <a:cxnLst/>
              <a:rect l="l" t="t" r="r" b="b"/>
              <a:pathLst>
                <a:path w="738724" h="634891">
                  <a:moveTo>
                    <a:pt x="0" y="0"/>
                  </a:moveTo>
                  <a:lnTo>
                    <a:pt x="738724" y="0"/>
                  </a:lnTo>
                  <a:lnTo>
                    <a:pt x="738724" y="634891"/>
                  </a:lnTo>
                  <a:lnTo>
                    <a:pt x="0" y="634891"/>
                  </a:lnTo>
                  <a:close/>
                </a:path>
              </a:pathLst>
            </a:custGeom>
            <a:blipFill>
              <a:blip r:embed="rId18"/>
              <a:stretch>
                <a:fillRect l="-7775" t="-46912" r="-3758" b="-47507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2073273" y="872658"/>
            <a:ext cx="10279721" cy="791056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l">
              <a:lnSpc>
                <a:spcPts val="5969"/>
              </a:lnSpc>
            </a:pPr>
            <a:r>
              <a:rPr lang="en-US" sz="5852" b="1" spc="-117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사진 앨범형 레이아웃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25878" y="1358870"/>
            <a:ext cx="6293520" cy="228644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1" indent="0" algn="l">
              <a:lnSpc>
                <a:spcPts val="1860"/>
              </a:lnSpc>
              <a:spcBef>
                <a:spcPct val="0"/>
              </a:spcBef>
            </a:pPr>
            <a:r>
              <a:rPr lang="en-US" sz="1550" u="none" strike="noStrike" spc="-26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메인타이틀에 대한 세부 설명을 입력해 주세요.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64378" y="8322581"/>
            <a:ext cx="4603091" cy="803866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ctr">
              <a:lnSpc>
                <a:spcPts val="3225"/>
              </a:lnSpc>
            </a:pPr>
            <a:r>
              <a:rPr lang="en-US" sz="2150" u="none" strike="noStrike" spc="-75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하나의 슬라이드에 여러 이미지를 나열하여 </a:t>
            </a:r>
          </a:p>
          <a:p>
            <a:pPr marL="0" lvl="0" indent="0" algn="ctr">
              <a:lnSpc>
                <a:spcPts val="3225"/>
              </a:lnSpc>
            </a:pPr>
            <a:r>
              <a:rPr lang="en-US" sz="2150" u="none" strike="noStrike" spc="-75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한눈에 보여줄 수 있는 레이아웃입니다.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850029" y="8322581"/>
            <a:ext cx="4603091" cy="803866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ctr">
              <a:lnSpc>
                <a:spcPts val="3225"/>
              </a:lnSpc>
              <a:spcBef>
                <a:spcPct val="0"/>
              </a:spcBef>
            </a:pPr>
            <a:r>
              <a:rPr lang="en-US" sz="2150" u="none" strike="noStrike" spc="-75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세 개의 박스가 좌우로 균등하게 배치되어 있어,  흐름 설명에 적합한 레이아웃입니다.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022374" y="8322581"/>
            <a:ext cx="4603091" cy="803866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ctr">
              <a:lnSpc>
                <a:spcPts val="3225"/>
              </a:lnSpc>
              <a:spcBef>
                <a:spcPct val="0"/>
              </a:spcBef>
            </a:pPr>
            <a:r>
              <a:rPr lang="en-US" sz="2150" u="none" strike="noStrike" spc="-75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사진 아래에 제목과 함께 짧은 설명을 추가해, 텍스트 정보를 조화롭게 전달합니다.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26615" y="7613194"/>
            <a:ext cx="4678617" cy="504803"/>
          </a:xfrm>
          <a:prstGeom prst="rect">
            <a:avLst/>
          </a:prstGeom>
        </p:spPr>
        <p:txBody>
          <a:bodyPr lIns="0" tIns="0" rIns="0" bIns="0" rtlCol="0" anchor="t">
            <a:normAutofit fontScale="92500"/>
          </a:bodyPr>
          <a:lstStyle/>
          <a:p>
            <a:pPr algn="ctr">
              <a:lnSpc>
                <a:spcPts val="4023"/>
              </a:lnSpc>
            </a:pPr>
            <a:r>
              <a:rPr lang="en-US" sz="3352" b="1" spc="-117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이미지 강조형 정보 배열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74701" y="7613194"/>
            <a:ext cx="4678617" cy="504803"/>
          </a:xfrm>
          <a:prstGeom prst="rect">
            <a:avLst/>
          </a:prstGeom>
        </p:spPr>
        <p:txBody>
          <a:bodyPr lIns="0" tIns="0" rIns="0" bIns="0" rtlCol="0" anchor="t">
            <a:normAutofit fontScale="92500"/>
          </a:bodyPr>
          <a:lstStyle/>
          <a:p>
            <a:pPr algn="ctr">
              <a:lnSpc>
                <a:spcPts val="4023"/>
              </a:lnSpc>
            </a:pPr>
            <a:r>
              <a:rPr lang="en-US" sz="3352" b="1" spc="-117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병렬 구조 정보 나열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895710" y="7613194"/>
            <a:ext cx="4678617" cy="504803"/>
          </a:xfrm>
          <a:prstGeom prst="rect">
            <a:avLst/>
          </a:prstGeom>
        </p:spPr>
        <p:txBody>
          <a:bodyPr lIns="0" tIns="0" rIns="0" bIns="0" rtlCol="0" anchor="t">
            <a:normAutofit fontScale="92500"/>
          </a:bodyPr>
          <a:lstStyle/>
          <a:p>
            <a:pPr algn="ctr">
              <a:lnSpc>
                <a:spcPts val="4023"/>
              </a:lnSpc>
            </a:pPr>
            <a:r>
              <a:rPr lang="en-US" sz="3352" b="1" spc="-117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설명 중심 캡션 구성</a:t>
            </a:r>
          </a:p>
        </p:txBody>
      </p:sp>
      <p:sp>
        <p:nvSpPr>
          <p:cNvPr id="33" name="TextBox 19">
            <a:extLst>
              <a:ext uri="{FF2B5EF4-FFF2-40B4-BE49-F238E27FC236}">
                <a16:creationId xmlns:a16="http://schemas.microsoft.com/office/drawing/2014/main" id="{BF34A410-B9CF-408E-A6DB-53E5A0A18D3F}"/>
              </a:ext>
            </a:extLst>
          </p:cNvPr>
          <p:cNvSpPr txBox="1"/>
          <p:nvPr/>
        </p:nvSpPr>
        <p:spPr>
          <a:xfrm>
            <a:off x="1049478" y="852838"/>
            <a:ext cx="735448" cy="734676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marL="0" lvl="0" indent="0" algn="ctr">
              <a:lnSpc>
                <a:spcPts val="2336"/>
              </a:lnSpc>
              <a:spcBef>
                <a:spcPct val="0"/>
              </a:spcBef>
            </a:pPr>
            <a:r>
              <a:rPr lang="en-US" sz="2290" spc="-171" dirty="0">
                <a:solidFill>
                  <a:srgbClr val="F5F4F4"/>
                </a:solidFill>
                <a:latin typeface="DIN Next"/>
                <a:ea typeface="DIN Next"/>
                <a:cs typeface="DIN Next"/>
                <a:sym typeface="DIN Next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43432" y="485661"/>
            <a:ext cx="2795067" cy="240203"/>
            <a:chOff x="0" y="0"/>
            <a:chExt cx="3726756" cy="320271"/>
          </a:xfrm>
        </p:grpSpPr>
        <p:sp>
          <p:nvSpPr>
            <p:cNvPr id="3" name="Freeform 3"/>
            <p:cNvSpPr/>
            <p:nvPr/>
          </p:nvSpPr>
          <p:spPr>
            <a:xfrm>
              <a:off x="1679974" y="2970"/>
              <a:ext cx="225532" cy="314331"/>
            </a:xfrm>
            <a:custGeom>
              <a:avLst/>
              <a:gdLst/>
              <a:ahLst/>
              <a:cxnLst/>
              <a:rect l="l" t="t" r="r" b="b"/>
              <a:pathLst>
                <a:path w="225532" h="314331">
                  <a:moveTo>
                    <a:pt x="0" y="0"/>
                  </a:moveTo>
                  <a:lnTo>
                    <a:pt x="225532" y="0"/>
                  </a:lnTo>
                  <a:lnTo>
                    <a:pt x="225532" y="314331"/>
                  </a:lnTo>
                  <a:lnTo>
                    <a:pt x="0" y="314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" name="Freeform 4"/>
            <p:cNvSpPr/>
            <p:nvPr/>
          </p:nvSpPr>
          <p:spPr>
            <a:xfrm>
              <a:off x="1106158" y="11191"/>
              <a:ext cx="287090" cy="297888"/>
            </a:xfrm>
            <a:custGeom>
              <a:avLst/>
              <a:gdLst/>
              <a:ahLst/>
              <a:cxnLst/>
              <a:rect l="l" t="t" r="r" b="b"/>
              <a:pathLst>
                <a:path w="287090" h="297888">
                  <a:moveTo>
                    <a:pt x="0" y="0"/>
                  </a:moveTo>
                  <a:lnTo>
                    <a:pt x="287090" y="0"/>
                  </a:lnTo>
                  <a:lnTo>
                    <a:pt x="287090" y="297888"/>
                  </a:lnTo>
                  <a:lnTo>
                    <a:pt x="0" y="297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2172206" y="0"/>
              <a:ext cx="321880" cy="320271"/>
            </a:xfrm>
            <a:custGeom>
              <a:avLst/>
              <a:gdLst/>
              <a:ahLst/>
              <a:cxnLst/>
              <a:rect l="l" t="t" r="r" b="b"/>
              <a:pathLst>
                <a:path w="321880" h="320271">
                  <a:moveTo>
                    <a:pt x="0" y="0"/>
                  </a:moveTo>
                  <a:lnTo>
                    <a:pt x="321880" y="0"/>
                  </a:lnTo>
                  <a:lnTo>
                    <a:pt x="321880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3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6" name="Freeform 6"/>
            <p:cNvSpPr/>
            <p:nvPr/>
          </p:nvSpPr>
          <p:spPr>
            <a:xfrm>
              <a:off x="2755412" y="0"/>
              <a:ext cx="320271" cy="320271"/>
            </a:xfrm>
            <a:custGeom>
              <a:avLst/>
              <a:gdLst/>
              <a:ahLst/>
              <a:cxnLst/>
              <a:rect l="l" t="t" r="r" b="b"/>
              <a:pathLst>
                <a:path w="320271" h="320271">
                  <a:moveTo>
                    <a:pt x="0" y="0"/>
                  </a:moveTo>
                  <a:lnTo>
                    <a:pt x="320271" y="0"/>
                  </a:lnTo>
                  <a:lnTo>
                    <a:pt x="320271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30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7" name="Freeform 7"/>
            <p:cNvSpPr/>
            <p:nvPr/>
          </p:nvSpPr>
          <p:spPr>
            <a:xfrm rot="-5400000">
              <a:off x="3465879" y="-52825"/>
              <a:ext cx="95832" cy="425921"/>
            </a:xfrm>
            <a:custGeom>
              <a:avLst/>
              <a:gdLst/>
              <a:ahLst/>
              <a:cxnLst/>
              <a:rect l="l" t="t" r="r" b="b"/>
              <a:pathLst>
                <a:path w="95832" h="425921">
                  <a:moveTo>
                    <a:pt x="0" y="0"/>
                  </a:moveTo>
                  <a:lnTo>
                    <a:pt x="95832" y="0"/>
                  </a:lnTo>
                  <a:lnTo>
                    <a:pt x="95832" y="425921"/>
                  </a:lnTo>
                  <a:lnTo>
                    <a:pt x="0" y="425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30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Freeform 8"/>
            <p:cNvSpPr/>
            <p:nvPr/>
          </p:nvSpPr>
          <p:spPr>
            <a:xfrm>
              <a:off x="0" y="14822"/>
              <a:ext cx="283522" cy="287839"/>
            </a:xfrm>
            <a:custGeom>
              <a:avLst/>
              <a:gdLst/>
              <a:ahLst/>
              <a:cxnLst/>
              <a:rect l="l" t="t" r="r" b="b"/>
              <a:pathLst>
                <a:path w="283522" h="287839">
                  <a:moveTo>
                    <a:pt x="0" y="0"/>
                  </a:moveTo>
                  <a:lnTo>
                    <a:pt x="283522" y="0"/>
                  </a:lnTo>
                  <a:lnTo>
                    <a:pt x="283522" y="287839"/>
                  </a:lnTo>
                  <a:lnTo>
                    <a:pt x="0" y="287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30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537522" y="2970"/>
              <a:ext cx="314636" cy="299691"/>
            </a:xfrm>
            <a:custGeom>
              <a:avLst/>
              <a:gdLst/>
              <a:ahLst/>
              <a:cxnLst/>
              <a:rect l="l" t="t" r="r" b="b"/>
              <a:pathLst>
                <a:path w="314636" h="299691">
                  <a:moveTo>
                    <a:pt x="0" y="0"/>
                  </a:moveTo>
                  <a:lnTo>
                    <a:pt x="314636" y="0"/>
                  </a:lnTo>
                  <a:lnTo>
                    <a:pt x="314636" y="299691"/>
                  </a:lnTo>
                  <a:lnTo>
                    <a:pt x="0" y="299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30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0" y="10192835"/>
            <a:ext cx="18288000" cy="94165"/>
            <a:chOff x="0" y="0"/>
            <a:chExt cx="3762963" cy="193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62963" cy="19376"/>
            </a:xfrm>
            <a:custGeom>
              <a:avLst/>
              <a:gdLst/>
              <a:ahLst/>
              <a:cxnLst/>
              <a:rect l="l" t="t" r="r" b="b"/>
              <a:pathLst>
                <a:path w="3762963" h="19376">
                  <a:moveTo>
                    <a:pt x="0" y="0"/>
                  </a:moveTo>
                  <a:lnTo>
                    <a:pt x="3762963" y="0"/>
                  </a:lnTo>
                  <a:lnTo>
                    <a:pt x="3762963" y="19376"/>
                  </a:lnTo>
                  <a:lnTo>
                    <a:pt x="0" y="19376"/>
                  </a:lnTo>
                  <a:close/>
                </a:path>
              </a:pathLst>
            </a:custGeom>
            <a:solidFill>
              <a:srgbClr val="B3555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3762963" cy="67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49478" y="852837"/>
            <a:ext cx="735448" cy="735448"/>
            <a:chOff x="0" y="0"/>
            <a:chExt cx="191064" cy="19106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1064" cy="191064"/>
            </a:xfrm>
            <a:custGeom>
              <a:avLst/>
              <a:gdLst/>
              <a:ahLst/>
              <a:cxnLst/>
              <a:rect l="l" t="t" r="r" b="b"/>
              <a:pathLst>
                <a:path w="191064" h="191064">
                  <a:moveTo>
                    <a:pt x="0" y="0"/>
                  </a:moveTo>
                  <a:lnTo>
                    <a:pt x="191064" y="0"/>
                  </a:lnTo>
                  <a:lnTo>
                    <a:pt x="191064" y="191064"/>
                  </a:lnTo>
                  <a:lnTo>
                    <a:pt x="0" y="191064"/>
                  </a:lnTo>
                  <a:close/>
                </a:path>
              </a:pathLst>
            </a:custGeom>
            <a:solidFill>
              <a:srgbClr val="B35555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91064" cy="219639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70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AutoShape 16"/>
          <p:cNvSpPr/>
          <p:nvPr/>
        </p:nvSpPr>
        <p:spPr>
          <a:xfrm flipV="1">
            <a:off x="662837" y="2117428"/>
            <a:ext cx="16962327" cy="0"/>
          </a:xfrm>
          <a:prstGeom prst="line">
            <a:avLst/>
          </a:prstGeom>
          <a:ln w="19050" cap="flat">
            <a:solidFill>
              <a:srgbClr val="363636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2073273" y="872658"/>
            <a:ext cx="10279721" cy="791056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l">
              <a:lnSpc>
                <a:spcPts val="5969"/>
              </a:lnSpc>
            </a:pPr>
            <a:r>
              <a:rPr lang="en-US" sz="5852" b="1" spc="-117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4장의 카드가 있는 페이지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27706" y="1358870"/>
            <a:ext cx="6293520" cy="228644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1" indent="0" algn="l">
              <a:lnSpc>
                <a:spcPts val="1860"/>
              </a:lnSpc>
              <a:spcBef>
                <a:spcPct val="0"/>
              </a:spcBef>
            </a:pPr>
            <a:r>
              <a:rPr lang="en-US" sz="1550" u="none" strike="noStrike" spc="-26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메인타이틀에 대한 세부 설명을 입력해 주세요.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543226" y="3025354"/>
            <a:ext cx="7499679" cy="2963618"/>
            <a:chOff x="0" y="0"/>
            <a:chExt cx="2356506" cy="93121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56506" cy="931211"/>
            </a:xfrm>
            <a:custGeom>
              <a:avLst/>
              <a:gdLst/>
              <a:ahLst/>
              <a:cxnLst/>
              <a:rect l="l" t="t" r="r" b="b"/>
              <a:pathLst>
                <a:path w="2356506" h="931211">
                  <a:moveTo>
                    <a:pt x="0" y="0"/>
                  </a:moveTo>
                  <a:lnTo>
                    <a:pt x="2356506" y="0"/>
                  </a:lnTo>
                  <a:lnTo>
                    <a:pt x="2356506" y="931211"/>
                  </a:lnTo>
                  <a:lnTo>
                    <a:pt x="0" y="931211"/>
                  </a:lnTo>
                  <a:close/>
                </a:path>
              </a:pathLst>
            </a:custGeom>
            <a:solidFill>
              <a:srgbClr val="E3E3E3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2356506" cy="959786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243252" y="3025354"/>
            <a:ext cx="7499679" cy="2963618"/>
            <a:chOff x="0" y="0"/>
            <a:chExt cx="2356506" cy="93121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356506" cy="931211"/>
            </a:xfrm>
            <a:custGeom>
              <a:avLst/>
              <a:gdLst/>
              <a:ahLst/>
              <a:cxnLst/>
              <a:rect l="l" t="t" r="r" b="b"/>
              <a:pathLst>
                <a:path w="2356506" h="931211">
                  <a:moveTo>
                    <a:pt x="0" y="0"/>
                  </a:moveTo>
                  <a:lnTo>
                    <a:pt x="2356506" y="0"/>
                  </a:lnTo>
                  <a:lnTo>
                    <a:pt x="2356506" y="931211"/>
                  </a:lnTo>
                  <a:lnTo>
                    <a:pt x="0" y="931211"/>
                  </a:lnTo>
                  <a:close/>
                </a:path>
              </a:pathLst>
            </a:custGeom>
            <a:solidFill>
              <a:srgbClr val="EEDFDE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2356506" cy="959786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43226" y="6200929"/>
            <a:ext cx="7499679" cy="2963618"/>
            <a:chOff x="0" y="0"/>
            <a:chExt cx="2356506" cy="93121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356506" cy="931211"/>
            </a:xfrm>
            <a:custGeom>
              <a:avLst/>
              <a:gdLst/>
              <a:ahLst/>
              <a:cxnLst/>
              <a:rect l="l" t="t" r="r" b="b"/>
              <a:pathLst>
                <a:path w="2356506" h="931211">
                  <a:moveTo>
                    <a:pt x="0" y="0"/>
                  </a:moveTo>
                  <a:lnTo>
                    <a:pt x="2356506" y="0"/>
                  </a:lnTo>
                  <a:lnTo>
                    <a:pt x="2356506" y="931211"/>
                  </a:lnTo>
                  <a:lnTo>
                    <a:pt x="0" y="931211"/>
                  </a:lnTo>
                  <a:close/>
                </a:path>
              </a:pathLst>
            </a:custGeom>
            <a:solidFill>
              <a:srgbClr val="EEDFDE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2356506" cy="959786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243252" y="6200929"/>
            <a:ext cx="7499679" cy="2963618"/>
            <a:chOff x="0" y="0"/>
            <a:chExt cx="2356506" cy="93121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356506" cy="931211"/>
            </a:xfrm>
            <a:custGeom>
              <a:avLst/>
              <a:gdLst/>
              <a:ahLst/>
              <a:cxnLst/>
              <a:rect l="l" t="t" r="r" b="b"/>
              <a:pathLst>
                <a:path w="2356506" h="931211">
                  <a:moveTo>
                    <a:pt x="0" y="0"/>
                  </a:moveTo>
                  <a:lnTo>
                    <a:pt x="2356506" y="0"/>
                  </a:lnTo>
                  <a:lnTo>
                    <a:pt x="2356506" y="931211"/>
                  </a:lnTo>
                  <a:lnTo>
                    <a:pt x="0" y="931211"/>
                  </a:lnTo>
                  <a:close/>
                </a:path>
              </a:pathLst>
            </a:custGeom>
            <a:solidFill>
              <a:srgbClr val="E3E3E3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28575"/>
              <a:ext cx="2356506" cy="959786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4311506" y="3607459"/>
            <a:ext cx="3670481" cy="52387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l">
              <a:lnSpc>
                <a:spcPts val="4143"/>
              </a:lnSpc>
              <a:spcBef>
                <a:spcPct val="0"/>
              </a:spcBef>
            </a:pPr>
            <a:r>
              <a:rPr lang="en-US" sz="3452" b="1" u="none" strike="noStrike" spc="-12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순서형 목록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011532" y="3607459"/>
            <a:ext cx="3670481" cy="52387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l">
              <a:lnSpc>
                <a:spcPts val="4143"/>
              </a:lnSpc>
              <a:spcBef>
                <a:spcPct val="0"/>
              </a:spcBef>
            </a:pPr>
            <a:r>
              <a:rPr lang="en-US" sz="3452" b="1" spc="-12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비</a:t>
            </a:r>
            <a:r>
              <a:rPr lang="en-US" sz="3452" b="1" u="none" strike="noStrike" spc="-12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순서형 목록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311506" y="6783034"/>
            <a:ext cx="3670481" cy="52387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l">
              <a:lnSpc>
                <a:spcPts val="4143"/>
              </a:lnSpc>
              <a:spcBef>
                <a:spcPct val="0"/>
              </a:spcBef>
            </a:pPr>
            <a:r>
              <a:rPr lang="en-US" sz="3452" b="1" spc="-12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아이콘 활용</a:t>
            </a:r>
            <a:r>
              <a:rPr lang="en-US" sz="3452" b="1" u="none" strike="noStrike" spc="-12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목록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011532" y="6783034"/>
            <a:ext cx="3670481" cy="52387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l">
              <a:lnSpc>
                <a:spcPts val="4143"/>
              </a:lnSpc>
              <a:spcBef>
                <a:spcPct val="0"/>
              </a:spcBef>
            </a:pPr>
            <a:r>
              <a:rPr lang="en-US" sz="3452" b="1" spc="-12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구분</a:t>
            </a:r>
            <a:r>
              <a:rPr lang="en-US" sz="3452" b="1" u="none" strike="noStrike" spc="-120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형 컬럼 목록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11506" y="4270851"/>
            <a:ext cx="4117043" cy="113601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l">
              <a:lnSpc>
                <a:spcPts val="3009"/>
              </a:lnSpc>
            </a:pPr>
            <a:r>
              <a:rPr lang="en-US" sz="2149" u="none" strike="noStrike" spc="-75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단계적인 흐름을 설명할 때 효과적인 방식으로, 프로세스 등을 명확히 전달할 수 있습니다.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011532" y="4270851"/>
            <a:ext cx="4117043" cy="151701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l">
              <a:lnSpc>
                <a:spcPts val="3009"/>
              </a:lnSpc>
            </a:pPr>
            <a:r>
              <a:rPr lang="en-US" sz="2149" spc="-75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순서와 관</a:t>
            </a:r>
            <a:r>
              <a:rPr lang="en-US" sz="2149" u="none" strike="noStrike" spc="-75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계없이 중요한 항목들을 나열할 때 적합하며, 간결한 정보 전달에 </a:t>
            </a:r>
          </a:p>
          <a:p>
            <a:pPr marL="0" lvl="0" indent="0" algn="l">
              <a:lnSpc>
                <a:spcPts val="3009"/>
              </a:lnSpc>
            </a:pPr>
            <a:r>
              <a:rPr lang="en-US" sz="2149" u="none" strike="noStrike" spc="-75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용이한 구성입니다.</a:t>
            </a:r>
          </a:p>
          <a:p>
            <a:pPr marL="0" lvl="0" indent="0" algn="l">
              <a:lnSpc>
                <a:spcPts val="3009"/>
              </a:lnSpc>
            </a:pPr>
            <a:endParaRPr lang="en-US" sz="2149" u="none" strike="noStrike" spc="-75">
              <a:solidFill>
                <a:srgbClr val="222222">
                  <a:alpha val="54902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4311506" y="7446427"/>
            <a:ext cx="4117043" cy="151701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l">
              <a:lnSpc>
                <a:spcPts val="3009"/>
              </a:lnSpc>
            </a:pPr>
            <a:r>
              <a:rPr lang="en-US" sz="2149" spc="-75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시각</a:t>
            </a:r>
            <a:r>
              <a:rPr lang="en-US" sz="2149" u="none" strike="noStrike" spc="-75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적인 흥미를 더하기 위해 각 항목 </a:t>
            </a:r>
          </a:p>
          <a:p>
            <a:pPr marL="0" lvl="0" indent="0" algn="l">
              <a:lnSpc>
                <a:spcPts val="3009"/>
              </a:lnSpc>
            </a:pPr>
            <a:r>
              <a:rPr lang="en-US" sz="2149" u="none" strike="noStrike" spc="-75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앞에 관련 아이콘을 배치하여 주목도를 높이는 방식입니다.</a:t>
            </a:r>
          </a:p>
          <a:p>
            <a:pPr marL="0" lvl="0" indent="0" algn="l">
              <a:lnSpc>
                <a:spcPts val="3009"/>
              </a:lnSpc>
            </a:pPr>
            <a:endParaRPr lang="en-US" sz="2149" u="none" strike="noStrike" spc="-75">
              <a:solidFill>
                <a:srgbClr val="222222">
                  <a:alpha val="54902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2011532" y="7446427"/>
            <a:ext cx="4117043" cy="113601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l">
              <a:lnSpc>
                <a:spcPts val="3009"/>
              </a:lnSpc>
            </a:pPr>
            <a:r>
              <a:rPr lang="en-US" sz="2149" spc="-75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많은</a:t>
            </a:r>
            <a:r>
              <a:rPr lang="en-US" sz="2149" u="none" strike="noStrike" spc="-75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항목을 효율적으로 배치할 수 있도록 두 개의 열로 나눠 구성하며, 공간 활용이 뛰어납니다.</a:t>
            </a:r>
          </a:p>
        </p:txBody>
      </p:sp>
      <p:sp>
        <p:nvSpPr>
          <p:cNvPr id="40" name="Freeform 40"/>
          <p:cNvSpPr/>
          <p:nvPr/>
        </p:nvSpPr>
        <p:spPr>
          <a:xfrm>
            <a:off x="2458196" y="3911026"/>
            <a:ext cx="1081785" cy="1138721"/>
          </a:xfrm>
          <a:custGeom>
            <a:avLst/>
            <a:gdLst/>
            <a:ahLst/>
            <a:cxnLst/>
            <a:rect l="l" t="t" r="r" b="b"/>
            <a:pathLst>
              <a:path w="1081785" h="1138721">
                <a:moveTo>
                  <a:pt x="0" y="0"/>
                </a:moveTo>
                <a:lnTo>
                  <a:pt x="1081785" y="0"/>
                </a:lnTo>
                <a:lnTo>
                  <a:pt x="1081785" y="1138721"/>
                </a:lnTo>
                <a:lnTo>
                  <a:pt x="0" y="113872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0046772" y="3945403"/>
            <a:ext cx="1258785" cy="1069967"/>
          </a:xfrm>
          <a:custGeom>
            <a:avLst/>
            <a:gdLst/>
            <a:ahLst/>
            <a:cxnLst/>
            <a:rect l="l" t="t" r="r" b="b"/>
            <a:pathLst>
              <a:path w="1258785" h="1069967">
                <a:moveTo>
                  <a:pt x="0" y="0"/>
                </a:moveTo>
                <a:lnTo>
                  <a:pt x="1258785" y="0"/>
                </a:lnTo>
                <a:lnTo>
                  <a:pt x="1258785" y="1069967"/>
                </a:lnTo>
                <a:lnTo>
                  <a:pt x="0" y="106996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2429426" y="7112799"/>
            <a:ext cx="1237317" cy="1139878"/>
          </a:xfrm>
          <a:custGeom>
            <a:avLst/>
            <a:gdLst/>
            <a:ahLst/>
            <a:cxnLst/>
            <a:rect l="l" t="t" r="r" b="b"/>
            <a:pathLst>
              <a:path w="1237317" h="1139878">
                <a:moveTo>
                  <a:pt x="0" y="0"/>
                </a:moveTo>
                <a:lnTo>
                  <a:pt x="1237317" y="0"/>
                </a:lnTo>
                <a:lnTo>
                  <a:pt x="1237317" y="1139878"/>
                </a:lnTo>
                <a:lnTo>
                  <a:pt x="0" y="113987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10210841" y="7136134"/>
            <a:ext cx="1125042" cy="970349"/>
          </a:xfrm>
          <a:custGeom>
            <a:avLst/>
            <a:gdLst/>
            <a:ahLst/>
            <a:cxnLst/>
            <a:rect l="l" t="t" r="r" b="b"/>
            <a:pathLst>
              <a:path w="1125042" h="970349">
                <a:moveTo>
                  <a:pt x="0" y="0"/>
                </a:moveTo>
                <a:lnTo>
                  <a:pt x="1125042" y="0"/>
                </a:lnTo>
                <a:lnTo>
                  <a:pt x="1125042" y="970349"/>
                </a:lnTo>
                <a:lnTo>
                  <a:pt x="0" y="970349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44" name="TextBox 19">
            <a:extLst>
              <a:ext uri="{FF2B5EF4-FFF2-40B4-BE49-F238E27FC236}">
                <a16:creationId xmlns:a16="http://schemas.microsoft.com/office/drawing/2014/main" id="{037B54DC-6E4C-47A1-AB96-CA5669753A59}"/>
              </a:ext>
            </a:extLst>
          </p:cNvPr>
          <p:cNvSpPr txBox="1"/>
          <p:nvPr/>
        </p:nvSpPr>
        <p:spPr>
          <a:xfrm>
            <a:off x="1049478" y="852838"/>
            <a:ext cx="735448" cy="734676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marL="0" lvl="0" indent="0" algn="ctr">
              <a:lnSpc>
                <a:spcPts val="2336"/>
              </a:lnSpc>
              <a:spcBef>
                <a:spcPct val="0"/>
              </a:spcBef>
            </a:pPr>
            <a:r>
              <a:rPr lang="en-US" sz="2290" spc="-171" dirty="0">
                <a:solidFill>
                  <a:srgbClr val="F5F4F4"/>
                </a:solidFill>
                <a:latin typeface="DIN Next"/>
                <a:ea typeface="DIN Next"/>
                <a:cs typeface="DIN Next"/>
                <a:sym typeface="DIN Next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43432" y="485661"/>
            <a:ext cx="2795067" cy="240203"/>
            <a:chOff x="0" y="0"/>
            <a:chExt cx="3726756" cy="320271"/>
          </a:xfrm>
        </p:grpSpPr>
        <p:sp>
          <p:nvSpPr>
            <p:cNvPr id="3" name="Freeform 3"/>
            <p:cNvSpPr/>
            <p:nvPr/>
          </p:nvSpPr>
          <p:spPr>
            <a:xfrm>
              <a:off x="1679974" y="2970"/>
              <a:ext cx="225532" cy="314331"/>
            </a:xfrm>
            <a:custGeom>
              <a:avLst/>
              <a:gdLst/>
              <a:ahLst/>
              <a:cxnLst/>
              <a:rect l="l" t="t" r="r" b="b"/>
              <a:pathLst>
                <a:path w="225532" h="314331">
                  <a:moveTo>
                    <a:pt x="0" y="0"/>
                  </a:moveTo>
                  <a:lnTo>
                    <a:pt x="225532" y="0"/>
                  </a:lnTo>
                  <a:lnTo>
                    <a:pt x="225532" y="314331"/>
                  </a:lnTo>
                  <a:lnTo>
                    <a:pt x="0" y="314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" name="Freeform 4"/>
            <p:cNvSpPr/>
            <p:nvPr/>
          </p:nvSpPr>
          <p:spPr>
            <a:xfrm>
              <a:off x="1106158" y="11191"/>
              <a:ext cx="287090" cy="297888"/>
            </a:xfrm>
            <a:custGeom>
              <a:avLst/>
              <a:gdLst/>
              <a:ahLst/>
              <a:cxnLst/>
              <a:rect l="l" t="t" r="r" b="b"/>
              <a:pathLst>
                <a:path w="287090" h="297888">
                  <a:moveTo>
                    <a:pt x="0" y="0"/>
                  </a:moveTo>
                  <a:lnTo>
                    <a:pt x="287090" y="0"/>
                  </a:lnTo>
                  <a:lnTo>
                    <a:pt x="287090" y="297888"/>
                  </a:lnTo>
                  <a:lnTo>
                    <a:pt x="0" y="297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2172206" y="0"/>
              <a:ext cx="321880" cy="320271"/>
            </a:xfrm>
            <a:custGeom>
              <a:avLst/>
              <a:gdLst/>
              <a:ahLst/>
              <a:cxnLst/>
              <a:rect l="l" t="t" r="r" b="b"/>
              <a:pathLst>
                <a:path w="321880" h="320271">
                  <a:moveTo>
                    <a:pt x="0" y="0"/>
                  </a:moveTo>
                  <a:lnTo>
                    <a:pt x="321880" y="0"/>
                  </a:lnTo>
                  <a:lnTo>
                    <a:pt x="321880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3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6" name="Freeform 6"/>
            <p:cNvSpPr/>
            <p:nvPr/>
          </p:nvSpPr>
          <p:spPr>
            <a:xfrm>
              <a:off x="2755412" y="0"/>
              <a:ext cx="320271" cy="320271"/>
            </a:xfrm>
            <a:custGeom>
              <a:avLst/>
              <a:gdLst/>
              <a:ahLst/>
              <a:cxnLst/>
              <a:rect l="l" t="t" r="r" b="b"/>
              <a:pathLst>
                <a:path w="320271" h="320271">
                  <a:moveTo>
                    <a:pt x="0" y="0"/>
                  </a:moveTo>
                  <a:lnTo>
                    <a:pt x="320271" y="0"/>
                  </a:lnTo>
                  <a:lnTo>
                    <a:pt x="320271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30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7" name="Freeform 7"/>
            <p:cNvSpPr/>
            <p:nvPr/>
          </p:nvSpPr>
          <p:spPr>
            <a:xfrm rot="-5400000">
              <a:off x="3465879" y="-52825"/>
              <a:ext cx="95832" cy="425921"/>
            </a:xfrm>
            <a:custGeom>
              <a:avLst/>
              <a:gdLst/>
              <a:ahLst/>
              <a:cxnLst/>
              <a:rect l="l" t="t" r="r" b="b"/>
              <a:pathLst>
                <a:path w="95832" h="425921">
                  <a:moveTo>
                    <a:pt x="0" y="0"/>
                  </a:moveTo>
                  <a:lnTo>
                    <a:pt x="95832" y="0"/>
                  </a:lnTo>
                  <a:lnTo>
                    <a:pt x="95832" y="425921"/>
                  </a:lnTo>
                  <a:lnTo>
                    <a:pt x="0" y="425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30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Freeform 8"/>
            <p:cNvSpPr/>
            <p:nvPr/>
          </p:nvSpPr>
          <p:spPr>
            <a:xfrm>
              <a:off x="0" y="14822"/>
              <a:ext cx="283522" cy="287839"/>
            </a:xfrm>
            <a:custGeom>
              <a:avLst/>
              <a:gdLst/>
              <a:ahLst/>
              <a:cxnLst/>
              <a:rect l="l" t="t" r="r" b="b"/>
              <a:pathLst>
                <a:path w="283522" h="287839">
                  <a:moveTo>
                    <a:pt x="0" y="0"/>
                  </a:moveTo>
                  <a:lnTo>
                    <a:pt x="283522" y="0"/>
                  </a:lnTo>
                  <a:lnTo>
                    <a:pt x="283522" y="287839"/>
                  </a:lnTo>
                  <a:lnTo>
                    <a:pt x="0" y="287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30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537522" y="2970"/>
              <a:ext cx="314636" cy="299691"/>
            </a:xfrm>
            <a:custGeom>
              <a:avLst/>
              <a:gdLst/>
              <a:ahLst/>
              <a:cxnLst/>
              <a:rect l="l" t="t" r="r" b="b"/>
              <a:pathLst>
                <a:path w="314636" h="299691">
                  <a:moveTo>
                    <a:pt x="0" y="0"/>
                  </a:moveTo>
                  <a:lnTo>
                    <a:pt x="314636" y="0"/>
                  </a:lnTo>
                  <a:lnTo>
                    <a:pt x="314636" y="299691"/>
                  </a:lnTo>
                  <a:lnTo>
                    <a:pt x="0" y="299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30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0" y="10192835"/>
            <a:ext cx="18288000" cy="94165"/>
            <a:chOff x="0" y="0"/>
            <a:chExt cx="3762963" cy="193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62963" cy="19376"/>
            </a:xfrm>
            <a:custGeom>
              <a:avLst/>
              <a:gdLst/>
              <a:ahLst/>
              <a:cxnLst/>
              <a:rect l="l" t="t" r="r" b="b"/>
              <a:pathLst>
                <a:path w="3762963" h="19376">
                  <a:moveTo>
                    <a:pt x="0" y="0"/>
                  </a:moveTo>
                  <a:lnTo>
                    <a:pt x="3762963" y="0"/>
                  </a:lnTo>
                  <a:lnTo>
                    <a:pt x="3762963" y="19376"/>
                  </a:lnTo>
                  <a:lnTo>
                    <a:pt x="0" y="19376"/>
                  </a:lnTo>
                  <a:close/>
                </a:path>
              </a:pathLst>
            </a:custGeom>
            <a:solidFill>
              <a:srgbClr val="B3555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3762963" cy="67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49478" y="852837"/>
            <a:ext cx="735448" cy="735448"/>
            <a:chOff x="0" y="0"/>
            <a:chExt cx="191064" cy="19106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1064" cy="191064"/>
            </a:xfrm>
            <a:custGeom>
              <a:avLst/>
              <a:gdLst/>
              <a:ahLst/>
              <a:cxnLst/>
              <a:rect l="l" t="t" r="r" b="b"/>
              <a:pathLst>
                <a:path w="191064" h="191064">
                  <a:moveTo>
                    <a:pt x="0" y="0"/>
                  </a:moveTo>
                  <a:lnTo>
                    <a:pt x="191064" y="0"/>
                  </a:lnTo>
                  <a:lnTo>
                    <a:pt x="191064" y="191064"/>
                  </a:lnTo>
                  <a:lnTo>
                    <a:pt x="0" y="191064"/>
                  </a:lnTo>
                  <a:close/>
                </a:path>
              </a:pathLst>
            </a:custGeom>
            <a:solidFill>
              <a:srgbClr val="B35555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91064" cy="219639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70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AutoShape 16"/>
          <p:cNvSpPr/>
          <p:nvPr/>
        </p:nvSpPr>
        <p:spPr>
          <a:xfrm flipV="1">
            <a:off x="662837" y="2117428"/>
            <a:ext cx="16962327" cy="0"/>
          </a:xfrm>
          <a:prstGeom prst="line">
            <a:avLst/>
          </a:prstGeom>
          <a:ln w="19050" cap="flat">
            <a:solidFill>
              <a:srgbClr val="363636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2073273" y="872658"/>
            <a:ext cx="10279721" cy="791056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l">
              <a:lnSpc>
                <a:spcPts val="5969"/>
              </a:lnSpc>
            </a:pPr>
            <a:r>
              <a:rPr lang="en-US" sz="5852" b="1" spc="-117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타임라인이 있는 페이지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43252" y="1358870"/>
            <a:ext cx="6293520" cy="228644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1" indent="0" algn="l">
              <a:lnSpc>
                <a:spcPts val="1860"/>
              </a:lnSpc>
              <a:spcBef>
                <a:spcPct val="0"/>
              </a:spcBef>
            </a:pPr>
            <a:r>
              <a:rPr lang="en-US" sz="1550" u="none" strike="noStrike" spc="-26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메인타이틀에 대한 세부 설명을 입력해 주세요.</a:t>
            </a:r>
          </a:p>
        </p:txBody>
      </p:sp>
      <p:sp>
        <p:nvSpPr>
          <p:cNvPr id="20" name="AutoShape 20"/>
          <p:cNvSpPr/>
          <p:nvPr/>
        </p:nvSpPr>
        <p:spPr>
          <a:xfrm>
            <a:off x="1546912" y="6047272"/>
            <a:ext cx="15197862" cy="0"/>
          </a:xfrm>
          <a:prstGeom prst="line">
            <a:avLst/>
          </a:prstGeom>
          <a:ln w="19050" cap="flat">
            <a:solidFill>
              <a:srgbClr val="333333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Freeform 21"/>
          <p:cNvSpPr/>
          <p:nvPr/>
        </p:nvSpPr>
        <p:spPr>
          <a:xfrm rot="5400000">
            <a:off x="3160971" y="5501922"/>
            <a:ext cx="1090701" cy="1090701"/>
          </a:xfrm>
          <a:custGeom>
            <a:avLst/>
            <a:gdLst/>
            <a:ahLst/>
            <a:cxnLst/>
            <a:rect l="l" t="t" r="r" b="b"/>
            <a:pathLst>
              <a:path w="1090701" h="1090701">
                <a:moveTo>
                  <a:pt x="0" y="0"/>
                </a:moveTo>
                <a:lnTo>
                  <a:pt x="1090700" y="0"/>
                </a:lnTo>
                <a:lnTo>
                  <a:pt x="1090700" y="1090700"/>
                </a:lnTo>
                <a:lnTo>
                  <a:pt x="0" y="1090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rot="5400000">
            <a:off x="10427049" y="5501922"/>
            <a:ext cx="1090701" cy="1090701"/>
          </a:xfrm>
          <a:custGeom>
            <a:avLst/>
            <a:gdLst/>
            <a:ahLst/>
            <a:cxnLst/>
            <a:rect l="l" t="t" r="r" b="b"/>
            <a:pathLst>
              <a:path w="1090701" h="1090701">
                <a:moveTo>
                  <a:pt x="0" y="0"/>
                </a:moveTo>
                <a:lnTo>
                  <a:pt x="1090701" y="0"/>
                </a:lnTo>
                <a:lnTo>
                  <a:pt x="1090701" y="1090700"/>
                </a:lnTo>
                <a:lnTo>
                  <a:pt x="0" y="1090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3" name="Freeform 23"/>
          <p:cNvSpPr/>
          <p:nvPr/>
        </p:nvSpPr>
        <p:spPr>
          <a:xfrm rot="-5400000">
            <a:off x="6793174" y="5501922"/>
            <a:ext cx="1090701" cy="1090701"/>
          </a:xfrm>
          <a:custGeom>
            <a:avLst/>
            <a:gdLst/>
            <a:ahLst/>
            <a:cxnLst/>
            <a:rect l="l" t="t" r="r" b="b"/>
            <a:pathLst>
              <a:path w="1090701" h="1090701">
                <a:moveTo>
                  <a:pt x="0" y="0"/>
                </a:moveTo>
                <a:lnTo>
                  <a:pt x="1090700" y="0"/>
                </a:lnTo>
                <a:lnTo>
                  <a:pt x="1090700" y="1090700"/>
                </a:lnTo>
                <a:lnTo>
                  <a:pt x="0" y="10907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3526570" y="5831024"/>
            <a:ext cx="359503" cy="375347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F5F4F4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31872" y="3152988"/>
            <a:ext cx="3948898" cy="58768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ctr">
              <a:lnSpc>
                <a:spcPts val="4485"/>
              </a:lnSpc>
              <a:spcBef>
                <a:spcPct val="0"/>
              </a:spcBef>
            </a:pPr>
            <a:r>
              <a:rPr lang="en-US" sz="3900" b="1" u="none" strike="noStrike" spc="-85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프로젝트</a:t>
            </a:r>
            <a:r>
              <a:rPr lang="en-US" sz="3900" b="1" u="none" strike="noStrike" spc="-85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3900" b="1" u="none" strike="noStrike" spc="-85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계획</a:t>
            </a:r>
            <a:endParaRPr lang="en-US" sz="3900" b="1" u="none" strike="noStrike" spc="-85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915175" y="3882215"/>
            <a:ext cx="3582293" cy="1387907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ctr">
              <a:lnSpc>
                <a:spcPts val="3009"/>
              </a:lnSpc>
              <a:spcBef>
                <a:spcPct val="0"/>
              </a:spcBef>
            </a:pPr>
            <a:r>
              <a:rPr lang="en-US" sz="2149" u="none" strike="noStrike" spc="-75" dirty="0" err="1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프로젝트의</a:t>
            </a:r>
            <a:r>
              <a:rPr lang="en-US" sz="2149" u="none" strike="noStrike" spc="-75" dirty="0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49" u="none" strike="noStrike" spc="-75" dirty="0" err="1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전반적인</a:t>
            </a:r>
            <a:r>
              <a:rPr lang="en-US" sz="2149" u="none" strike="noStrike" spc="-75" dirty="0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49" u="none" strike="noStrike" spc="-75" dirty="0" err="1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계획과</a:t>
            </a:r>
            <a:r>
              <a:rPr lang="en-US" sz="2149" u="none" strike="noStrike" spc="-75" dirty="0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49" u="none" strike="noStrike" spc="-75" dirty="0" err="1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준비</a:t>
            </a:r>
            <a:r>
              <a:rPr lang="en-US" sz="2149" u="none" strike="noStrike" spc="-75" dirty="0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49" u="none" strike="noStrike" spc="-75" dirty="0" err="1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작업을</a:t>
            </a:r>
            <a:r>
              <a:rPr lang="en-US" sz="2149" u="none" strike="noStrike" spc="-75" dirty="0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49" u="none" strike="noStrike" spc="-75" dirty="0" err="1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수행하는</a:t>
            </a:r>
            <a:r>
              <a:rPr lang="en-US" sz="2149" u="none" strike="noStrike" spc="-75" dirty="0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49" u="none" strike="noStrike" spc="-75" dirty="0" err="1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단계입니다</a:t>
            </a:r>
            <a:r>
              <a:rPr lang="en-US" sz="2149" u="none" strike="noStrike" spc="-75" dirty="0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.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158773" y="5831024"/>
            <a:ext cx="359503" cy="375347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F5F4F4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364075" y="6992673"/>
            <a:ext cx="3948898" cy="662106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ctr">
              <a:lnSpc>
                <a:spcPts val="4485"/>
              </a:lnSpc>
              <a:spcBef>
                <a:spcPct val="0"/>
              </a:spcBef>
            </a:pPr>
            <a:r>
              <a:rPr lang="en-US" sz="3900" b="1" u="none" strike="noStrike" spc="-85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콘텐츠</a:t>
            </a:r>
            <a:r>
              <a:rPr lang="en-US" sz="3900" b="1" u="none" strike="noStrike" spc="-85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3900" b="1" u="none" strike="noStrike" spc="-85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개발</a:t>
            </a:r>
            <a:endParaRPr lang="en-US" sz="3900" b="1" u="none" strike="noStrike" spc="-85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790976" y="5831024"/>
            <a:ext cx="359503" cy="375347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F5F4F4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96278" y="3152987"/>
            <a:ext cx="3948898" cy="587681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ctr">
              <a:lnSpc>
                <a:spcPts val="4485"/>
              </a:lnSpc>
              <a:spcBef>
                <a:spcPct val="0"/>
              </a:spcBef>
            </a:pPr>
            <a:r>
              <a:rPr lang="en-US" sz="3900" b="1" u="none" strike="noStrike" spc="-85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실행</a:t>
            </a:r>
            <a:endParaRPr lang="en-US" sz="3900" b="1" u="none" strike="noStrike" spc="-85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9165127" y="3876233"/>
            <a:ext cx="3611200" cy="1387907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ctr">
              <a:lnSpc>
                <a:spcPts val="3009"/>
              </a:lnSpc>
              <a:spcBef>
                <a:spcPct val="0"/>
              </a:spcBef>
            </a:pPr>
            <a:r>
              <a:rPr lang="en-US" sz="2149" u="none" strike="noStrike" spc="-75" dirty="0" err="1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실시간으로</a:t>
            </a:r>
            <a:r>
              <a:rPr lang="en-US" sz="2149" u="none" strike="noStrike" spc="-75" dirty="0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49" u="none" strike="noStrike" spc="-75" dirty="0" err="1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성과를</a:t>
            </a:r>
            <a:r>
              <a:rPr lang="en-US" sz="2149" u="none" strike="noStrike" spc="-75" dirty="0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49" u="none" strike="noStrike" spc="-75" dirty="0" err="1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모니터링하고</a:t>
            </a:r>
            <a:r>
              <a:rPr lang="en-US" sz="2149" u="none" strike="noStrike" spc="-75" dirty="0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49" u="none" strike="noStrike" spc="-75" dirty="0" err="1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필요할</a:t>
            </a:r>
            <a:r>
              <a:rPr lang="en-US" sz="2149" u="none" strike="noStrike" spc="-75" dirty="0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49" u="none" strike="noStrike" spc="-75" dirty="0" err="1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경우</a:t>
            </a:r>
            <a:r>
              <a:rPr lang="en-US" sz="2149" u="none" strike="noStrike" spc="-75" dirty="0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49" u="none" strike="noStrike" spc="-75" dirty="0" err="1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수정을</a:t>
            </a:r>
            <a:r>
              <a:rPr lang="en-US" sz="2149" u="none" strike="noStrike" spc="-75" dirty="0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49" u="none" strike="noStrike" spc="-75" dirty="0" err="1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진행합니다</a:t>
            </a:r>
            <a:r>
              <a:rPr lang="en-US" sz="2149" u="none" strike="noStrike" spc="-75" dirty="0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628481" y="6925018"/>
            <a:ext cx="3948898" cy="584054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ctr">
              <a:lnSpc>
                <a:spcPts val="4485"/>
              </a:lnSpc>
              <a:spcBef>
                <a:spcPct val="0"/>
              </a:spcBef>
            </a:pPr>
            <a:r>
              <a:rPr lang="en-US" sz="3900" b="1" u="none" strike="noStrike" spc="-85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최종</a:t>
            </a:r>
            <a:r>
              <a:rPr lang="en-US" sz="3900" b="1" u="none" strike="noStrike" spc="-85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3900" b="1" u="none" strike="noStrike" spc="-85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평가</a:t>
            </a:r>
            <a:endParaRPr lang="en-US" sz="3900" b="1" u="none" strike="noStrike" spc="-85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33" name="Freeform 33"/>
          <p:cNvSpPr/>
          <p:nvPr/>
        </p:nvSpPr>
        <p:spPr>
          <a:xfrm rot="-5400000">
            <a:off x="14059252" y="5501922"/>
            <a:ext cx="1090701" cy="1090701"/>
          </a:xfrm>
          <a:custGeom>
            <a:avLst/>
            <a:gdLst/>
            <a:ahLst/>
            <a:cxnLst/>
            <a:rect l="l" t="t" r="r" b="b"/>
            <a:pathLst>
              <a:path w="1090701" h="1090701">
                <a:moveTo>
                  <a:pt x="0" y="0"/>
                </a:moveTo>
                <a:lnTo>
                  <a:pt x="1090701" y="0"/>
                </a:lnTo>
                <a:lnTo>
                  <a:pt x="1090701" y="1090700"/>
                </a:lnTo>
                <a:lnTo>
                  <a:pt x="0" y="10907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4" name="TextBox 34"/>
          <p:cNvSpPr txBox="1"/>
          <p:nvPr/>
        </p:nvSpPr>
        <p:spPr>
          <a:xfrm>
            <a:off x="14423179" y="5831024"/>
            <a:ext cx="359503" cy="375347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F5F4F4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id="36" name="TextBox 19">
            <a:extLst>
              <a:ext uri="{FF2B5EF4-FFF2-40B4-BE49-F238E27FC236}">
                <a16:creationId xmlns:a16="http://schemas.microsoft.com/office/drawing/2014/main" id="{BE291C3E-CC1A-4752-8A04-E325C892A73B}"/>
              </a:ext>
            </a:extLst>
          </p:cNvPr>
          <p:cNvSpPr txBox="1"/>
          <p:nvPr/>
        </p:nvSpPr>
        <p:spPr>
          <a:xfrm>
            <a:off x="1049478" y="852838"/>
            <a:ext cx="735448" cy="734676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marL="0" lvl="0" indent="0" algn="ctr">
              <a:lnSpc>
                <a:spcPts val="2336"/>
              </a:lnSpc>
              <a:spcBef>
                <a:spcPct val="0"/>
              </a:spcBef>
            </a:pPr>
            <a:r>
              <a:rPr lang="en-US" sz="2290" spc="-171" dirty="0">
                <a:solidFill>
                  <a:srgbClr val="F5F4F4"/>
                </a:solidFill>
                <a:latin typeface="DIN Next"/>
                <a:ea typeface="DIN Next"/>
                <a:cs typeface="DIN Next"/>
                <a:sym typeface="DIN Next"/>
              </a:rPr>
              <a:t>10</a:t>
            </a:r>
          </a:p>
        </p:txBody>
      </p:sp>
      <p:sp>
        <p:nvSpPr>
          <p:cNvPr id="35" name="TextBox 40">
            <a:extLst>
              <a:ext uri="{FF2B5EF4-FFF2-40B4-BE49-F238E27FC236}">
                <a16:creationId xmlns:a16="http://schemas.microsoft.com/office/drawing/2014/main" id="{7B5DB6EA-3ECA-47F7-900F-883848DBF961}"/>
              </a:ext>
            </a:extLst>
          </p:cNvPr>
          <p:cNvSpPr txBox="1"/>
          <p:nvPr/>
        </p:nvSpPr>
        <p:spPr>
          <a:xfrm>
            <a:off x="5712676" y="7668170"/>
            <a:ext cx="3611200" cy="1746172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ctr">
              <a:lnSpc>
                <a:spcPts val="3009"/>
              </a:lnSpc>
              <a:spcBef>
                <a:spcPct val="0"/>
              </a:spcBef>
            </a:pPr>
            <a:r>
              <a:rPr lang="en-US" sz="2149" u="none" strike="noStrike" spc="-75" dirty="0" err="1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실시간으로</a:t>
            </a:r>
            <a:r>
              <a:rPr lang="en-US" sz="2149" u="none" strike="noStrike" spc="-75" dirty="0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49" u="none" strike="noStrike" spc="-75" dirty="0" err="1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성과를</a:t>
            </a:r>
            <a:r>
              <a:rPr lang="en-US" sz="2149" u="none" strike="noStrike" spc="-75" dirty="0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49" u="none" strike="noStrike" spc="-75" dirty="0" err="1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모니터링하고</a:t>
            </a:r>
            <a:r>
              <a:rPr lang="en-US" sz="2149" u="none" strike="noStrike" spc="-75" dirty="0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49" u="none" strike="noStrike" spc="-75" dirty="0" err="1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필요할</a:t>
            </a:r>
            <a:r>
              <a:rPr lang="en-US" sz="2149" u="none" strike="noStrike" spc="-75" dirty="0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49" u="none" strike="noStrike" spc="-75" dirty="0" err="1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경우</a:t>
            </a:r>
            <a:r>
              <a:rPr lang="en-US" sz="2149" u="none" strike="noStrike" spc="-75" dirty="0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49" u="none" strike="noStrike" spc="-75" dirty="0" err="1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수정을</a:t>
            </a:r>
            <a:r>
              <a:rPr lang="en-US" sz="2149" u="none" strike="noStrike" spc="-75" dirty="0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49" u="none" strike="noStrike" spc="-75" dirty="0" err="1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진행합니다</a:t>
            </a:r>
            <a:r>
              <a:rPr lang="en-US" sz="2149" u="none" strike="noStrike" spc="-75" dirty="0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.</a:t>
            </a:r>
          </a:p>
        </p:txBody>
      </p:sp>
      <p:sp>
        <p:nvSpPr>
          <p:cNvPr id="37" name="TextBox 41">
            <a:extLst>
              <a:ext uri="{FF2B5EF4-FFF2-40B4-BE49-F238E27FC236}">
                <a16:creationId xmlns:a16="http://schemas.microsoft.com/office/drawing/2014/main" id="{448A6892-3BBA-4434-9F6B-0E6DB8554C04}"/>
              </a:ext>
            </a:extLst>
          </p:cNvPr>
          <p:cNvSpPr txBox="1"/>
          <p:nvPr/>
        </p:nvSpPr>
        <p:spPr>
          <a:xfrm>
            <a:off x="12797330" y="7676914"/>
            <a:ext cx="3611200" cy="1737428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ctr">
              <a:lnSpc>
                <a:spcPts val="3009"/>
              </a:lnSpc>
              <a:spcBef>
                <a:spcPct val="0"/>
              </a:spcBef>
            </a:pPr>
            <a:r>
              <a:rPr lang="en-US" sz="2149" u="none" strike="noStrike" spc="-75" dirty="0" err="1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실시간으로</a:t>
            </a:r>
            <a:r>
              <a:rPr lang="en-US" sz="2149" u="none" strike="noStrike" spc="-75" dirty="0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49" u="none" strike="noStrike" spc="-75" dirty="0" err="1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성과를</a:t>
            </a:r>
            <a:r>
              <a:rPr lang="en-US" sz="2149" u="none" strike="noStrike" spc="-75" dirty="0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49" u="none" strike="noStrike" spc="-75" dirty="0" err="1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모니터링하고</a:t>
            </a:r>
            <a:r>
              <a:rPr lang="en-US" sz="2149" u="none" strike="noStrike" spc="-75" dirty="0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49" u="none" strike="noStrike" spc="-75" dirty="0" err="1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필요할</a:t>
            </a:r>
            <a:r>
              <a:rPr lang="en-US" sz="2149" u="none" strike="noStrike" spc="-75" dirty="0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49" u="none" strike="noStrike" spc="-75" dirty="0" err="1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경우</a:t>
            </a:r>
            <a:r>
              <a:rPr lang="en-US" sz="2149" u="none" strike="noStrike" spc="-75" dirty="0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49" u="none" strike="noStrike" spc="-75" dirty="0" err="1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수정을</a:t>
            </a:r>
            <a:r>
              <a:rPr lang="en-US" sz="2149" u="none" strike="noStrike" spc="-75" dirty="0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49" u="none" strike="noStrike" spc="-75" dirty="0" err="1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진행합니다</a:t>
            </a:r>
            <a:r>
              <a:rPr lang="en-US" sz="2149" u="none" strike="noStrike" spc="-75" dirty="0">
                <a:solidFill>
                  <a:srgbClr val="222222">
                    <a:alpha val="5490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43432" y="485661"/>
            <a:ext cx="2795067" cy="240203"/>
            <a:chOff x="0" y="0"/>
            <a:chExt cx="3726756" cy="320271"/>
          </a:xfrm>
        </p:grpSpPr>
        <p:sp>
          <p:nvSpPr>
            <p:cNvPr id="3" name="Freeform 3"/>
            <p:cNvSpPr/>
            <p:nvPr/>
          </p:nvSpPr>
          <p:spPr>
            <a:xfrm>
              <a:off x="1679974" y="2970"/>
              <a:ext cx="225532" cy="314331"/>
            </a:xfrm>
            <a:custGeom>
              <a:avLst/>
              <a:gdLst/>
              <a:ahLst/>
              <a:cxnLst/>
              <a:rect l="l" t="t" r="r" b="b"/>
              <a:pathLst>
                <a:path w="225532" h="314331">
                  <a:moveTo>
                    <a:pt x="0" y="0"/>
                  </a:moveTo>
                  <a:lnTo>
                    <a:pt x="225532" y="0"/>
                  </a:lnTo>
                  <a:lnTo>
                    <a:pt x="225532" y="314331"/>
                  </a:lnTo>
                  <a:lnTo>
                    <a:pt x="0" y="314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" name="Freeform 4"/>
            <p:cNvSpPr/>
            <p:nvPr/>
          </p:nvSpPr>
          <p:spPr>
            <a:xfrm>
              <a:off x="1106158" y="11191"/>
              <a:ext cx="287090" cy="297888"/>
            </a:xfrm>
            <a:custGeom>
              <a:avLst/>
              <a:gdLst/>
              <a:ahLst/>
              <a:cxnLst/>
              <a:rect l="l" t="t" r="r" b="b"/>
              <a:pathLst>
                <a:path w="287090" h="297888">
                  <a:moveTo>
                    <a:pt x="0" y="0"/>
                  </a:moveTo>
                  <a:lnTo>
                    <a:pt x="287090" y="0"/>
                  </a:lnTo>
                  <a:lnTo>
                    <a:pt x="287090" y="297888"/>
                  </a:lnTo>
                  <a:lnTo>
                    <a:pt x="0" y="297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2172206" y="0"/>
              <a:ext cx="321880" cy="320271"/>
            </a:xfrm>
            <a:custGeom>
              <a:avLst/>
              <a:gdLst/>
              <a:ahLst/>
              <a:cxnLst/>
              <a:rect l="l" t="t" r="r" b="b"/>
              <a:pathLst>
                <a:path w="321880" h="320271">
                  <a:moveTo>
                    <a:pt x="0" y="0"/>
                  </a:moveTo>
                  <a:lnTo>
                    <a:pt x="321880" y="0"/>
                  </a:lnTo>
                  <a:lnTo>
                    <a:pt x="321880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3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6" name="Freeform 6"/>
            <p:cNvSpPr/>
            <p:nvPr/>
          </p:nvSpPr>
          <p:spPr>
            <a:xfrm>
              <a:off x="2755412" y="0"/>
              <a:ext cx="320271" cy="320271"/>
            </a:xfrm>
            <a:custGeom>
              <a:avLst/>
              <a:gdLst/>
              <a:ahLst/>
              <a:cxnLst/>
              <a:rect l="l" t="t" r="r" b="b"/>
              <a:pathLst>
                <a:path w="320271" h="320271">
                  <a:moveTo>
                    <a:pt x="0" y="0"/>
                  </a:moveTo>
                  <a:lnTo>
                    <a:pt x="320271" y="0"/>
                  </a:lnTo>
                  <a:lnTo>
                    <a:pt x="320271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30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7" name="Freeform 7"/>
            <p:cNvSpPr/>
            <p:nvPr/>
          </p:nvSpPr>
          <p:spPr>
            <a:xfrm rot="-5400000">
              <a:off x="3465879" y="-52825"/>
              <a:ext cx="95832" cy="425921"/>
            </a:xfrm>
            <a:custGeom>
              <a:avLst/>
              <a:gdLst/>
              <a:ahLst/>
              <a:cxnLst/>
              <a:rect l="l" t="t" r="r" b="b"/>
              <a:pathLst>
                <a:path w="95832" h="425921">
                  <a:moveTo>
                    <a:pt x="0" y="0"/>
                  </a:moveTo>
                  <a:lnTo>
                    <a:pt x="95832" y="0"/>
                  </a:lnTo>
                  <a:lnTo>
                    <a:pt x="95832" y="425921"/>
                  </a:lnTo>
                  <a:lnTo>
                    <a:pt x="0" y="425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30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Freeform 8"/>
            <p:cNvSpPr/>
            <p:nvPr/>
          </p:nvSpPr>
          <p:spPr>
            <a:xfrm>
              <a:off x="0" y="14822"/>
              <a:ext cx="283522" cy="287839"/>
            </a:xfrm>
            <a:custGeom>
              <a:avLst/>
              <a:gdLst/>
              <a:ahLst/>
              <a:cxnLst/>
              <a:rect l="l" t="t" r="r" b="b"/>
              <a:pathLst>
                <a:path w="283522" h="287839">
                  <a:moveTo>
                    <a:pt x="0" y="0"/>
                  </a:moveTo>
                  <a:lnTo>
                    <a:pt x="283522" y="0"/>
                  </a:lnTo>
                  <a:lnTo>
                    <a:pt x="283522" y="287839"/>
                  </a:lnTo>
                  <a:lnTo>
                    <a:pt x="0" y="287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30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537522" y="2970"/>
              <a:ext cx="314636" cy="299691"/>
            </a:xfrm>
            <a:custGeom>
              <a:avLst/>
              <a:gdLst/>
              <a:ahLst/>
              <a:cxnLst/>
              <a:rect l="l" t="t" r="r" b="b"/>
              <a:pathLst>
                <a:path w="314636" h="299691">
                  <a:moveTo>
                    <a:pt x="0" y="0"/>
                  </a:moveTo>
                  <a:lnTo>
                    <a:pt x="314636" y="0"/>
                  </a:lnTo>
                  <a:lnTo>
                    <a:pt x="314636" y="299691"/>
                  </a:lnTo>
                  <a:lnTo>
                    <a:pt x="0" y="299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30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0" y="10192835"/>
            <a:ext cx="18288000" cy="94165"/>
            <a:chOff x="0" y="0"/>
            <a:chExt cx="3762963" cy="193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62963" cy="19376"/>
            </a:xfrm>
            <a:custGeom>
              <a:avLst/>
              <a:gdLst/>
              <a:ahLst/>
              <a:cxnLst/>
              <a:rect l="l" t="t" r="r" b="b"/>
              <a:pathLst>
                <a:path w="3762963" h="19376">
                  <a:moveTo>
                    <a:pt x="0" y="0"/>
                  </a:moveTo>
                  <a:lnTo>
                    <a:pt x="3762963" y="0"/>
                  </a:lnTo>
                  <a:lnTo>
                    <a:pt x="3762963" y="19376"/>
                  </a:lnTo>
                  <a:lnTo>
                    <a:pt x="0" y="19376"/>
                  </a:lnTo>
                  <a:close/>
                </a:path>
              </a:pathLst>
            </a:custGeom>
            <a:solidFill>
              <a:srgbClr val="B3555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3762963" cy="67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49478" y="852837"/>
            <a:ext cx="735448" cy="735448"/>
            <a:chOff x="0" y="0"/>
            <a:chExt cx="191064" cy="19106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1064" cy="191064"/>
            </a:xfrm>
            <a:custGeom>
              <a:avLst/>
              <a:gdLst/>
              <a:ahLst/>
              <a:cxnLst/>
              <a:rect l="l" t="t" r="r" b="b"/>
              <a:pathLst>
                <a:path w="191064" h="191064">
                  <a:moveTo>
                    <a:pt x="0" y="0"/>
                  </a:moveTo>
                  <a:lnTo>
                    <a:pt x="191064" y="0"/>
                  </a:lnTo>
                  <a:lnTo>
                    <a:pt x="191064" y="191064"/>
                  </a:lnTo>
                  <a:lnTo>
                    <a:pt x="0" y="191064"/>
                  </a:lnTo>
                  <a:close/>
                </a:path>
              </a:pathLst>
            </a:custGeom>
            <a:solidFill>
              <a:srgbClr val="B35555"/>
            </a:solidFill>
            <a:ln cap="sq">
              <a:noFill/>
              <a:prstDash val="solid"/>
              <a:miter/>
            </a:ln>
          </p:spPr>
          <p:txBody>
            <a:bodyPr>
              <a:normAutofit/>
            </a:bodyPr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91064" cy="219639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70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AutoShape 16"/>
          <p:cNvSpPr/>
          <p:nvPr/>
        </p:nvSpPr>
        <p:spPr>
          <a:xfrm flipV="1">
            <a:off x="662837" y="2117428"/>
            <a:ext cx="16962327" cy="0"/>
          </a:xfrm>
          <a:prstGeom prst="line">
            <a:avLst/>
          </a:prstGeom>
          <a:ln w="19050" cap="flat">
            <a:solidFill>
              <a:srgbClr val="363636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>
            <a:normAutofit fontScale="25000" lnSpcReduction="20000"/>
          </a:bodyPr>
          <a:lstStyle/>
          <a:p>
            <a:endParaRPr lang="ko-KR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2073273" y="872658"/>
            <a:ext cx="10279721" cy="791056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l">
              <a:lnSpc>
                <a:spcPts val="5969"/>
              </a:lnSpc>
            </a:pPr>
            <a:r>
              <a:rPr lang="en-US" sz="5852" b="1" spc="-117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그래프가 있는 페이지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99337" y="1358870"/>
            <a:ext cx="6293520" cy="228644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1" indent="0" algn="l">
              <a:lnSpc>
                <a:spcPts val="1860"/>
              </a:lnSpc>
              <a:spcBef>
                <a:spcPct val="0"/>
              </a:spcBef>
            </a:pPr>
            <a:r>
              <a:rPr lang="en-US" sz="1550" u="none" strike="noStrike" spc="-26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메인타이틀에 대한 세부 설명을 입력해 주세요.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545069" y="7036349"/>
            <a:ext cx="7175246" cy="2128198"/>
            <a:chOff x="0" y="0"/>
            <a:chExt cx="1867194" cy="55381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867194" cy="553815"/>
            </a:xfrm>
            <a:custGeom>
              <a:avLst/>
              <a:gdLst/>
              <a:ahLst/>
              <a:cxnLst/>
              <a:rect l="l" t="t" r="r" b="b"/>
              <a:pathLst>
                <a:path w="1867194" h="553815">
                  <a:moveTo>
                    <a:pt x="0" y="0"/>
                  </a:moveTo>
                  <a:lnTo>
                    <a:pt x="1867194" y="0"/>
                  </a:lnTo>
                  <a:lnTo>
                    <a:pt x="1867194" y="553815"/>
                  </a:lnTo>
                  <a:lnTo>
                    <a:pt x="0" y="553815"/>
                  </a:lnTo>
                  <a:close/>
                </a:path>
              </a:pathLst>
            </a:custGeom>
            <a:solidFill>
              <a:srgbClr val="ECECEC"/>
            </a:solidFill>
            <a:ln cap="sq">
              <a:noFill/>
              <a:prstDash val="solid"/>
              <a:miter/>
            </a:ln>
          </p:spPr>
          <p:txBody>
            <a:bodyPr>
              <a:normAutofit/>
            </a:bodyPr>
            <a:lstStyle/>
            <a:p>
              <a:endParaRPr lang="ko-KR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867194" cy="582390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545069" y="4800919"/>
            <a:ext cx="6776031" cy="1806804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l">
              <a:lnSpc>
                <a:spcPts val="3622"/>
              </a:lnSpc>
              <a:spcBef>
                <a:spcPct val="0"/>
              </a:spcBef>
            </a:pPr>
            <a:r>
              <a:rPr lang="en-US" sz="2250" u="none" strike="noStrike" spc="-78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그래프 구성 레이아웃은 수치 데이터를 시각적으로 표현하여 직관적이고 명확한 정보 전달을 도와줍니다. </a:t>
            </a:r>
          </a:p>
          <a:p>
            <a:pPr marL="0" lvl="0" indent="0" algn="l">
              <a:lnSpc>
                <a:spcPts val="3622"/>
              </a:lnSpc>
              <a:spcBef>
                <a:spcPct val="0"/>
              </a:spcBef>
            </a:pPr>
            <a:r>
              <a:rPr lang="en-US" sz="2250" u="none" strike="noStrike" spc="-78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막대 그래프, 원형 그래프, 선 그래프 등 데이터 특성에 맞게 그래프를 선택하고 데이터를 정확하고 명확하게 표현합니다.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66271" y="2247277"/>
            <a:ext cx="9336919" cy="7958314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545069" y="3053929"/>
            <a:ext cx="7921367" cy="1489666"/>
          </a:xfrm>
          <a:prstGeom prst="rect">
            <a:avLst/>
          </a:prstGeom>
        </p:spPr>
        <p:txBody>
          <a:bodyPr lIns="0" tIns="0" rIns="0" bIns="0" rtlCol="0" anchor="t">
            <a:normAutofit fontScale="92500"/>
          </a:bodyPr>
          <a:lstStyle/>
          <a:p>
            <a:pPr marL="0" lvl="0" indent="0" algn="l">
              <a:lnSpc>
                <a:spcPts val="5865"/>
              </a:lnSpc>
              <a:spcBef>
                <a:spcPct val="0"/>
              </a:spcBef>
            </a:pPr>
            <a:r>
              <a:rPr lang="en-US" sz="5100" b="1" u="none" strike="noStrike" spc="-112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데이터를 효과적으로</a:t>
            </a:r>
          </a:p>
          <a:p>
            <a:pPr marL="0" lvl="0" indent="0" algn="l">
              <a:lnSpc>
                <a:spcPts val="5865"/>
              </a:lnSpc>
              <a:spcBef>
                <a:spcPct val="0"/>
              </a:spcBef>
            </a:pPr>
            <a:r>
              <a:rPr lang="en-US" sz="5100" b="1" u="none" strike="noStrike" spc="-112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보여주는 그래프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386899" y="7303102"/>
            <a:ext cx="5603405" cy="1451817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928"/>
              </a:lnSpc>
            </a:pPr>
            <a:r>
              <a:rPr lang="en-US" sz="2111" spc="-63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데이터의 특성에 맞는 그래프 유형 선택 </a:t>
            </a:r>
          </a:p>
          <a:p>
            <a:pPr algn="l">
              <a:lnSpc>
                <a:spcPts val="3928"/>
              </a:lnSpc>
            </a:pPr>
            <a:r>
              <a:rPr lang="en-US" sz="2111" spc="-63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범례, 색상 등을 활용한 가독성 높은 시각화 구성</a:t>
            </a:r>
          </a:p>
          <a:p>
            <a:pPr algn="l">
              <a:lnSpc>
                <a:spcPts val="3928"/>
              </a:lnSpc>
            </a:pPr>
            <a:r>
              <a:rPr lang="en-US" sz="2111" spc="-63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불필요한 장식 제거로 핵심 데이터에 집중</a:t>
            </a:r>
          </a:p>
        </p:txBody>
      </p:sp>
      <p:sp>
        <p:nvSpPr>
          <p:cNvPr id="27" name="Freeform 27"/>
          <p:cNvSpPr/>
          <p:nvPr/>
        </p:nvSpPr>
        <p:spPr>
          <a:xfrm>
            <a:off x="2044290" y="7548486"/>
            <a:ext cx="196988" cy="150203"/>
          </a:xfrm>
          <a:custGeom>
            <a:avLst/>
            <a:gdLst/>
            <a:ahLst/>
            <a:cxnLst/>
            <a:rect l="l" t="t" r="r" b="b"/>
            <a:pathLst>
              <a:path w="196988" h="150203">
                <a:moveTo>
                  <a:pt x="0" y="0"/>
                </a:moveTo>
                <a:lnTo>
                  <a:pt x="196988" y="0"/>
                </a:lnTo>
                <a:lnTo>
                  <a:pt x="196988" y="150203"/>
                </a:lnTo>
                <a:lnTo>
                  <a:pt x="0" y="15020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>
            <a:normAutofit fontScale="25000" lnSpcReduction="20000"/>
          </a:bodyPr>
          <a:lstStyle/>
          <a:p>
            <a:endParaRPr lang="ko-KR" altLang="en-US"/>
          </a:p>
        </p:txBody>
      </p:sp>
      <p:sp>
        <p:nvSpPr>
          <p:cNvPr id="28" name="Freeform 28"/>
          <p:cNvSpPr/>
          <p:nvPr/>
        </p:nvSpPr>
        <p:spPr>
          <a:xfrm>
            <a:off x="2044290" y="8025346"/>
            <a:ext cx="196988" cy="150203"/>
          </a:xfrm>
          <a:custGeom>
            <a:avLst/>
            <a:gdLst/>
            <a:ahLst/>
            <a:cxnLst/>
            <a:rect l="l" t="t" r="r" b="b"/>
            <a:pathLst>
              <a:path w="196988" h="150203">
                <a:moveTo>
                  <a:pt x="0" y="0"/>
                </a:moveTo>
                <a:lnTo>
                  <a:pt x="196988" y="0"/>
                </a:lnTo>
                <a:lnTo>
                  <a:pt x="196988" y="150204"/>
                </a:lnTo>
                <a:lnTo>
                  <a:pt x="0" y="15020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>
            <a:normAutofit fontScale="25000" lnSpcReduction="20000"/>
          </a:bodyPr>
          <a:lstStyle/>
          <a:p>
            <a:endParaRPr lang="ko-KR" altLang="en-US"/>
          </a:p>
        </p:txBody>
      </p:sp>
      <p:sp>
        <p:nvSpPr>
          <p:cNvPr id="29" name="Freeform 29"/>
          <p:cNvSpPr/>
          <p:nvPr/>
        </p:nvSpPr>
        <p:spPr>
          <a:xfrm>
            <a:off x="2044290" y="8518450"/>
            <a:ext cx="196988" cy="150203"/>
          </a:xfrm>
          <a:custGeom>
            <a:avLst/>
            <a:gdLst/>
            <a:ahLst/>
            <a:cxnLst/>
            <a:rect l="l" t="t" r="r" b="b"/>
            <a:pathLst>
              <a:path w="196988" h="150203">
                <a:moveTo>
                  <a:pt x="0" y="0"/>
                </a:moveTo>
                <a:lnTo>
                  <a:pt x="196988" y="0"/>
                </a:lnTo>
                <a:lnTo>
                  <a:pt x="196988" y="150203"/>
                </a:lnTo>
                <a:lnTo>
                  <a:pt x="0" y="15020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>
            <a:normAutofit fontScale="25000" lnSpcReduction="20000"/>
          </a:bodyPr>
          <a:lstStyle/>
          <a:p>
            <a:endParaRPr lang="ko-KR" altLang="en-US"/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ED072949-B773-4627-81C9-D2C54FF2545E}"/>
              </a:ext>
            </a:extLst>
          </p:cNvPr>
          <p:cNvSpPr txBox="1"/>
          <p:nvPr/>
        </p:nvSpPr>
        <p:spPr>
          <a:xfrm>
            <a:off x="1049478" y="852838"/>
            <a:ext cx="735448" cy="734676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marL="0" lvl="0" indent="0" algn="ctr">
              <a:lnSpc>
                <a:spcPts val="2336"/>
              </a:lnSpc>
              <a:spcBef>
                <a:spcPct val="0"/>
              </a:spcBef>
            </a:pPr>
            <a:r>
              <a:rPr lang="en-US" sz="2290" spc="-171" dirty="0">
                <a:solidFill>
                  <a:srgbClr val="F5F4F4"/>
                </a:solidFill>
                <a:latin typeface="DIN Next"/>
                <a:ea typeface="DIN Next"/>
                <a:cs typeface="DIN Next"/>
                <a:sym typeface="DIN Next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43432" y="485661"/>
            <a:ext cx="2795067" cy="240203"/>
            <a:chOff x="0" y="0"/>
            <a:chExt cx="3726756" cy="320271"/>
          </a:xfrm>
        </p:grpSpPr>
        <p:sp>
          <p:nvSpPr>
            <p:cNvPr id="3" name="Freeform 3"/>
            <p:cNvSpPr/>
            <p:nvPr/>
          </p:nvSpPr>
          <p:spPr>
            <a:xfrm>
              <a:off x="1679974" y="2970"/>
              <a:ext cx="225532" cy="314331"/>
            </a:xfrm>
            <a:custGeom>
              <a:avLst/>
              <a:gdLst/>
              <a:ahLst/>
              <a:cxnLst/>
              <a:rect l="l" t="t" r="r" b="b"/>
              <a:pathLst>
                <a:path w="225532" h="314331">
                  <a:moveTo>
                    <a:pt x="0" y="0"/>
                  </a:moveTo>
                  <a:lnTo>
                    <a:pt x="225532" y="0"/>
                  </a:lnTo>
                  <a:lnTo>
                    <a:pt x="225532" y="314331"/>
                  </a:lnTo>
                  <a:lnTo>
                    <a:pt x="0" y="314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" name="Freeform 4"/>
            <p:cNvSpPr/>
            <p:nvPr/>
          </p:nvSpPr>
          <p:spPr>
            <a:xfrm>
              <a:off x="1106158" y="11191"/>
              <a:ext cx="287090" cy="297888"/>
            </a:xfrm>
            <a:custGeom>
              <a:avLst/>
              <a:gdLst/>
              <a:ahLst/>
              <a:cxnLst/>
              <a:rect l="l" t="t" r="r" b="b"/>
              <a:pathLst>
                <a:path w="287090" h="297888">
                  <a:moveTo>
                    <a:pt x="0" y="0"/>
                  </a:moveTo>
                  <a:lnTo>
                    <a:pt x="287090" y="0"/>
                  </a:lnTo>
                  <a:lnTo>
                    <a:pt x="287090" y="297888"/>
                  </a:lnTo>
                  <a:lnTo>
                    <a:pt x="0" y="297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2172206" y="0"/>
              <a:ext cx="321880" cy="320271"/>
            </a:xfrm>
            <a:custGeom>
              <a:avLst/>
              <a:gdLst/>
              <a:ahLst/>
              <a:cxnLst/>
              <a:rect l="l" t="t" r="r" b="b"/>
              <a:pathLst>
                <a:path w="321880" h="320271">
                  <a:moveTo>
                    <a:pt x="0" y="0"/>
                  </a:moveTo>
                  <a:lnTo>
                    <a:pt x="321880" y="0"/>
                  </a:lnTo>
                  <a:lnTo>
                    <a:pt x="321880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3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6" name="Freeform 6"/>
            <p:cNvSpPr/>
            <p:nvPr/>
          </p:nvSpPr>
          <p:spPr>
            <a:xfrm>
              <a:off x="2755412" y="0"/>
              <a:ext cx="320271" cy="320271"/>
            </a:xfrm>
            <a:custGeom>
              <a:avLst/>
              <a:gdLst/>
              <a:ahLst/>
              <a:cxnLst/>
              <a:rect l="l" t="t" r="r" b="b"/>
              <a:pathLst>
                <a:path w="320271" h="320271">
                  <a:moveTo>
                    <a:pt x="0" y="0"/>
                  </a:moveTo>
                  <a:lnTo>
                    <a:pt x="320271" y="0"/>
                  </a:lnTo>
                  <a:lnTo>
                    <a:pt x="320271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30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7" name="Freeform 7"/>
            <p:cNvSpPr/>
            <p:nvPr/>
          </p:nvSpPr>
          <p:spPr>
            <a:xfrm rot="-5400000">
              <a:off x="3465879" y="-52825"/>
              <a:ext cx="95832" cy="425921"/>
            </a:xfrm>
            <a:custGeom>
              <a:avLst/>
              <a:gdLst/>
              <a:ahLst/>
              <a:cxnLst/>
              <a:rect l="l" t="t" r="r" b="b"/>
              <a:pathLst>
                <a:path w="95832" h="425921">
                  <a:moveTo>
                    <a:pt x="0" y="0"/>
                  </a:moveTo>
                  <a:lnTo>
                    <a:pt x="95832" y="0"/>
                  </a:lnTo>
                  <a:lnTo>
                    <a:pt x="95832" y="425921"/>
                  </a:lnTo>
                  <a:lnTo>
                    <a:pt x="0" y="425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30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Freeform 8"/>
            <p:cNvSpPr/>
            <p:nvPr/>
          </p:nvSpPr>
          <p:spPr>
            <a:xfrm>
              <a:off x="0" y="14822"/>
              <a:ext cx="283522" cy="287839"/>
            </a:xfrm>
            <a:custGeom>
              <a:avLst/>
              <a:gdLst/>
              <a:ahLst/>
              <a:cxnLst/>
              <a:rect l="l" t="t" r="r" b="b"/>
              <a:pathLst>
                <a:path w="283522" h="287839">
                  <a:moveTo>
                    <a:pt x="0" y="0"/>
                  </a:moveTo>
                  <a:lnTo>
                    <a:pt x="283522" y="0"/>
                  </a:lnTo>
                  <a:lnTo>
                    <a:pt x="283522" y="287839"/>
                  </a:lnTo>
                  <a:lnTo>
                    <a:pt x="0" y="287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30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537522" y="2970"/>
              <a:ext cx="314636" cy="299691"/>
            </a:xfrm>
            <a:custGeom>
              <a:avLst/>
              <a:gdLst/>
              <a:ahLst/>
              <a:cxnLst/>
              <a:rect l="l" t="t" r="r" b="b"/>
              <a:pathLst>
                <a:path w="314636" h="299691">
                  <a:moveTo>
                    <a:pt x="0" y="0"/>
                  </a:moveTo>
                  <a:lnTo>
                    <a:pt x="314636" y="0"/>
                  </a:lnTo>
                  <a:lnTo>
                    <a:pt x="314636" y="299691"/>
                  </a:lnTo>
                  <a:lnTo>
                    <a:pt x="0" y="299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30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0" y="10192835"/>
            <a:ext cx="18288000" cy="94165"/>
            <a:chOff x="0" y="0"/>
            <a:chExt cx="3762963" cy="193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62963" cy="19376"/>
            </a:xfrm>
            <a:custGeom>
              <a:avLst/>
              <a:gdLst/>
              <a:ahLst/>
              <a:cxnLst/>
              <a:rect l="l" t="t" r="r" b="b"/>
              <a:pathLst>
                <a:path w="3762963" h="19376">
                  <a:moveTo>
                    <a:pt x="0" y="0"/>
                  </a:moveTo>
                  <a:lnTo>
                    <a:pt x="3762963" y="0"/>
                  </a:lnTo>
                  <a:lnTo>
                    <a:pt x="3762963" y="19376"/>
                  </a:lnTo>
                  <a:lnTo>
                    <a:pt x="0" y="19376"/>
                  </a:lnTo>
                  <a:close/>
                </a:path>
              </a:pathLst>
            </a:custGeom>
            <a:solidFill>
              <a:srgbClr val="B3555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3762963" cy="67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49478" y="852837"/>
            <a:ext cx="735448" cy="735448"/>
            <a:chOff x="0" y="0"/>
            <a:chExt cx="191064" cy="19106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1064" cy="191064"/>
            </a:xfrm>
            <a:custGeom>
              <a:avLst/>
              <a:gdLst/>
              <a:ahLst/>
              <a:cxnLst/>
              <a:rect l="l" t="t" r="r" b="b"/>
              <a:pathLst>
                <a:path w="191064" h="191064">
                  <a:moveTo>
                    <a:pt x="0" y="0"/>
                  </a:moveTo>
                  <a:lnTo>
                    <a:pt x="191064" y="0"/>
                  </a:lnTo>
                  <a:lnTo>
                    <a:pt x="191064" y="191064"/>
                  </a:lnTo>
                  <a:lnTo>
                    <a:pt x="0" y="191064"/>
                  </a:lnTo>
                  <a:close/>
                </a:path>
              </a:pathLst>
            </a:custGeom>
            <a:solidFill>
              <a:srgbClr val="B35555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91064" cy="219639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70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AutoShape 16"/>
          <p:cNvSpPr/>
          <p:nvPr/>
        </p:nvSpPr>
        <p:spPr>
          <a:xfrm flipV="1">
            <a:off x="662837" y="2117428"/>
            <a:ext cx="16962327" cy="0"/>
          </a:xfrm>
          <a:prstGeom prst="line">
            <a:avLst/>
          </a:prstGeom>
          <a:ln w="19050" cap="flat">
            <a:solidFill>
              <a:srgbClr val="363636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2073273" y="872658"/>
            <a:ext cx="10279721" cy="791056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l">
              <a:lnSpc>
                <a:spcPts val="5969"/>
              </a:lnSpc>
            </a:pPr>
            <a:r>
              <a:rPr lang="en-US" sz="5852" b="1" spc="-117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타이틀과</a:t>
            </a:r>
            <a:r>
              <a:rPr lang="en-US" sz="5852" b="1" spc="-117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5852" b="1" spc="-117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설명글이</a:t>
            </a:r>
            <a:r>
              <a:rPr lang="en-US" sz="5852" b="1" spc="-117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5852" b="1" spc="-117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있는</a:t>
            </a:r>
            <a:r>
              <a:rPr lang="en-US" sz="5852" b="1" spc="-117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5852" b="1" spc="-117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페이지</a:t>
            </a:r>
            <a:endParaRPr lang="en-US" sz="5852" b="1" spc="-117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1440961" y="1358870"/>
            <a:ext cx="6293520" cy="22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1860"/>
              </a:lnSpc>
              <a:spcBef>
                <a:spcPct val="0"/>
              </a:spcBef>
            </a:pPr>
            <a:r>
              <a:rPr lang="en-US" sz="1550" u="none" strike="noStrike" spc="-26" dirty="0" err="1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메인타이틀에</a:t>
            </a:r>
            <a:r>
              <a:rPr lang="en-US" sz="1550" u="none" strike="noStrike" spc="-26" dirty="0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550" u="none" strike="noStrike" spc="-26" dirty="0" err="1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대한</a:t>
            </a:r>
            <a:r>
              <a:rPr lang="en-US" sz="1550" u="none" strike="noStrike" spc="-26" dirty="0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550" u="none" strike="noStrike" spc="-26" dirty="0" err="1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세부</a:t>
            </a:r>
            <a:r>
              <a:rPr lang="en-US" sz="1550" u="none" strike="noStrike" spc="-26" dirty="0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550" u="none" strike="noStrike" spc="-26" dirty="0" err="1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설명을</a:t>
            </a:r>
            <a:r>
              <a:rPr lang="en-US" sz="1550" u="none" strike="noStrike" spc="-26" dirty="0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550" u="none" strike="noStrike" spc="-26" dirty="0" err="1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입력해</a:t>
            </a:r>
            <a:r>
              <a:rPr lang="en-US" sz="1550" u="none" strike="noStrike" spc="-26" dirty="0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550" u="none" strike="noStrike" spc="-26" dirty="0" err="1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주세요</a:t>
            </a:r>
            <a:r>
              <a:rPr lang="en-US" sz="1550" u="none" strike="noStrike" spc="-26" dirty="0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546912" y="6733589"/>
            <a:ext cx="4874813" cy="2429461"/>
            <a:chOff x="0" y="0"/>
            <a:chExt cx="1254954" cy="62543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54954" cy="625432"/>
            </a:xfrm>
            <a:custGeom>
              <a:avLst/>
              <a:gdLst/>
              <a:ahLst/>
              <a:cxnLst/>
              <a:rect l="l" t="t" r="r" b="b"/>
              <a:pathLst>
                <a:path w="1254954" h="625432">
                  <a:moveTo>
                    <a:pt x="0" y="0"/>
                  </a:moveTo>
                  <a:lnTo>
                    <a:pt x="1254954" y="0"/>
                  </a:lnTo>
                  <a:lnTo>
                    <a:pt x="1254954" y="625432"/>
                  </a:lnTo>
                  <a:lnTo>
                    <a:pt x="0" y="625432"/>
                  </a:lnTo>
                  <a:close/>
                </a:path>
              </a:pathLst>
            </a:custGeom>
            <a:ln w="19050" cap="sq">
              <a:solidFill>
                <a:srgbClr val="B35555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28575"/>
              <a:ext cx="1254954" cy="596857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algn="ctr">
                <a:lnSpc>
                  <a:spcPts val="2743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07515" y="6733589"/>
            <a:ext cx="4874813" cy="2429461"/>
            <a:chOff x="0" y="0"/>
            <a:chExt cx="1254954" cy="62543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54954" cy="625432"/>
            </a:xfrm>
            <a:custGeom>
              <a:avLst/>
              <a:gdLst/>
              <a:ahLst/>
              <a:cxnLst/>
              <a:rect l="l" t="t" r="r" b="b"/>
              <a:pathLst>
                <a:path w="1254954" h="625432">
                  <a:moveTo>
                    <a:pt x="0" y="0"/>
                  </a:moveTo>
                  <a:lnTo>
                    <a:pt x="1254954" y="0"/>
                  </a:lnTo>
                  <a:lnTo>
                    <a:pt x="1254954" y="625432"/>
                  </a:lnTo>
                  <a:lnTo>
                    <a:pt x="0" y="625432"/>
                  </a:lnTo>
                  <a:close/>
                </a:path>
              </a:pathLst>
            </a:custGeom>
            <a:ln w="19050" cap="sq">
              <a:solidFill>
                <a:srgbClr val="B35555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28575"/>
              <a:ext cx="1254954" cy="596857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algn="ctr">
                <a:lnSpc>
                  <a:spcPts val="2743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868118" y="6733589"/>
            <a:ext cx="4874813" cy="2429461"/>
            <a:chOff x="0" y="0"/>
            <a:chExt cx="1254954" cy="62543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54954" cy="625432"/>
            </a:xfrm>
            <a:custGeom>
              <a:avLst/>
              <a:gdLst/>
              <a:ahLst/>
              <a:cxnLst/>
              <a:rect l="l" t="t" r="r" b="b"/>
              <a:pathLst>
                <a:path w="1254954" h="625432">
                  <a:moveTo>
                    <a:pt x="0" y="0"/>
                  </a:moveTo>
                  <a:lnTo>
                    <a:pt x="1254954" y="0"/>
                  </a:lnTo>
                  <a:lnTo>
                    <a:pt x="1254954" y="625432"/>
                  </a:lnTo>
                  <a:lnTo>
                    <a:pt x="0" y="625432"/>
                  </a:lnTo>
                  <a:close/>
                </a:path>
              </a:pathLst>
            </a:custGeom>
            <a:ln w="19050" cap="sq">
              <a:solidFill>
                <a:srgbClr val="B35555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28575"/>
              <a:ext cx="1254954" cy="596857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algn="ctr">
                <a:lnSpc>
                  <a:spcPts val="2743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546912" y="6733589"/>
            <a:ext cx="4874813" cy="805343"/>
            <a:chOff x="0" y="0"/>
            <a:chExt cx="1254954" cy="20732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54954" cy="207325"/>
            </a:xfrm>
            <a:custGeom>
              <a:avLst/>
              <a:gdLst/>
              <a:ahLst/>
              <a:cxnLst/>
              <a:rect l="l" t="t" r="r" b="b"/>
              <a:pathLst>
                <a:path w="1254954" h="207325">
                  <a:moveTo>
                    <a:pt x="0" y="0"/>
                  </a:moveTo>
                  <a:lnTo>
                    <a:pt x="1254954" y="0"/>
                  </a:lnTo>
                  <a:lnTo>
                    <a:pt x="1254954" y="207325"/>
                  </a:lnTo>
                  <a:lnTo>
                    <a:pt x="0" y="207325"/>
                  </a:lnTo>
                  <a:close/>
                </a:path>
              </a:pathLst>
            </a:custGeom>
            <a:solidFill>
              <a:srgbClr val="B35555"/>
            </a:solidFill>
            <a:ln w="19050" cap="sq">
              <a:solidFill>
                <a:srgbClr val="B35555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28575"/>
              <a:ext cx="1254954" cy="178750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707515" y="6733589"/>
            <a:ext cx="4874813" cy="805343"/>
            <a:chOff x="0" y="0"/>
            <a:chExt cx="1254954" cy="20732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54954" cy="207325"/>
            </a:xfrm>
            <a:custGeom>
              <a:avLst/>
              <a:gdLst/>
              <a:ahLst/>
              <a:cxnLst/>
              <a:rect l="l" t="t" r="r" b="b"/>
              <a:pathLst>
                <a:path w="1254954" h="207325">
                  <a:moveTo>
                    <a:pt x="0" y="0"/>
                  </a:moveTo>
                  <a:lnTo>
                    <a:pt x="1254954" y="0"/>
                  </a:lnTo>
                  <a:lnTo>
                    <a:pt x="1254954" y="207325"/>
                  </a:lnTo>
                  <a:lnTo>
                    <a:pt x="0" y="207325"/>
                  </a:lnTo>
                  <a:close/>
                </a:path>
              </a:pathLst>
            </a:custGeom>
            <a:solidFill>
              <a:srgbClr val="B35555"/>
            </a:solidFill>
            <a:ln w="19050" cap="sq">
              <a:solidFill>
                <a:srgbClr val="B35555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28575"/>
              <a:ext cx="1254954" cy="178750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868118" y="6733589"/>
            <a:ext cx="4874813" cy="805343"/>
            <a:chOff x="0" y="0"/>
            <a:chExt cx="1254954" cy="20732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54954" cy="207325"/>
            </a:xfrm>
            <a:custGeom>
              <a:avLst/>
              <a:gdLst/>
              <a:ahLst/>
              <a:cxnLst/>
              <a:rect l="l" t="t" r="r" b="b"/>
              <a:pathLst>
                <a:path w="1254954" h="207325">
                  <a:moveTo>
                    <a:pt x="0" y="0"/>
                  </a:moveTo>
                  <a:lnTo>
                    <a:pt x="1254954" y="0"/>
                  </a:lnTo>
                  <a:lnTo>
                    <a:pt x="1254954" y="207325"/>
                  </a:lnTo>
                  <a:lnTo>
                    <a:pt x="0" y="207325"/>
                  </a:lnTo>
                  <a:close/>
                </a:path>
              </a:pathLst>
            </a:custGeom>
            <a:solidFill>
              <a:srgbClr val="B35555"/>
            </a:solidFill>
            <a:ln w="19050" cap="sq">
              <a:solidFill>
                <a:srgbClr val="B35555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28575"/>
              <a:ext cx="1254954" cy="178750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546912" y="3689374"/>
            <a:ext cx="15196018" cy="1810187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l">
              <a:lnSpc>
                <a:spcPts val="3622"/>
              </a:lnSpc>
              <a:spcBef>
                <a:spcPct val="0"/>
              </a:spcBef>
            </a:pP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소비자층은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주로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20대에서 40대까지의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연령층이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주도하고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있으며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,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이들은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디지털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기기에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익숙하고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,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온라인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리뷰와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소셜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미디어를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통해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제품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정보를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얻는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경향이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있습니다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.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또한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,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환경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보호와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윤리적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소비에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대한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관심이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높아짐에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따라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친환경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제품에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대한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수요도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증가하고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있습니다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.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소비자들의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이러한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트렌드는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기업들에게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새로운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기회를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제공하며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,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지속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가능한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제품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개발과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마케팅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전략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수립에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중요한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인사이트를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249" u="none" strike="noStrike" spc="-78" dirty="0" err="1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제공합니다</a:t>
            </a:r>
            <a:r>
              <a:rPr lang="en-US" sz="2249" u="none" strike="noStrike" spc="-78" dirty="0">
                <a:solidFill>
                  <a:srgbClr val="222222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930822" y="3055684"/>
            <a:ext cx="3609442" cy="465833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555"/>
              </a:lnSpc>
            </a:pPr>
            <a:r>
              <a:rPr lang="en-US" sz="3703" b="1" spc="-74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소비자</a:t>
            </a:r>
            <a:r>
              <a:rPr lang="en-US" sz="3703" b="1" spc="-74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3703" b="1" spc="-74" dirty="0" err="1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분석</a:t>
            </a:r>
            <a:endParaRPr lang="en-US" sz="3703" b="1" spc="-74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930822" y="5920555"/>
            <a:ext cx="3609442" cy="465833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3555"/>
              </a:lnSpc>
            </a:pPr>
            <a:r>
              <a:rPr lang="en-US" sz="3703" b="1" spc="-74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경쟁사 분석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773121" y="6861138"/>
            <a:ext cx="2422395" cy="467593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808"/>
              </a:lnSpc>
            </a:pPr>
            <a:r>
              <a:rPr lang="en-US" sz="2608" b="1" spc="-52">
                <a:solidFill>
                  <a:srgbClr val="F5F4F4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경쟁사 A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33724" y="6861138"/>
            <a:ext cx="2422395" cy="467593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808"/>
              </a:lnSpc>
            </a:pPr>
            <a:r>
              <a:rPr lang="en-US" sz="2608" b="1" spc="-52">
                <a:solidFill>
                  <a:srgbClr val="F5F4F4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경쟁사 B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094327" y="6861138"/>
            <a:ext cx="2422395" cy="467593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3808"/>
              </a:lnSpc>
            </a:pPr>
            <a:r>
              <a:rPr lang="en-US" sz="2608" b="1" spc="-52">
                <a:solidFill>
                  <a:srgbClr val="F5F4F4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경쟁사 C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921302" y="7881315"/>
            <a:ext cx="4087055" cy="741319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992"/>
              </a:lnSpc>
            </a:pPr>
            <a:r>
              <a:rPr lang="en-US" sz="1994" spc="-39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품질 높은 제품과 혁신적인 기술을 통해 시장 점유율을 유지하고 있습니다.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081905" y="7881315"/>
            <a:ext cx="4087055" cy="1121407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992"/>
              </a:lnSpc>
            </a:pPr>
            <a:r>
              <a:rPr lang="en-US" sz="1994" spc="-39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주로 젊은 층을 타겟으로 한 마케팅</a:t>
            </a:r>
          </a:p>
          <a:p>
            <a:pPr algn="ctr">
              <a:lnSpc>
                <a:spcPts val="2992"/>
              </a:lnSpc>
            </a:pPr>
            <a:r>
              <a:rPr lang="en-US" sz="1994" spc="-39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전략을 구사하고 있습니다. </a:t>
            </a:r>
          </a:p>
          <a:p>
            <a:pPr algn="ctr">
              <a:lnSpc>
                <a:spcPts val="2992"/>
              </a:lnSpc>
            </a:pPr>
            <a:endParaRPr lang="en-US" sz="1994" spc="-39">
              <a:solidFill>
                <a:srgbClr val="333333">
                  <a:alpha val="69804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2242508" y="7881315"/>
            <a:ext cx="4087055" cy="1121407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992"/>
              </a:lnSpc>
            </a:pPr>
            <a:r>
              <a:rPr lang="en-US" sz="1994" spc="-39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프리미엄 제품 라인으로 시장에서</a:t>
            </a:r>
          </a:p>
          <a:p>
            <a:pPr algn="ctr">
              <a:lnSpc>
                <a:spcPts val="2992"/>
              </a:lnSpc>
            </a:pPr>
            <a:r>
              <a:rPr lang="en-US" sz="1994" spc="-39">
                <a:solidFill>
                  <a:srgbClr val="333333">
                    <a:alpha val="6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독보적인 위치를 차지하고 있습니다.</a:t>
            </a:r>
          </a:p>
          <a:p>
            <a:pPr algn="ctr">
              <a:lnSpc>
                <a:spcPts val="2992"/>
              </a:lnSpc>
            </a:pPr>
            <a:endParaRPr lang="en-US" sz="1994" spc="-39">
              <a:solidFill>
                <a:srgbClr val="333333">
                  <a:alpha val="69804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47" name="Freeform 47"/>
          <p:cNvSpPr/>
          <p:nvPr/>
        </p:nvSpPr>
        <p:spPr>
          <a:xfrm>
            <a:off x="1546912" y="3104401"/>
            <a:ext cx="273148" cy="273148"/>
          </a:xfrm>
          <a:custGeom>
            <a:avLst/>
            <a:gdLst/>
            <a:ahLst/>
            <a:cxnLst/>
            <a:rect l="l" t="t" r="r" b="b"/>
            <a:pathLst>
              <a:path w="273148" h="273148">
                <a:moveTo>
                  <a:pt x="0" y="0"/>
                </a:moveTo>
                <a:lnTo>
                  <a:pt x="273149" y="0"/>
                </a:lnTo>
                <a:lnTo>
                  <a:pt x="273149" y="273149"/>
                </a:lnTo>
                <a:lnTo>
                  <a:pt x="0" y="2731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1546912" y="5969272"/>
            <a:ext cx="273148" cy="273148"/>
          </a:xfrm>
          <a:custGeom>
            <a:avLst/>
            <a:gdLst/>
            <a:ahLst/>
            <a:cxnLst/>
            <a:rect l="l" t="t" r="r" b="b"/>
            <a:pathLst>
              <a:path w="273148" h="273148">
                <a:moveTo>
                  <a:pt x="0" y="0"/>
                </a:moveTo>
                <a:lnTo>
                  <a:pt x="273149" y="0"/>
                </a:lnTo>
                <a:lnTo>
                  <a:pt x="273149" y="273148"/>
                </a:lnTo>
                <a:lnTo>
                  <a:pt x="0" y="27314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49" name="TextBox 19">
            <a:extLst>
              <a:ext uri="{FF2B5EF4-FFF2-40B4-BE49-F238E27FC236}">
                <a16:creationId xmlns:a16="http://schemas.microsoft.com/office/drawing/2014/main" id="{C550D178-EFAA-443A-BE7C-0AEE424A53C3}"/>
              </a:ext>
            </a:extLst>
          </p:cNvPr>
          <p:cNvSpPr txBox="1"/>
          <p:nvPr/>
        </p:nvSpPr>
        <p:spPr>
          <a:xfrm>
            <a:off x="1049478" y="852838"/>
            <a:ext cx="735448" cy="734676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marL="0" lvl="0" indent="0" algn="ctr">
              <a:lnSpc>
                <a:spcPts val="2336"/>
              </a:lnSpc>
              <a:spcBef>
                <a:spcPct val="0"/>
              </a:spcBef>
            </a:pPr>
            <a:r>
              <a:rPr lang="en-US" sz="2290" spc="-171" dirty="0">
                <a:solidFill>
                  <a:srgbClr val="F5F4F4"/>
                </a:solidFill>
                <a:latin typeface="DIN Next"/>
                <a:ea typeface="DIN Next"/>
                <a:cs typeface="DIN Next"/>
                <a:sym typeface="DIN Next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43432" y="485661"/>
            <a:ext cx="2795067" cy="240203"/>
            <a:chOff x="0" y="0"/>
            <a:chExt cx="3726756" cy="320271"/>
          </a:xfrm>
        </p:grpSpPr>
        <p:sp>
          <p:nvSpPr>
            <p:cNvPr id="3" name="Freeform 3"/>
            <p:cNvSpPr/>
            <p:nvPr/>
          </p:nvSpPr>
          <p:spPr>
            <a:xfrm>
              <a:off x="1679974" y="2970"/>
              <a:ext cx="225532" cy="314331"/>
            </a:xfrm>
            <a:custGeom>
              <a:avLst/>
              <a:gdLst/>
              <a:ahLst/>
              <a:cxnLst/>
              <a:rect l="l" t="t" r="r" b="b"/>
              <a:pathLst>
                <a:path w="225532" h="314331">
                  <a:moveTo>
                    <a:pt x="0" y="0"/>
                  </a:moveTo>
                  <a:lnTo>
                    <a:pt x="225532" y="0"/>
                  </a:lnTo>
                  <a:lnTo>
                    <a:pt x="225532" y="314331"/>
                  </a:lnTo>
                  <a:lnTo>
                    <a:pt x="0" y="314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" name="Freeform 4"/>
            <p:cNvSpPr/>
            <p:nvPr/>
          </p:nvSpPr>
          <p:spPr>
            <a:xfrm>
              <a:off x="1106158" y="11191"/>
              <a:ext cx="287090" cy="297888"/>
            </a:xfrm>
            <a:custGeom>
              <a:avLst/>
              <a:gdLst/>
              <a:ahLst/>
              <a:cxnLst/>
              <a:rect l="l" t="t" r="r" b="b"/>
              <a:pathLst>
                <a:path w="287090" h="297888">
                  <a:moveTo>
                    <a:pt x="0" y="0"/>
                  </a:moveTo>
                  <a:lnTo>
                    <a:pt x="287090" y="0"/>
                  </a:lnTo>
                  <a:lnTo>
                    <a:pt x="287090" y="297888"/>
                  </a:lnTo>
                  <a:lnTo>
                    <a:pt x="0" y="297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2172206" y="0"/>
              <a:ext cx="321880" cy="320271"/>
            </a:xfrm>
            <a:custGeom>
              <a:avLst/>
              <a:gdLst/>
              <a:ahLst/>
              <a:cxnLst/>
              <a:rect l="l" t="t" r="r" b="b"/>
              <a:pathLst>
                <a:path w="321880" h="320271">
                  <a:moveTo>
                    <a:pt x="0" y="0"/>
                  </a:moveTo>
                  <a:lnTo>
                    <a:pt x="321880" y="0"/>
                  </a:lnTo>
                  <a:lnTo>
                    <a:pt x="321880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3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6" name="Freeform 6"/>
            <p:cNvSpPr/>
            <p:nvPr/>
          </p:nvSpPr>
          <p:spPr>
            <a:xfrm>
              <a:off x="2755412" y="0"/>
              <a:ext cx="320271" cy="320271"/>
            </a:xfrm>
            <a:custGeom>
              <a:avLst/>
              <a:gdLst/>
              <a:ahLst/>
              <a:cxnLst/>
              <a:rect l="l" t="t" r="r" b="b"/>
              <a:pathLst>
                <a:path w="320271" h="320271">
                  <a:moveTo>
                    <a:pt x="0" y="0"/>
                  </a:moveTo>
                  <a:lnTo>
                    <a:pt x="320271" y="0"/>
                  </a:lnTo>
                  <a:lnTo>
                    <a:pt x="320271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30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7" name="Freeform 7"/>
            <p:cNvSpPr/>
            <p:nvPr/>
          </p:nvSpPr>
          <p:spPr>
            <a:xfrm rot="-5400000">
              <a:off x="3465879" y="-52825"/>
              <a:ext cx="95832" cy="425921"/>
            </a:xfrm>
            <a:custGeom>
              <a:avLst/>
              <a:gdLst/>
              <a:ahLst/>
              <a:cxnLst/>
              <a:rect l="l" t="t" r="r" b="b"/>
              <a:pathLst>
                <a:path w="95832" h="425921">
                  <a:moveTo>
                    <a:pt x="0" y="0"/>
                  </a:moveTo>
                  <a:lnTo>
                    <a:pt x="95832" y="0"/>
                  </a:lnTo>
                  <a:lnTo>
                    <a:pt x="95832" y="425921"/>
                  </a:lnTo>
                  <a:lnTo>
                    <a:pt x="0" y="425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30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Freeform 8"/>
            <p:cNvSpPr/>
            <p:nvPr/>
          </p:nvSpPr>
          <p:spPr>
            <a:xfrm>
              <a:off x="0" y="14822"/>
              <a:ext cx="283522" cy="287839"/>
            </a:xfrm>
            <a:custGeom>
              <a:avLst/>
              <a:gdLst/>
              <a:ahLst/>
              <a:cxnLst/>
              <a:rect l="l" t="t" r="r" b="b"/>
              <a:pathLst>
                <a:path w="283522" h="287839">
                  <a:moveTo>
                    <a:pt x="0" y="0"/>
                  </a:moveTo>
                  <a:lnTo>
                    <a:pt x="283522" y="0"/>
                  </a:lnTo>
                  <a:lnTo>
                    <a:pt x="283522" y="287839"/>
                  </a:lnTo>
                  <a:lnTo>
                    <a:pt x="0" y="287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30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537522" y="2970"/>
              <a:ext cx="314636" cy="299691"/>
            </a:xfrm>
            <a:custGeom>
              <a:avLst/>
              <a:gdLst/>
              <a:ahLst/>
              <a:cxnLst/>
              <a:rect l="l" t="t" r="r" b="b"/>
              <a:pathLst>
                <a:path w="314636" h="299691">
                  <a:moveTo>
                    <a:pt x="0" y="0"/>
                  </a:moveTo>
                  <a:lnTo>
                    <a:pt x="314636" y="0"/>
                  </a:lnTo>
                  <a:lnTo>
                    <a:pt x="314636" y="299691"/>
                  </a:lnTo>
                  <a:lnTo>
                    <a:pt x="0" y="299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30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0" y="10192835"/>
            <a:ext cx="18288000" cy="94165"/>
            <a:chOff x="0" y="0"/>
            <a:chExt cx="3762963" cy="193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62963" cy="19376"/>
            </a:xfrm>
            <a:custGeom>
              <a:avLst/>
              <a:gdLst/>
              <a:ahLst/>
              <a:cxnLst/>
              <a:rect l="l" t="t" r="r" b="b"/>
              <a:pathLst>
                <a:path w="3762963" h="19376">
                  <a:moveTo>
                    <a:pt x="0" y="0"/>
                  </a:moveTo>
                  <a:lnTo>
                    <a:pt x="3762963" y="0"/>
                  </a:lnTo>
                  <a:lnTo>
                    <a:pt x="3762963" y="19376"/>
                  </a:lnTo>
                  <a:lnTo>
                    <a:pt x="0" y="19376"/>
                  </a:lnTo>
                  <a:close/>
                </a:path>
              </a:pathLst>
            </a:custGeom>
            <a:solidFill>
              <a:srgbClr val="B3555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3762963" cy="67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49478" y="852837"/>
            <a:ext cx="735448" cy="735448"/>
            <a:chOff x="0" y="0"/>
            <a:chExt cx="191064" cy="19106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1064" cy="191064"/>
            </a:xfrm>
            <a:custGeom>
              <a:avLst/>
              <a:gdLst/>
              <a:ahLst/>
              <a:cxnLst/>
              <a:rect l="l" t="t" r="r" b="b"/>
              <a:pathLst>
                <a:path w="191064" h="191064">
                  <a:moveTo>
                    <a:pt x="0" y="0"/>
                  </a:moveTo>
                  <a:lnTo>
                    <a:pt x="191064" y="0"/>
                  </a:lnTo>
                  <a:lnTo>
                    <a:pt x="191064" y="191064"/>
                  </a:lnTo>
                  <a:lnTo>
                    <a:pt x="0" y="191064"/>
                  </a:lnTo>
                  <a:close/>
                </a:path>
              </a:pathLst>
            </a:custGeom>
            <a:solidFill>
              <a:srgbClr val="B35555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91064" cy="219639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marL="0" lvl="0" indent="0" algn="ctr">
                <a:lnSpc>
                  <a:spcPts val="270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AutoShape 16"/>
          <p:cNvSpPr/>
          <p:nvPr/>
        </p:nvSpPr>
        <p:spPr>
          <a:xfrm flipV="1">
            <a:off x="662837" y="2117428"/>
            <a:ext cx="16962327" cy="0"/>
          </a:xfrm>
          <a:prstGeom prst="line">
            <a:avLst/>
          </a:prstGeom>
          <a:ln w="19050" cap="flat">
            <a:solidFill>
              <a:srgbClr val="363636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2073273" y="872658"/>
            <a:ext cx="10279721" cy="791056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l">
              <a:lnSpc>
                <a:spcPts val="5969"/>
              </a:lnSpc>
            </a:pPr>
            <a:r>
              <a:rPr lang="en-US" sz="5852" b="1" spc="-117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아이콘을 활용한 페이지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23202" y="1358870"/>
            <a:ext cx="6293520" cy="228644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1" indent="0" algn="l">
              <a:lnSpc>
                <a:spcPts val="1860"/>
              </a:lnSpc>
              <a:spcBef>
                <a:spcPct val="0"/>
              </a:spcBef>
            </a:pPr>
            <a:r>
              <a:rPr lang="en-US" sz="1550" u="none" strike="noStrike" spc="-26">
                <a:solidFill>
                  <a:srgbClr val="222222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메인타이틀에 대한 세부 설명을 입력해 주세요.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17296" y="7335654"/>
            <a:ext cx="4361159" cy="1349626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ctr">
              <a:lnSpc>
                <a:spcPts val="3622"/>
              </a:lnSpc>
              <a:spcBef>
                <a:spcPct val="0"/>
              </a:spcBef>
            </a:pP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고객 관점에서 브랜드의 특징과</a:t>
            </a:r>
          </a:p>
          <a:p>
            <a:pPr marL="0" lvl="0" indent="0" algn="ctr">
              <a:lnSpc>
                <a:spcPts val="3622"/>
              </a:lnSpc>
              <a:spcBef>
                <a:spcPct val="0"/>
              </a:spcBef>
            </a:pP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핵심 메시지를 명확하게 표현하고, 차별화요소를 시작화 합니다.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63420" y="7335654"/>
            <a:ext cx="4361159" cy="1349626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ctr">
              <a:lnSpc>
                <a:spcPts val="3622"/>
              </a:lnSpc>
              <a:spcBef>
                <a:spcPct val="0"/>
              </a:spcBef>
            </a:pPr>
            <a:r>
              <a:rPr lang="en-US" sz="2250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주요</a:t>
            </a: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기능과 서비스 흐름을</a:t>
            </a:r>
          </a:p>
          <a:p>
            <a:pPr marL="0" lvl="0" indent="0" algn="ctr">
              <a:lnSpc>
                <a:spcPts val="3622"/>
              </a:lnSpc>
              <a:spcBef>
                <a:spcPct val="0"/>
              </a:spcBef>
            </a:pP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아이콘으로 전달하고자 하는 내용을 간단하고 직관적으로 보여줍니다.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219070" y="7335654"/>
            <a:ext cx="4361159" cy="1349626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ctr">
              <a:lnSpc>
                <a:spcPts val="3622"/>
              </a:lnSpc>
              <a:spcBef>
                <a:spcPct val="0"/>
              </a:spcBef>
            </a:pPr>
            <a:r>
              <a:rPr lang="en-US" sz="2250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여러</a:t>
            </a: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정보를 분류하고 강조해</a:t>
            </a:r>
          </a:p>
          <a:p>
            <a:pPr marL="0" lvl="0" indent="0" algn="ctr">
              <a:lnSpc>
                <a:spcPts val="3622"/>
              </a:lnSpc>
              <a:spcBef>
                <a:spcPct val="0"/>
              </a:spcBef>
            </a:pPr>
            <a:r>
              <a:rPr lang="en-US" sz="2250" u="none" strike="noStrike" spc="-78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전달력을 높이는 데 효과적입니다. 어울리는 아이콘을 활용해보세요.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45660" y="5532577"/>
            <a:ext cx="4104431" cy="1085044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ctr">
              <a:lnSpc>
                <a:spcPts val="4385"/>
              </a:lnSpc>
            </a:pPr>
            <a:r>
              <a:rPr lang="en-US" sz="3399" b="1" spc="-67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브랜드</a:t>
            </a:r>
            <a:r>
              <a:rPr lang="en-US" sz="3399" b="1" u="none" strike="noStrike" spc="-67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핵심 가치 및</a:t>
            </a:r>
          </a:p>
          <a:p>
            <a:pPr marL="0" lvl="0" indent="0" algn="ctr">
              <a:lnSpc>
                <a:spcPts val="4385"/>
              </a:lnSpc>
            </a:pPr>
            <a:r>
              <a:rPr lang="en-US" sz="3399" b="1" u="none" strike="noStrike" spc="-67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차별화 요소 시각화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091784" y="5532577"/>
            <a:ext cx="4104431" cy="1085044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ctr">
              <a:lnSpc>
                <a:spcPts val="4385"/>
              </a:lnSpc>
            </a:pPr>
            <a:r>
              <a:rPr lang="en-US" sz="3399" b="1" spc="-67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서비스</a:t>
            </a:r>
            <a:r>
              <a:rPr lang="en-US" sz="3399" b="1" u="none" strike="noStrike" spc="-67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구조 및 기능</a:t>
            </a:r>
          </a:p>
          <a:p>
            <a:pPr marL="0" lvl="0" indent="0" algn="ctr">
              <a:lnSpc>
                <a:spcPts val="4385"/>
              </a:lnSpc>
            </a:pPr>
            <a:r>
              <a:rPr lang="en-US" sz="3399" b="1" u="none" strike="noStrike" spc="-67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전달을 위한 시각 요소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347433" y="5532577"/>
            <a:ext cx="4104431" cy="1085044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ctr">
              <a:lnSpc>
                <a:spcPts val="4385"/>
              </a:lnSpc>
            </a:pPr>
            <a:r>
              <a:rPr lang="en-US" sz="3399" b="1" spc="-67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복잡한</a:t>
            </a:r>
            <a:r>
              <a:rPr lang="en-US" sz="3399" b="1" u="none" strike="noStrike" spc="-67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정보를 쉽게</a:t>
            </a:r>
          </a:p>
          <a:p>
            <a:pPr marL="0" lvl="0" indent="0" algn="ctr">
              <a:lnSpc>
                <a:spcPts val="4385"/>
              </a:lnSpc>
            </a:pPr>
            <a:r>
              <a:rPr lang="en-US" sz="3399" b="1" u="none" strike="noStrike" spc="-67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정리하는 아이콘 활용법</a:t>
            </a:r>
          </a:p>
        </p:txBody>
      </p:sp>
      <p:sp>
        <p:nvSpPr>
          <p:cNvPr id="26" name="Freeform 26"/>
          <p:cNvSpPr/>
          <p:nvPr/>
        </p:nvSpPr>
        <p:spPr>
          <a:xfrm>
            <a:off x="2944444" y="3273027"/>
            <a:ext cx="1906863" cy="1756697"/>
          </a:xfrm>
          <a:custGeom>
            <a:avLst/>
            <a:gdLst/>
            <a:ahLst/>
            <a:cxnLst/>
            <a:rect l="l" t="t" r="r" b="b"/>
            <a:pathLst>
              <a:path w="1906863" h="1756697">
                <a:moveTo>
                  <a:pt x="0" y="0"/>
                </a:moveTo>
                <a:lnTo>
                  <a:pt x="1906863" y="0"/>
                </a:lnTo>
                <a:lnTo>
                  <a:pt x="1906863" y="1756697"/>
                </a:lnTo>
                <a:lnTo>
                  <a:pt x="0" y="175669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8176076" y="3401234"/>
            <a:ext cx="1935847" cy="1500282"/>
          </a:xfrm>
          <a:custGeom>
            <a:avLst/>
            <a:gdLst/>
            <a:ahLst/>
            <a:cxnLst/>
            <a:rect l="l" t="t" r="r" b="b"/>
            <a:pathLst>
              <a:path w="1935847" h="1500282">
                <a:moveTo>
                  <a:pt x="0" y="0"/>
                </a:moveTo>
                <a:lnTo>
                  <a:pt x="1935848" y="0"/>
                </a:lnTo>
                <a:lnTo>
                  <a:pt x="1935848" y="1500282"/>
                </a:lnTo>
                <a:lnTo>
                  <a:pt x="0" y="150028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3580283" y="3337131"/>
            <a:ext cx="1638732" cy="1628490"/>
          </a:xfrm>
          <a:custGeom>
            <a:avLst/>
            <a:gdLst/>
            <a:ahLst/>
            <a:cxnLst/>
            <a:rect l="l" t="t" r="r" b="b"/>
            <a:pathLst>
              <a:path w="1638732" h="1628490">
                <a:moveTo>
                  <a:pt x="0" y="0"/>
                </a:moveTo>
                <a:lnTo>
                  <a:pt x="1638732" y="0"/>
                </a:lnTo>
                <a:lnTo>
                  <a:pt x="1638732" y="1628489"/>
                </a:lnTo>
                <a:lnTo>
                  <a:pt x="0" y="162848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 rot="5400000">
            <a:off x="3695588" y="6895241"/>
            <a:ext cx="204589" cy="199986"/>
          </a:xfrm>
          <a:custGeom>
            <a:avLst/>
            <a:gdLst/>
            <a:ahLst/>
            <a:cxnLst/>
            <a:rect l="l" t="t" r="r" b="b"/>
            <a:pathLst>
              <a:path w="204589" h="199986">
                <a:moveTo>
                  <a:pt x="0" y="0"/>
                </a:moveTo>
                <a:lnTo>
                  <a:pt x="204589" y="0"/>
                </a:lnTo>
                <a:lnTo>
                  <a:pt x="204589" y="199986"/>
                </a:lnTo>
                <a:lnTo>
                  <a:pt x="0" y="19998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50000"/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 rot="5400000">
            <a:off x="9041705" y="6895241"/>
            <a:ext cx="204589" cy="199986"/>
          </a:xfrm>
          <a:custGeom>
            <a:avLst/>
            <a:gdLst/>
            <a:ahLst/>
            <a:cxnLst/>
            <a:rect l="l" t="t" r="r" b="b"/>
            <a:pathLst>
              <a:path w="204589" h="199986">
                <a:moveTo>
                  <a:pt x="0" y="0"/>
                </a:moveTo>
                <a:lnTo>
                  <a:pt x="204590" y="0"/>
                </a:lnTo>
                <a:lnTo>
                  <a:pt x="204590" y="199986"/>
                </a:lnTo>
                <a:lnTo>
                  <a:pt x="0" y="19998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50000"/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 rot="5400000">
            <a:off x="14297354" y="6895241"/>
            <a:ext cx="204589" cy="199986"/>
          </a:xfrm>
          <a:custGeom>
            <a:avLst/>
            <a:gdLst/>
            <a:ahLst/>
            <a:cxnLst/>
            <a:rect l="l" t="t" r="r" b="b"/>
            <a:pathLst>
              <a:path w="204589" h="199986">
                <a:moveTo>
                  <a:pt x="0" y="0"/>
                </a:moveTo>
                <a:lnTo>
                  <a:pt x="204590" y="0"/>
                </a:lnTo>
                <a:lnTo>
                  <a:pt x="204590" y="199986"/>
                </a:lnTo>
                <a:lnTo>
                  <a:pt x="0" y="19998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50000"/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19">
            <a:extLst>
              <a:ext uri="{FF2B5EF4-FFF2-40B4-BE49-F238E27FC236}">
                <a16:creationId xmlns:a16="http://schemas.microsoft.com/office/drawing/2014/main" id="{6576F930-EAA3-45D1-A02A-C179FC51DEC4}"/>
              </a:ext>
            </a:extLst>
          </p:cNvPr>
          <p:cNvSpPr txBox="1"/>
          <p:nvPr/>
        </p:nvSpPr>
        <p:spPr>
          <a:xfrm>
            <a:off x="1049478" y="852838"/>
            <a:ext cx="735448" cy="734676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 marL="0" lvl="0" indent="0" algn="ctr">
              <a:lnSpc>
                <a:spcPts val="2336"/>
              </a:lnSpc>
              <a:spcBef>
                <a:spcPct val="0"/>
              </a:spcBef>
            </a:pPr>
            <a:r>
              <a:rPr lang="en-US" sz="2290" spc="-171" dirty="0">
                <a:solidFill>
                  <a:srgbClr val="F5F4F4"/>
                </a:solidFill>
                <a:latin typeface="DIN Next"/>
                <a:ea typeface="DIN Next"/>
                <a:cs typeface="DIN Next"/>
                <a:sym typeface="DIN Next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83564" y="7175870"/>
            <a:ext cx="10520872" cy="826098"/>
            <a:chOff x="0" y="0"/>
            <a:chExt cx="2164788" cy="1699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64788" cy="169979"/>
            </a:xfrm>
            <a:custGeom>
              <a:avLst/>
              <a:gdLst/>
              <a:ahLst/>
              <a:cxnLst/>
              <a:rect l="l" t="t" r="r" b="b"/>
              <a:pathLst>
                <a:path w="2164788" h="169979">
                  <a:moveTo>
                    <a:pt x="0" y="0"/>
                  </a:moveTo>
                  <a:lnTo>
                    <a:pt x="2164788" y="0"/>
                  </a:lnTo>
                  <a:lnTo>
                    <a:pt x="2164788" y="169979"/>
                  </a:lnTo>
                  <a:lnTo>
                    <a:pt x="0" y="169979"/>
                  </a:lnTo>
                  <a:close/>
                </a:path>
              </a:pathLst>
            </a:custGeom>
            <a:solidFill>
              <a:srgbClr val="B35555"/>
            </a:solidFill>
          </p:spPr>
          <p:txBody>
            <a:bodyPr>
              <a:normAutofit/>
            </a:bodyPr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164788" cy="217604"/>
            </a:xfrm>
            <a:prstGeom prst="rect">
              <a:avLst/>
            </a:prstGeom>
          </p:spPr>
          <p:txBody>
            <a:bodyPr lIns="50800" tIns="50800" rIns="50800" bIns="50800" rtlCol="0" anchor="ctr">
              <a:normAutofit/>
            </a:bodyPr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997194" y="2485057"/>
            <a:ext cx="12293611" cy="1318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ctr">
              <a:lnSpc>
                <a:spcPts val="9961"/>
              </a:lnSpc>
            </a:pPr>
            <a:r>
              <a:rPr lang="en-US" sz="9765" spc="-195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경청해주셔서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084552" y="3926882"/>
            <a:ext cx="12293611" cy="1318642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lvl="0" indent="0" algn="ctr">
              <a:lnSpc>
                <a:spcPts val="9961"/>
              </a:lnSpc>
            </a:pPr>
            <a:r>
              <a:rPr lang="en-US" sz="9765" b="1" spc="-195">
                <a:solidFill>
                  <a:srgbClr val="B35555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감사합니다.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83564" y="5902013"/>
            <a:ext cx="10520872" cy="298977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587"/>
              </a:lnSpc>
            </a:pPr>
            <a:r>
              <a:rPr lang="en-US" sz="1679" spc="-16" dirty="0" err="1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실무에</a:t>
            </a:r>
            <a:r>
              <a:rPr lang="en-US" sz="1679" spc="-16" dirty="0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679" spc="-16" dirty="0" err="1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바로</a:t>
            </a:r>
            <a:r>
              <a:rPr lang="en-US" sz="1679" spc="-16" dirty="0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679" spc="-16" dirty="0" err="1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적용할</a:t>
            </a:r>
            <a:r>
              <a:rPr lang="en-US" sz="1679" spc="-16" dirty="0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수 </a:t>
            </a:r>
            <a:r>
              <a:rPr lang="en-US" sz="1679" spc="-16" dirty="0" err="1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있는</a:t>
            </a:r>
            <a:r>
              <a:rPr lang="en-US" sz="1679" spc="-16" dirty="0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679" spc="-16" dirty="0" err="1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슬라이드</a:t>
            </a:r>
            <a:r>
              <a:rPr lang="en-US" sz="1679" spc="-16" dirty="0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679" spc="-16" dirty="0" err="1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구성법을</a:t>
            </a:r>
            <a:r>
              <a:rPr lang="en-US" sz="1679" spc="-16" dirty="0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679" spc="-16" dirty="0" err="1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소개하며</a:t>
            </a:r>
            <a:r>
              <a:rPr lang="en-US" sz="1679" spc="-16" dirty="0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, 각 </a:t>
            </a:r>
            <a:r>
              <a:rPr lang="en-US" sz="1679" spc="-16" dirty="0" err="1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슬라이드는</a:t>
            </a:r>
            <a:r>
              <a:rPr lang="en-US" sz="1679" spc="-16" dirty="0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679" spc="-16" dirty="0" err="1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실제</a:t>
            </a:r>
            <a:r>
              <a:rPr lang="en-US" sz="1679" spc="-16" dirty="0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679" spc="-16" dirty="0" err="1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시각적</a:t>
            </a:r>
            <a:r>
              <a:rPr lang="en-US" sz="1679" spc="-16" dirty="0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679" spc="-16" dirty="0" err="1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배치를</a:t>
            </a:r>
            <a:r>
              <a:rPr lang="en-US" sz="1679" spc="-16" dirty="0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679" spc="-16" dirty="0" err="1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예시로</a:t>
            </a:r>
            <a:r>
              <a:rPr lang="en-US" sz="1679" spc="-16" dirty="0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679" spc="-16" dirty="0" err="1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보여줍니다</a:t>
            </a:r>
            <a:r>
              <a:rPr lang="en-US" sz="1679" spc="-16" dirty="0">
                <a:solidFill>
                  <a:srgbClr val="333333">
                    <a:alpha val="45882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.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00010" y="5427293"/>
            <a:ext cx="7287980" cy="35089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825"/>
              </a:lnSpc>
            </a:pPr>
            <a:r>
              <a:rPr lang="en-US" sz="2156" b="1" spc="-88" dirty="0" err="1">
                <a:solidFill>
                  <a:srgbClr val="333333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쉽게</a:t>
            </a:r>
            <a:r>
              <a:rPr lang="en-US" sz="2156" b="1" spc="-88" dirty="0">
                <a:solidFill>
                  <a:srgbClr val="333333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2156" b="1" spc="-88" dirty="0" err="1">
                <a:solidFill>
                  <a:srgbClr val="333333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따라</a:t>
            </a:r>
            <a:r>
              <a:rPr lang="en-US" sz="2156" b="1" spc="-88" dirty="0">
                <a:solidFill>
                  <a:srgbClr val="333333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할 수 </a:t>
            </a:r>
            <a:r>
              <a:rPr lang="en-US" sz="2156" b="1" spc="-88" dirty="0" err="1">
                <a:solidFill>
                  <a:srgbClr val="333333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있는</a:t>
            </a:r>
            <a:r>
              <a:rPr lang="en-US" sz="2156" b="1" spc="-88" dirty="0">
                <a:solidFill>
                  <a:srgbClr val="333333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2156" b="1" spc="-88">
                <a:solidFill>
                  <a:srgbClr val="333333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다양한 </a:t>
            </a:r>
            <a:r>
              <a:rPr lang="en-US" sz="2156" b="1" spc="-88" dirty="0" err="1">
                <a:solidFill>
                  <a:srgbClr val="333333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레이아웃</a:t>
            </a:r>
            <a:r>
              <a:rPr lang="en-US" sz="2156" b="1" spc="-88" dirty="0">
                <a:solidFill>
                  <a:srgbClr val="333333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2156" b="1" spc="-88" dirty="0" err="1">
                <a:solidFill>
                  <a:srgbClr val="333333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가이드</a:t>
            </a:r>
            <a:endParaRPr lang="en-US" sz="2156" b="1" spc="-88" dirty="0">
              <a:solidFill>
                <a:srgbClr val="333333">
                  <a:alpha val="93725"/>
                </a:srgbClr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849201" y="7425302"/>
            <a:ext cx="1843297" cy="28913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358"/>
              </a:lnSpc>
            </a:pPr>
            <a:r>
              <a:rPr lang="en-US" sz="1800" spc="-36" dirty="0" err="1">
                <a:solidFill>
                  <a:srgbClr val="F5F4F4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마케팅</a:t>
            </a:r>
            <a:r>
              <a:rPr lang="en-US" sz="1800" spc="-36" dirty="0">
                <a:solidFill>
                  <a:srgbClr val="F5F4F4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 1팀 </a:t>
            </a:r>
            <a:r>
              <a:rPr lang="en-US" sz="1800" spc="-36" dirty="0" err="1">
                <a:solidFill>
                  <a:srgbClr val="F5F4F4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이수진</a:t>
            </a:r>
            <a:endParaRPr lang="en-US" sz="1800" spc="-36" dirty="0">
              <a:solidFill>
                <a:srgbClr val="F5F4F4"/>
              </a:solidFill>
              <a:latin typeface="JASO Sans Light"/>
              <a:ea typeface="JASO Sans Light"/>
              <a:cs typeface="JASO Sans Light"/>
              <a:sym typeface="JASO Sans Ligh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223984" y="7425302"/>
            <a:ext cx="1843297" cy="28913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2358"/>
              </a:lnSpc>
            </a:pPr>
            <a:r>
              <a:rPr lang="en-US" sz="1800" spc="-36" dirty="0">
                <a:solidFill>
                  <a:srgbClr val="F5F4F4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2060.06.29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15035" y="7521970"/>
            <a:ext cx="3038051" cy="162473"/>
          </a:xfrm>
          <a:prstGeom prst="rect">
            <a:avLst/>
          </a:prstGeom>
        </p:spPr>
        <p:txBody>
          <a:bodyPr lIns="0" tIns="0" rIns="0" bIns="0" rtlCol="0" anchor="t">
            <a:normAutofit fontScale="92500"/>
          </a:bodyPr>
          <a:lstStyle/>
          <a:p>
            <a:pPr algn="ctr">
              <a:lnSpc>
                <a:spcPts val="1187"/>
              </a:lnSpc>
            </a:pPr>
            <a:r>
              <a:rPr lang="en-US" sz="1430" spc="42" dirty="0">
                <a:solidFill>
                  <a:srgbClr val="F5F4F4"/>
                </a:solidFill>
                <a:latin typeface="Poppins Light"/>
                <a:ea typeface="Poppins Light"/>
                <a:cs typeface="Poppins Light"/>
                <a:sym typeface="Poppins Light"/>
              </a:rPr>
              <a:t>hello@reallygreatsite.com</a:t>
            </a:r>
          </a:p>
        </p:txBody>
      </p:sp>
      <p:sp>
        <p:nvSpPr>
          <p:cNvPr id="12" name="AutoShape 12"/>
          <p:cNvSpPr/>
          <p:nvPr/>
        </p:nvSpPr>
        <p:spPr>
          <a:xfrm flipV="1">
            <a:off x="7485796" y="7398014"/>
            <a:ext cx="0" cy="381811"/>
          </a:xfrm>
          <a:prstGeom prst="line">
            <a:avLst/>
          </a:prstGeom>
          <a:ln w="9525" cap="rnd">
            <a:solidFill>
              <a:srgbClr val="F5F4F4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>
            <a:normAutofit fontScale="25000" lnSpcReduction="20000"/>
          </a:bodyPr>
          <a:lstStyle/>
          <a:p>
            <a:endParaRPr lang="ko-KR" altLang="en-US"/>
          </a:p>
        </p:txBody>
      </p:sp>
      <p:sp>
        <p:nvSpPr>
          <p:cNvPr id="13" name="AutoShape 13"/>
          <p:cNvSpPr/>
          <p:nvPr/>
        </p:nvSpPr>
        <p:spPr>
          <a:xfrm flipV="1">
            <a:off x="10803816" y="7398014"/>
            <a:ext cx="0" cy="381811"/>
          </a:xfrm>
          <a:prstGeom prst="line">
            <a:avLst/>
          </a:prstGeom>
          <a:ln w="9525" cap="rnd">
            <a:solidFill>
              <a:srgbClr val="F5F4F4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>
            <a:normAutofit fontScale="25000" lnSpcReduction="20000"/>
          </a:bodyPr>
          <a:lstStyle/>
          <a:p>
            <a:endParaRPr lang="ko-KR" alt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5043432" y="485661"/>
            <a:ext cx="2795067" cy="240203"/>
            <a:chOff x="0" y="0"/>
            <a:chExt cx="3726756" cy="320271"/>
          </a:xfrm>
        </p:grpSpPr>
        <p:sp>
          <p:nvSpPr>
            <p:cNvPr id="15" name="Freeform 15"/>
            <p:cNvSpPr/>
            <p:nvPr/>
          </p:nvSpPr>
          <p:spPr>
            <a:xfrm>
              <a:off x="1679974" y="2970"/>
              <a:ext cx="225532" cy="314331"/>
            </a:xfrm>
            <a:custGeom>
              <a:avLst/>
              <a:gdLst/>
              <a:ahLst/>
              <a:cxnLst/>
              <a:rect l="l" t="t" r="r" b="b"/>
              <a:pathLst>
                <a:path w="225532" h="314331">
                  <a:moveTo>
                    <a:pt x="0" y="0"/>
                  </a:moveTo>
                  <a:lnTo>
                    <a:pt x="225532" y="0"/>
                  </a:lnTo>
                  <a:lnTo>
                    <a:pt x="225532" y="314331"/>
                  </a:lnTo>
                  <a:lnTo>
                    <a:pt x="0" y="314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6" name="Freeform 16"/>
            <p:cNvSpPr/>
            <p:nvPr/>
          </p:nvSpPr>
          <p:spPr>
            <a:xfrm>
              <a:off x="1106158" y="11191"/>
              <a:ext cx="287090" cy="297888"/>
            </a:xfrm>
            <a:custGeom>
              <a:avLst/>
              <a:gdLst/>
              <a:ahLst/>
              <a:cxnLst/>
              <a:rect l="l" t="t" r="r" b="b"/>
              <a:pathLst>
                <a:path w="287090" h="297888">
                  <a:moveTo>
                    <a:pt x="0" y="0"/>
                  </a:moveTo>
                  <a:lnTo>
                    <a:pt x="287090" y="0"/>
                  </a:lnTo>
                  <a:lnTo>
                    <a:pt x="287090" y="297888"/>
                  </a:lnTo>
                  <a:lnTo>
                    <a:pt x="0" y="297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7" name="Freeform 17"/>
            <p:cNvSpPr/>
            <p:nvPr/>
          </p:nvSpPr>
          <p:spPr>
            <a:xfrm>
              <a:off x="2172206" y="0"/>
              <a:ext cx="321880" cy="320271"/>
            </a:xfrm>
            <a:custGeom>
              <a:avLst/>
              <a:gdLst/>
              <a:ahLst/>
              <a:cxnLst/>
              <a:rect l="l" t="t" r="r" b="b"/>
              <a:pathLst>
                <a:path w="321880" h="320271">
                  <a:moveTo>
                    <a:pt x="0" y="0"/>
                  </a:moveTo>
                  <a:lnTo>
                    <a:pt x="321880" y="0"/>
                  </a:lnTo>
                  <a:lnTo>
                    <a:pt x="321880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3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8" name="Freeform 18"/>
            <p:cNvSpPr/>
            <p:nvPr/>
          </p:nvSpPr>
          <p:spPr>
            <a:xfrm>
              <a:off x="2755412" y="0"/>
              <a:ext cx="320271" cy="320271"/>
            </a:xfrm>
            <a:custGeom>
              <a:avLst/>
              <a:gdLst/>
              <a:ahLst/>
              <a:cxnLst/>
              <a:rect l="l" t="t" r="r" b="b"/>
              <a:pathLst>
                <a:path w="320271" h="320271">
                  <a:moveTo>
                    <a:pt x="0" y="0"/>
                  </a:moveTo>
                  <a:lnTo>
                    <a:pt x="320271" y="0"/>
                  </a:lnTo>
                  <a:lnTo>
                    <a:pt x="320271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30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9" name="Freeform 19"/>
            <p:cNvSpPr/>
            <p:nvPr/>
          </p:nvSpPr>
          <p:spPr>
            <a:xfrm rot="-5400000">
              <a:off x="3465879" y="-52825"/>
              <a:ext cx="95832" cy="425921"/>
            </a:xfrm>
            <a:custGeom>
              <a:avLst/>
              <a:gdLst/>
              <a:ahLst/>
              <a:cxnLst/>
              <a:rect l="l" t="t" r="r" b="b"/>
              <a:pathLst>
                <a:path w="95832" h="425921">
                  <a:moveTo>
                    <a:pt x="0" y="0"/>
                  </a:moveTo>
                  <a:lnTo>
                    <a:pt x="95832" y="0"/>
                  </a:lnTo>
                  <a:lnTo>
                    <a:pt x="95832" y="425921"/>
                  </a:lnTo>
                  <a:lnTo>
                    <a:pt x="0" y="425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30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0" name="Freeform 20"/>
            <p:cNvSpPr/>
            <p:nvPr/>
          </p:nvSpPr>
          <p:spPr>
            <a:xfrm>
              <a:off x="0" y="14822"/>
              <a:ext cx="283522" cy="287839"/>
            </a:xfrm>
            <a:custGeom>
              <a:avLst/>
              <a:gdLst/>
              <a:ahLst/>
              <a:cxnLst/>
              <a:rect l="l" t="t" r="r" b="b"/>
              <a:pathLst>
                <a:path w="283522" h="287839">
                  <a:moveTo>
                    <a:pt x="0" y="0"/>
                  </a:moveTo>
                  <a:lnTo>
                    <a:pt x="283522" y="0"/>
                  </a:lnTo>
                  <a:lnTo>
                    <a:pt x="283522" y="287839"/>
                  </a:lnTo>
                  <a:lnTo>
                    <a:pt x="0" y="287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30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537522" y="2970"/>
              <a:ext cx="314636" cy="299691"/>
            </a:xfrm>
            <a:custGeom>
              <a:avLst/>
              <a:gdLst/>
              <a:ahLst/>
              <a:cxnLst/>
              <a:rect l="l" t="t" r="r" b="b"/>
              <a:pathLst>
                <a:path w="314636" h="299691">
                  <a:moveTo>
                    <a:pt x="0" y="0"/>
                  </a:moveTo>
                  <a:lnTo>
                    <a:pt x="314636" y="0"/>
                  </a:lnTo>
                  <a:lnTo>
                    <a:pt x="314636" y="299691"/>
                  </a:lnTo>
                  <a:lnTo>
                    <a:pt x="0" y="299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30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1156</Words>
  <Application>Microsoft Office PowerPoint</Application>
  <PresentationFormat>사용자 지정</PresentationFormat>
  <Paragraphs>174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6" baseType="lpstr">
      <vt:lpstr>JASO Sans Heavy</vt:lpstr>
      <vt:lpstr>Poppins Light</vt:lpstr>
      <vt:lpstr>JASO Sans Bold</vt:lpstr>
      <vt:lpstr>JASO Sans</vt:lpstr>
      <vt:lpstr>DIN Next</vt:lpstr>
      <vt:lpstr>Poppins Semi-Bold</vt:lpstr>
      <vt:lpstr>Arial</vt:lpstr>
      <vt:lpstr>Poppins Bold</vt:lpstr>
      <vt:lpstr>Calibri</vt:lpstr>
      <vt:lpstr>JASO Sans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빨간색과 아이보리 깔끔한 비즈니스 기획서 발표 보고서 PPT 디자인 레이아웃 템플릿 프레젠테이션</dc:title>
  <cp:lastModifiedBy>CloudDX</cp:lastModifiedBy>
  <cp:revision>10</cp:revision>
  <dcterms:created xsi:type="dcterms:W3CDTF">2006-08-16T00:00:00Z</dcterms:created>
  <dcterms:modified xsi:type="dcterms:W3CDTF">2026-08-18T03:07:49Z</dcterms:modified>
  <dc:identifier>DAHSDvoUxII</dc:identifier>
</cp:coreProperties>
</file>