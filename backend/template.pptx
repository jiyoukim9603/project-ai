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JASO Sans" panose="020B0600000101010101" charset="-127"/>
      <p:regular r:id="rId17"/>
    </p:embeddedFont>
    <p:embeddedFont>
      <p:font typeface="JASO Sans Bold" panose="020B0600000101010101" charset="-127"/>
      <p:regular r:id="rId18"/>
    </p:embeddedFont>
    <p:embeddedFont>
      <p:font typeface="JASO Sans Heavy" panose="020B0600000101010101" charset="-127"/>
      <p:regular r:id="rId19"/>
    </p:embeddedFont>
    <p:embeddedFont>
      <p:font typeface="JASO Sans Light" panose="020B0600000101010101" charset="-127"/>
      <p:regular r:id="rId20"/>
    </p:embeddedFont>
    <p:embeddedFont>
      <p:font typeface="Calibri" panose="020F0502020204030204" pitchFamily="34" charset="0"/>
      <p:regular r:id="rId21"/>
      <p:bold r:id="rId22"/>
      <p:italic r:id="rId23"/>
      <p:boldItalic r:id="rId24"/>
    </p:embeddedFont>
    <p:embeddedFont>
      <p:font typeface="DIN Next" panose="020B0600000101010101" charset="0"/>
      <p:regular r:id="rId25"/>
    </p:embeddedFont>
    <p:embeddedFont>
      <p:font typeface="Poppins Bold" panose="020B0600000101010101" charset="0"/>
      <p:regular r:id="rId26"/>
    </p:embeddedFont>
    <p:embeddedFont>
      <p:font typeface="Poppins Light" panose="00000400000000000000" pitchFamily="2" charset="0"/>
      <p:regular r:id="rId27"/>
      <p:italic r:id="rId28"/>
    </p:embeddedFont>
    <p:embeddedFont>
      <p:font typeface="Poppins Semi-Bold" panose="020B0600000101010101"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2" autoAdjust="0"/>
    <p:restoredTop sz="94622" autoAdjust="0"/>
  </p:normalViewPr>
  <p:slideViewPr>
    <p:cSldViewPr>
      <p:cViewPr varScale="1">
        <p:scale>
          <a:sx n="69" d="100"/>
          <a:sy n="69" d="100"/>
        </p:scale>
        <p:origin x="114" y="1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9.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8.jpeg"/><Relationship Id="rId2" Type="http://schemas.openxmlformats.org/officeDocument/2006/relationships/image" Target="../media/image1.png"/><Relationship Id="rId16"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1.svg"/><Relationship Id="rId2" Type="http://schemas.openxmlformats.org/officeDocument/2006/relationships/image" Target="../media/image1.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24.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3.svg"/><Relationship Id="rId2" Type="http://schemas.openxmlformats.org/officeDocument/2006/relationships/image" Target="../media/image1.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25.jpe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28.png"/><Relationship Id="rId3" Type="http://schemas.openxmlformats.org/officeDocument/2006/relationships/image" Target="../media/image2.svg"/><Relationship Id="rId21" Type="http://schemas.openxmlformats.org/officeDocument/2006/relationships/image" Target="../media/image31.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7.svg"/><Relationship Id="rId25" Type="http://schemas.openxmlformats.org/officeDocument/2006/relationships/image" Target="../media/image33.svg"/><Relationship Id="rId2" Type="http://schemas.openxmlformats.org/officeDocument/2006/relationships/image" Target="../media/image1.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32.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3.svg"/><Relationship Id="rId10" Type="http://schemas.openxmlformats.org/officeDocument/2006/relationships/image" Target="../media/image9.png"/><Relationship Id="rId19" Type="http://schemas.openxmlformats.org/officeDocument/2006/relationships/image" Target="../media/image29.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1.svg"/><Relationship Id="rId2" Type="http://schemas.openxmlformats.org/officeDocument/2006/relationships/image" Target="../media/image1.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35.svg"/><Relationship Id="rId2" Type="http://schemas.openxmlformats.org/officeDocument/2006/relationships/image" Target="../media/image1.png"/><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37.jpe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4.jpeg"/><Relationship Id="rId2" Type="http://schemas.openxmlformats.org/officeDocument/2006/relationships/image" Target="../media/image1.png"/><Relationship Id="rId16"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40.png"/><Relationship Id="rId3" Type="http://schemas.openxmlformats.org/officeDocument/2006/relationships/image" Target="../media/image2.svg"/><Relationship Id="rId21" Type="http://schemas.openxmlformats.org/officeDocument/2006/relationships/image" Target="../media/image29.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39.svg"/><Relationship Id="rId2" Type="http://schemas.openxmlformats.org/officeDocument/2006/relationships/image" Target="../media/image1.png"/><Relationship Id="rId16" Type="http://schemas.openxmlformats.org/officeDocument/2006/relationships/image" Target="../media/image38.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43.svg"/><Relationship Id="rId10" Type="http://schemas.openxmlformats.org/officeDocument/2006/relationships/image" Target="../media/image9.png"/><Relationship Id="rId19" Type="http://schemas.openxmlformats.org/officeDocument/2006/relationships/image" Target="../media/image41.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46.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47.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21.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0.png"/><Relationship Id="rId2" Type="http://schemas.openxmlformats.org/officeDocument/2006/relationships/image" Target="../media/image1.png"/><Relationship Id="rId16"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3.svg"/><Relationship Id="rId2" Type="http://schemas.openxmlformats.org/officeDocument/2006/relationships/image" Target="../media/image1.png"/><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49.png"/><Relationship Id="rId3" Type="http://schemas.openxmlformats.org/officeDocument/2006/relationships/image" Target="../media/image2.svg"/><Relationship Id="rId21" Type="http://schemas.openxmlformats.org/officeDocument/2006/relationships/image" Target="../media/image31.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29.svg"/><Relationship Id="rId2" Type="http://schemas.openxmlformats.org/officeDocument/2006/relationships/image" Target="../media/image1.png"/><Relationship Id="rId16" Type="http://schemas.openxmlformats.org/officeDocument/2006/relationships/image" Target="../media/image28.png"/><Relationship Id="rId20"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52.svg"/><Relationship Id="rId10" Type="http://schemas.openxmlformats.org/officeDocument/2006/relationships/image" Target="../media/image9.png"/><Relationship Id="rId19" Type="http://schemas.openxmlformats.org/officeDocument/2006/relationships/image" Target="../media/image50.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51.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3883564" y="7175870"/>
            <a:ext cx="10520872" cy="826098"/>
            <a:chOff x="0" y="0"/>
            <a:chExt cx="2164788" cy="169979"/>
          </a:xfrm>
        </p:grpSpPr>
        <p:sp>
          <p:nvSpPr>
            <p:cNvPr id="3" name="Freeform 3"/>
            <p:cNvSpPr/>
            <p:nvPr/>
          </p:nvSpPr>
          <p:spPr>
            <a:xfrm>
              <a:off x="0" y="0"/>
              <a:ext cx="2164788" cy="169979"/>
            </a:xfrm>
            <a:custGeom>
              <a:avLst/>
              <a:gdLst/>
              <a:ahLst/>
              <a:cxnLst/>
              <a:rect l="l" t="t" r="r" b="b"/>
              <a:pathLst>
                <a:path w="2164788" h="169979">
                  <a:moveTo>
                    <a:pt x="0" y="0"/>
                  </a:moveTo>
                  <a:lnTo>
                    <a:pt x="2164788" y="0"/>
                  </a:lnTo>
                  <a:lnTo>
                    <a:pt x="2164788" y="169979"/>
                  </a:lnTo>
                  <a:lnTo>
                    <a:pt x="0" y="169979"/>
                  </a:lnTo>
                  <a:close/>
                </a:path>
              </a:pathLst>
            </a:custGeom>
            <a:solidFill>
              <a:srgbClr val="B35555"/>
            </a:solidFill>
          </p:spPr>
        </p:sp>
        <p:sp>
          <p:nvSpPr>
            <p:cNvPr id="4" name="TextBox 4"/>
            <p:cNvSpPr txBox="1"/>
            <p:nvPr/>
          </p:nvSpPr>
          <p:spPr>
            <a:xfrm>
              <a:off x="0" y="-47625"/>
              <a:ext cx="2164788" cy="217604"/>
            </a:xfrm>
            <a:prstGeom prst="rect">
              <a:avLst/>
            </a:prstGeom>
          </p:spPr>
          <p:txBody>
            <a:bodyPr lIns="50800" tIns="50800" rIns="50800" bIns="50800" rtlCol="0" anchor="ctr"/>
            <a:lstStyle/>
            <a:p>
              <a:pPr algn="ctr">
                <a:lnSpc>
                  <a:spcPts val="2587"/>
                </a:lnSpc>
              </a:pPr>
              <a:endParaRPr/>
            </a:p>
          </p:txBody>
        </p:sp>
      </p:grpSp>
      <p:sp>
        <p:nvSpPr>
          <p:cNvPr id="5" name="TextBox 5"/>
          <p:cNvSpPr txBox="1"/>
          <p:nvPr/>
        </p:nvSpPr>
        <p:spPr>
          <a:xfrm>
            <a:off x="2997194" y="2485057"/>
            <a:ext cx="12293611" cy="1318000"/>
          </a:xfrm>
          <a:prstGeom prst="rect">
            <a:avLst/>
          </a:prstGeom>
        </p:spPr>
        <p:txBody>
          <a:bodyPr lIns="0" tIns="0" rIns="0" bIns="0" rtlCol="0" anchor="t">
            <a:normAutofit/>
          </a:bodyPr>
          <a:lstStyle/>
          <a:p>
            <a:pPr marL="0" lvl="0" indent="0" algn="ctr">
              <a:lnSpc>
                <a:spcPts val="9961"/>
              </a:lnSpc>
            </a:pPr>
            <a:r>
              <a:rPr lang="en-US" sz="9765" spc="-195" dirty="0" err="1">
                <a:solidFill>
                  <a:srgbClr val="333333"/>
                </a:solidFill>
                <a:latin typeface="JASO Sans"/>
                <a:ea typeface="JASO Sans"/>
                <a:cs typeface="JASO Sans"/>
                <a:sym typeface="JASO Sans"/>
              </a:rPr>
              <a:t>심플하고</a:t>
            </a:r>
            <a:r>
              <a:rPr lang="en-US" sz="9765" spc="-195" dirty="0">
                <a:solidFill>
                  <a:srgbClr val="333333"/>
                </a:solidFill>
                <a:latin typeface="JASO Sans"/>
                <a:ea typeface="JASO Sans"/>
                <a:cs typeface="JASO Sans"/>
                <a:sym typeface="JASO Sans"/>
              </a:rPr>
              <a:t> </a:t>
            </a:r>
            <a:r>
              <a:rPr lang="en-US" sz="9765" spc="-195" dirty="0" err="1">
                <a:solidFill>
                  <a:srgbClr val="333333"/>
                </a:solidFill>
                <a:latin typeface="JASO Sans"/>
                <a:ea typeface="JASO Sans"/>
                <a:cs typeface="JASO Sans"/>
                <a:sym typeface="JASO Sans"/>
              </a:rPr>
              <a:t>간결한</a:t>
            </a:r>
            <a:endParaRPr lang="en-US" sz="9765" spc="-195" dirty="0">
              <a:solidFill>
                <a:srgbClr val="333333"/>
              </a:solidFill>
              <a:latin typeface="JASO Sans"/>
              <a:ea typeface="JASO Sans"/>
              <a:cs typeface="JASO Sans"/>
              <a:sym typeface="JASO Sans"/>
            </a:endParaRPr>
          </a:p>
        </p:txBody>
      </p:sp>
      <p:sp>
        <p:nvSpPr>
          <p:cNvPr id="6" name="TextBox 6"/>
          <p:cNvSpPr txBox="1"/>
          <p:nvPr/>
        </p:nvSpPr>
        <p:spPr>
          <a:xfrm>
            <a:off x="2997194" y="3780442"/>
            <a:ext cx="12293611" cy="1537100"/>
          </a:xfrm>
          <a:prstGeom prst="rect">
            <a:avLst/>
          </a:prstGeom>
        </p:spPr>
        <p:txBody>
          <a:bodyPr lIns="0" tIns="0" rIns="0" bIns="0" rtlCol="0" anchor="t">
            <a:normAutofit/>
          </a:bodyPr>
          <a:lstStyle/>
          <a:p>
            <a:pPr marL="0" lvl="0" indent="0" algn="ctr">
              <a:lnSpc>
                <a:spcPts val="11634"/>
              </a:lnSpc>
            </a:pPr>
            <a:r>
              <a:rPr lang="en-US" sz="11406" b="1" dirty="0">
                <a:solidFill>
                  <a:srgbClr val="B35555"/>
                </a:solidFill>
                <a:latin typeface="JASO Sans Heavy"/>
                <a:ea typeface="JASO Sans Heavy"/>
                <a:cs typeface="JASO Sans Heavy"/>
                <a:sym typeface="JASO Sans Heavy"/>
              </a:rPr>
              <a:t>Presentation</a:t>
            </a:r>
          </a:p>
        </p:txBody>
      </p:sp>
      <p:sp>
        <p:nvSpPr>
          <p:cNvPr id="7" name="TextBox 7"/>
          <p:cNvSpPr txBox="1"/>
          <p:nvPr/>
        </p:nvSpPr>
        <p:spPr>
          <a:xfrm>
            <a:off x="3883564" y="5902013"/>
            <a:ext cx="10520872" cy="298977"/>
          </a:xfrm>
          <a:prstGeom prst="rect">
            <a:avLst/>
          </a:prstGeom>
        </p:spPr>
        <p:txBody>
          <a:bodyPr lIns="0" tIns="0" rIns="0" bIns="0" rtlCol="0" anchor="t">
            <a:spAutoFit/>
          </a:bodyPr>
          <a:lstStyle/>
          <a:p>
            <a:pPr algn="ctr">
              <a:lnSpc>
                <a:spcPts val="2587"/>
              </a:lnSpc>
            </a:pPr>
            <a:r>
              <a:rPr lang="en-US" sz="1679" spc="-16">
                <a:solidFill>
                  <a:srgbClr val="333333">
                    <a:alpha val="45882"/>
                  </a:srgbClr>
                </a:solidFill>
                <a:latin typeface="JASO Sans"/>
                <a:ea typeface="JASO Sans"/>
                <a:cs typeface="JASO Sans"/>
                <a:sym typeface="JASO Sans"/>
              </a:rPr>
              <a:t>실무에 바로 적용할 수 있는 슬라이드 구성법을 소개하며, 각 슬라이드는 실제 시각적 배치를 예시로 보여줍니다. </a:t>
            </a:r>
          </a:p>
        </p:txBody>
      </p:sp>
      <p:sp>
        <p:nvSpPr>
          <p:cNvPr id="8" name="TextBox 8"/>
          <p:cNvSpPr txBox="1"/>
          <p:nvPr/>
        </p:nvSpPr>
        <p:spPr>
          <a:xfrm>
            <a:off x="5500010" y="5427293"/>
            <a:ext cx="7287980" cy="350895"/>
          </a:xfrm>
          <a:prstGeom prst="rect">
            <a:avLst/>
          </a:prstGeom>
        </p:spPr>
        <p:txBody>
          <a:bodyPr lIns="0" tIns="0" rIns="0" bIns="0" rtlCol="0" anchor="t">
            <a:spAutoFit/>
          </a:bodyPr>
          <a:lstStyle/>
          <a:p>
            <a:pPr algn="ctr">
              <a:lnSpc>
                <a:spcPts val="2825"/>
              </a:lnSpc>
            </a:pPr>
            <a:r>
              <a:rPr lang="en-US" sz="2156" b="1" spc="-88">
                <a:solidFill>
                  <a:srgbClr val="333333">
                    <a:alpha val="93725"/>
                  </a:srgbClr>
                </a:solidFill>
                <a:latin typeface="JASO Sans Bold"/>
                <a:ea typeface="JASO Sans Bold"/>
                <a:cs typeface="JASO Sans Bold"/>
                <a:sym typeface="JASO Sans Bold"/>
              </a:rPr>
              <a:t>쉽게 따라 할 수 있는 다양한 레이아웃 가이드</a:t>
            </a:r>
          </a:p>
        </p:txBody>
      </p:sp>
      <p:sp>
        <p:nvSpPr>
          <p:cNvPr id="9" name="TextBox 9"/>
          <p:cNvSpPr txBox="1"/>
          <p:nvPr/>
        </p:nvSpPr>
        <p:spPr>
          <a:xfrm>
            <a:off x="4849201" y="7425302"/>
            <a:ext cx="1843297" cy="289135"/>
          </a:xfrm>
          <a:prstGeom prst="rect">
            <a:avLst/>
          </a:prstGeom>
        </p:spPr>
        <p:txBody>
          <a:bodyPr lIns="0" tIns="0" rIns="0" bIns="0" rtlCol="0" anchor="t">
            <a:spAutoFit/>
          </a:bodyPr>
          <a:lstStyle/>
          <a:p>
            <a:pPr algn="ctr">
              <a:lnSpc>
                <a:spcPts val="2358"/>
              </a:lnSpc>
            </a:pPr>
            <a:r>
              <a:rPr lang="en-US" sz="1800" spc="-36">
                <a:solidFill>
                  <a:srgbClr val="F5F4F4"/>
                </a:solidFill>
                <a:latin typeface="JASO Sans Light"/>
                <a:ea typeface="JASO Sans Light"/>
                <a:cs typeface="JASO Sans Light"/>
                <a:sym typeface="JASO Sans Light"/>
              </a:rPr>
              <a:t>마케팅 1팀 이수진</a:t>
            </a:r>
          </a:p>
        </p:txBody>
      </p:sp>
      <p:sp>
        <p:nvSpPr>
          <p:cNvPr id="10" name="TextBox 10"/>
          <p:cNvSpPr txBox="1"/>
          <p:nvPr/>
        </p:nvSpPr>
        <p:spPr>
          <a:xfrm>
            <a:off x="8223984" y="7425302"/>
            <a:ext cx="1843297" cy="289135"/>
          </a:xfrm>
          <a:prstGeom prst="rect">
            <a:avLst/>
          </a:prstGeom>
        </p:spPr>
        <p:txBody>
          <a:bodyPr lIns="0" tIns="0" rIns="0" bIns="0" rtlCol="0" anchor="t">
            <a:spAutoFit/>
          </a:bodyPr>
          <a:lstStyle/>
          <a:p>
            <a:pPr algn="ctr">
              <a:lnSpc>
                <a:spcPts val="2358"/>
              </a:lnSpc>
            </a:pPr>
            <a:r>
              <a:rPr lang="en-US" sz="1800" spc="-36">
                <a:solidFill>
                  <a:srgbClr val="F5F4F4"/>
                </a:solidFill>
                <a:latin typeface="JASO Sans Light"/>
                <a:ea typeface="JASO Sans Light"/>
                <a:cs typeface="JASO Sans Light"/>
                <a:sym typeface="JASO Sans Light"/>
              </a:rPr>
              <a:t>2060.06.29</a:t>
            </a:r>
          </a:p>
        </p:txBody>
      </p:sp>
      <p:sp>
        <p:nvSpPr>
          <p:cNvPr id="11" name="TextBox 11"/>
          <p:cNvSpPr txBox="1"/>
          <p:nvPr/>
        </p:nvSpPr>
        <p:spPr>
          <a:xfrm>
            <a:off x="11015035" y="7521970"/>
            <a:ext cx="3038051" cy="162473"/>
          </a:xfrm>
          <a:prstGeom prst="rect">
            <a:avLst/>
          </a:prstGeom>
        </p:spPr>
        <p:txBody>
          <a:bodyPr lIns="0" tIns="0" rIns="0" bIns="0" rtlCol="0" anchor="t">
            <a:spAutoFit/>
          </a:bodyPr>
          <a:lstStyle/>
          <a:p>
            <a:pPr algn="ctr">
              <a:lnSpc>
                <a:spcPts val="1187"/>
              </a:lnSpc>
            </a:pPr>
            <a:r>
              <a:rPr lang="en-US" sz="1430" spc="42">
                <a:solidFill>
                  <a:srgbClr val="F5F4F4"/>
                </a:solidFill>
                <a:latin typeface="Poppins Light"/>
                <a:ea typeface="Poppins Light"/>
                <a:cs typeface="Poppins Light"/>
                <a:sym typeface="Poppins Light"/>
              </a:rPr>
              <a:t>hello@reallygreatsite.com</a:t>
            </a:r>
          </a:p>
        </p:txBody>
      </p:sp>
      <p:sp>
        <p:nvSpPr>
          <p:cNvPr id="12" name="AutoShape 12"/>
          <p:cNvSpPr/>
          <p:nvPr/>
        </p:nvSpPr>
        <p:spPr>
          <a:xfrm flipV="1">
            <a:off x="7485796" y="7398014"/>
            <a:ext cx="0" cy="381811"/>
          </a:xfrm>
          <a:prstGeom prst="line">
            <a:avLst/>
          </a:prstGeom>
          <a:ln w="9525" cap="rnd">
            <a:solidFill>
              <a:srgbClr val="F5F4F4">
                <a:alpha val="49804"/>
              </a:srgbClr>
            </a:solidFill>
            <a:prstDash val="solid"/>
            <a:headEnd type="none" w="sm" len="sm"/>
            <a:tailEnd type="none" w="sm" len="sm"/>
          </a:ln>
        </p:spPr>
      </p:sp>
      <p:sp>
        <p:nvSpPr>
          <p:cNvPr id="13" name="AutoShape 13"/>
          <p:cNvSpPr/>
          <p:nvPr/>
        </p:nvSpPr>
        <p:spPr>
          <a:xfrm flipV="1">
            <a:off x="10803816" y="7398014"/>
            <a:ext cx="0" cy="381811"/>
          </a:xfrm>
          <a:prstGeom prst="line">
            <a:avLst/>
          </a:prstGeom>
          <a:ln w="9525" cap="rnd">
            <a:solidFill>
              <a:srgbClr val="F5F4F4">
                <a:alpha val="49804"/>
              </a:srgbClr>
            </a:solidFill>
            <a:prstDash val="solid"/>
            <a:headEnd type="none" w="sm" len="sm"/>
            <a:tailEnd type="none" w="sm" len="sm"/>
          </a:ln>
        </p:spPr>
      </p:sp>
      <p:grpSp>
        <p:nvGrpSpPr>
          <p:cNvPr id="14" name="Group 14"/>
          <p:cNvGrpSpPr/>
          <p:nvPr/>
        </p:nvGrpSpPr>
        <p:grpSpPr>
          <a:xfrm>
            <a:off x="15043432" y="485661"/>
            <a:ext cx="2795067" cy="240203"/>
            <a:chOff x="0" y="0"/>
            <a:chExt cx="3726756" cy="320271"/>
          </a:xfrm>
        </p:grpSpPr>
        <p:sp>
          <p:nvSpPr>
            <p:cNvPr id="15" name="Freeform 15"/>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16" name="Freeform 16"/>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17" name="Freeform 17"/>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18" name="Freeform 18"/>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19" name="Freeform 19"/>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20" name="Freeform 20"/>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21" name="Freeform 21"/>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AutoShape 17"/>
          <p:cNvSpPr/>
          <p:nvPr/>
        </p:nvSpPr>
        <p:spPr>
          <a:xfrm>
            <a:off x="9139238" y="4762500"/>
            <a:ext cx="0" cy="4016516"/>
          </a:xfrm>
          <a:prstGeom prst="line">
            <a:avLst/>
          </a:prstGeom>
          <a:ln w="9525" cap="rnd">
            <a:solidFill>
              <a:srgbClr val="222222">
                <a:alpha val="29804"/>
              </a:srgbClr>
            </a:solidFill>
            <a:prstDash val="lgDash"/>
            <a:headEnd type="none" w="sm" len="sm"/>
            <a:tailEnd type="none" w="sm" len="sm"/>
          </a:ln>
        </p:spPr>
        <p:txBody>
          <a:bodyPr>
            <a:normAutofit fontScale="25000" lnSpcReduction="20000"/>
          </a:bodyPr>
          <a:lstStyle/>
          <a:p>
            <a:endParaRPr lang="ko-KR" altLang="en-US"/>
          </a:p>
        </p:txBody>
      </p:sp>
      <p:sp>
        <p:nvSpPr>
          <p:cNvPr id="18" name="Freeform 18"/>
          <p:cNvSpPr/>
          <p:nvPr/>
        </p:nvSpPr>
        <p:spPr>
          <a:xfrm flipH="1">
            <a:off x="4660446" y="3261717"/>
            <a:ext cx="641024" cy="502403"/>
          </a:xfrm>
          <a:custGeom>
            <a:avLst/>
            <a:gdLst/>
            <a:ahLst/>
            <a:cxnLst/>
            <a:rect l="l" t="t" r="r" b="b"/>
            <a:pathLst>
              <a:path w="641024" h="502403">
                <a:moveTo>
                  <a:pt x="641024" y="0"/>
                </a:moveTo>
                <a:lnTo>
                  <a:pt x="0" y="0"/>
                </a:lnTo>
                <a:lnTo>
                  <a:pt x="0" y="502402"/>
                </a:lnTo>
                <a:lnTo>
                  <a:pt x="641024" y="502402"/>
                </a:lnTo>
                <a:lnTo>
                  <a:pt x="641024"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normAutofit/>
          </a:bodyPr>
          <a:lstStyle/>
          <a:p>
            <a:endParaRPr lang="ko-KR" altLang="en-US"/>
          </a:p>
        </p:txBody>
      </p:sp>
      <p:sp>
        <p:nvSpPr>
          <p:cNvPr id="19" name="TextBox 19"/>
          <p:cNvSpPr txBox="1"/>
          <p:nvPr/>
        </p:nvSpPr>
        <p:spPr>
          <a:xfrm>
            <a:off x="2073273" y="872658"/>
            <a:ext cx="8137082"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장문의 글이 있는 페이지</a:t>
            </a:r>
          </a:p>
        </p:txBody>
      </p:sp>
      <p:sp>
        <p:nvSpPr>
          <p:cNvPr id="20" name="TextBox 20"/>
          <p:cNvSpPr txBox="1"/>
          <p:nvPr/>
        </p:nvSpPr>
        <p:spPr>
          <a:xfrm>
            <a:off x="9425695"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2" name="TextBox 22"/>
          <p:cNvSpPr txBox="1"/>
          <p:nvPr/>
        </p:nvSpPr>
        <p:spPr>
          <a:xfrm>
            <a:off x="1546912" y="4667250"/>
            <a:ext cx="6845178" cy="4092694"/>
          </a:xfrm>
          <a:prstGeom prst="rect">
            <a:avLst/>
          </a:prstGeom>
        </p:spPr>
        <p:txBody>
          <a:bodyPr lIns="0" tIns="0" rIns="0" bIns="0" rtlCol="0" anchor="t">
            <a:normAutofit/>
          </a:bodyPr>
          <a:lstStyle/>
          <a:p>
            <a:pPr algn="l">
              <a:lnSpc>
                <a:spcPts val="3622"/>
              </a:lnSpc>
            </a:pPr>
            <a:r>
              <a:rPr lang="en-US" sz="2250" spc="-78">
                <a:solidFill>
                  <a:srgbClr val="333333">
                    <a:alpha val="80000"/>
                  </a:srgbClr>
                </a:solidFill>
                <a:latin typeface="JASO Sans"/>
                <a:ea typeface="JASO Sans"/>
                <a:cs typeface="JASO Sans"/>
                <a:sym typeface="JASO Sans"/>
              </a:rPr>
              <a:t>텍스트 중심 레이아웃은 이미지나 그래픽 요소보다는 텍스트 자체가 콘텐츠의 주를 이루는 형태로, 전달하고자 하는 </a:t>
            </a:r>
            <a:r>
              <a:rPr lang="en-US" sz="2250" b="1" spc="-78">
                <a:solidFill>
                  <a:srgbClr val="333333">
                    <a:alpha val="80000"/>
                  </a:srgbClr>
                </a:solidFill>
                <a:latin typeface="JASO Sans Bold"/>
                <a:ea typeface="JASO Sans Bold"/>
                <a:cs typeface="JASO Sans Bold"/>
                <a:sym typeface="JASO Sans Bold"/>
              </a:rPr>
              <a:t>메시지의 본질에 집중</a:t>
            </a:r>
            <a:r>
              <a:rPr lang="en-US" sz="2250" spc="-78">
                <a:solidFill>
                  <a:srgbClr val="333333">
                    <a:alpha val="80000"/>
                  </a:srgbClr>
                </a:solidFill>
                <a:latin typeface="JASO Sans"/>
                <a:ea typeface="JASO Sans"/>
                <a:cs typeface="JASO Sans"/>
                <a:sym typeface="JASO Sans"/>
              </a:rPr>
              <a:t>할 수 있게 도와주는 구조입니다. </a:t>
            </a:r>
          </a:p>
          <a:p>
            <a:pPr algn="l">
              <a:lnSpc>
                <a:spcPts val="3622"/>
              </a:lnSpc>
            </a:pPr>
            <a:r>
              <a:rPr lang="en-US" sz="2250" spc="-78">
                <a:solidFill>
                  <a:srgbClr val="333333">
                    <a:alpha val="80000"/>
                  </a:srgbClr>
                </a:solidFill>
                <a:latin typeface="JASO Sans"/>
                <a:ea typeface="JASO Sans"/>
                <a:cs typeface="JASO Sans"/>
                <a:sym typeface="JASO Sans"/>
              </a:rPr>
              <a:t>특히 </a:t>
            </a:r>
            <a:r>
              <a:rPr lang="en-US" sz="2250" b="1" spc="-78">
                <a:solidFill>
                  <a:srgbClr val="333333">
                    <a:alpha val="80000"/>
                  </a:srgbClr>
                </a:solidFill>
                <a:latin typeface="JASO Sans Bold"/>
                <a:ea typeface="JASO Sans Bold"/>
                <a:cs typeface="JASO Sans Bold"/>
                <a:sym typeface="JASO Sans Bold"/>
              </a:rPr>
              <a:t>전략 기획서, 비즈니스 보고서, 기업의 비전 공유 자료</a:t>
            </a:r>
            <a:r>
              <a:rPr lang="en-US" sz="2250" spc="-78">
                <a:solidFill>
                  <a:srgbClr val="333333">
                    <a:alpha val="80000"/>
                  </a:srgbClr>
                </a:solidFill>
                <a:latin typeface="JASO Sans"/>
                <a:ea typeface="JASO Sans"/>
                <a:cs typeface="JASO Sans"/>
                <a:sym typeface="JASO Sans"/>
              </a:rPr>
              <a:t>처럼 말의 힘이 중요한 문서에서 매우 효과적으로 사용됩니다. </a:t>
            </a:r>
          </a:p>
          <a:p>
            <a:pPr algn="l">
              <a:lnSpc>
                <a:spcPts val="3622"/>
              </a:lnSpc>
            </a:pPr>
            <a:endParaRPr lang="en-US" sz="2250" spc="-78">
              <a:solidFill>
                <a:srgbClr val="333333">
                  <a:alpha val="80000"/>
                </a:srgbClr>
              </a:solidFill>
              <a:latin typeface="JASO Sans"/>
              <a:ea typeface="JASO Sans"/>
              <a:cs typeface="JASO Sans"/>
              <a:sym typeface="JASO Sans"/>
            </a:endParaRPr>
          </a:p>
          <a:p>
            <a:pPr algn="l">
              <a:lnSpc>
                <a:spcPts val="3622"/>
              </a:lnSpc>
            </a:pPr>
            <a:r>
              <a:rPr lang="en-US" sz="2250" spc="-78">
                <a:solidFill>
                  <a:srgbClr val="333333">
                    <a:alpha val="80000"/>
                  </a:srgbClr>
                </a:solidFill>
                <a:latin typeface="JASO Sans"/>
                <a:ea typeface="JASO Sans"/>
                <a:cs typeface="JASO Sans"/>
                <a:sym typeface="JASO Sans"/>
              </a:rPr>
              <a:t>디자인적 요소는 최소한으로 활용하고, 배경은 깔끔한 톤으로 유지하며, 내용 구성은 </a:t>
            </a:r>
            <a:r>
              <a:rPr lang="en-US" sz="2250" b="1" spc="-78">
                <a:solidFill>
                  <a:srgbClr val="333333">
                    <a:alpha val="80000"/>
                  </a:srgbClr>
                </a:solidFill>
                <a:latin typeface="JASO Sans Bold"/>
                <a:ea typeface="JASO Sans Bold"/>
                <a:cs typeface="JASO Sans Bold"/>
                <a:sym typeface="JASO Sans Bold"/>
              </a:rPr>
              <a:t>‘제목-소제목-본문’</a:t>
            </a:r>
            <a:r>
              <a:rPr lang="en-US" sz="2250" spc="-78">
                <a:solidFill>
                  <a:srgbClr val="333333">
                    <a:alpha val="80000"/>
                  </a:srgbClr>
                </a:solidFill>
                <a:latin typeface="JASO Sans"/>
                <a:ea typeface="JASO Sans"/>
                <a:cs typeface="JASO Sans"/>
                <a:sym typeface="JASO Sans"/>
              </a:rPr>
              <a:t>의 삼단 구조로 계층을 명확히 하여 정보를 질서 있게 전달하는 것이 핵심입니다.</a:t>
            </a:r>
          </a:p>
        </p:txBody>
      </p:sp>
      <p:sp>
        <p:nvSpPr>
          <p:cNvPr id="23" name="TextBox 23"/>
          <p:cNvSpPr txBox="1"/>
          <p:nvPr/>
        </p:nvSpPr>
        <p:spPr>
          <a:xfrm>
            <a:off x="9897753" y="4667250"/>
            <a:ext cx="6845178" cy="3178338"/>
          </a:xfrm>
          <a:prstGeom prst="rect">
            <a:avLst/>
          </a:prstGeom>
        </p:spPr>
        <p:txBody>
          <a:bodyPr lIns="0" tIns="0" rIns="0" bIns="0" rtlCol="0" anchor="t">
            <a:normAutofit/>
          </a:bodyPr>
          <a:lstStyle/>
          <a:p>
            <a:pPr algn="l">
              <a:lnSpc>
                <a:spcPts val="3622"/>
              </a:lnSpc>
            </a:pPr>
            <a:r>
              <a:rPr lang="en-US" sz="2250" spc="-78">
                <a:solidFill>
                  <a:srgbClr val="333333">
                    <a:alpha val="80000"/>
                  </a:srgbClr>
                </a:solidFill>
                <a:latin typeface="JASO Sans"/>
                <a:ea typeface="JASO Sans"/>
                <a:cs typeface="JASO Sans"/>
                <a:sym typeface="JASO Sans"/>
              </a:rPr>
              <a:t>이 레이아웃은 많은 텍스트를 담더라도 불필요하게 복잡해 보이지 않도록 하기 위해 행간, 자간, 정렬 방식, 문단 간 간격 등을 철저히 고려해 가독성을 높입니다. </a:t>
            </a:r>
          </a:p>
          <a:p>
            <a:pPr algn="l">
              <a:lnSpc>
                <a:spcPts val="3622"/>
              </a:lnSpc>
            </a:pPr>
            <a:endParaRPr lang="en-US" sz="2250" spc="-78">
              <a:solidFill>
                <a:srgbClr val="333333">
                  <a:alpha val="80000"/>
                </a:srgbClr>
              </a:solidFill>
              <a:latin typeface="JASO Sans"/>
              <a:ea typeface="JASO Sans"/>
              <a:cs typeface="JASO Sans"/>
              <a:sym typeface="JASO Sans"/>
            </a:endParaRPr>
          </a:p>
          <a:p>
            <a:pPr algn="l">
              <a:lnSpc>
                <a:spcPts val="3622"/>
              </a:lnSpc>
            </a:pPr>
            <a:r>
              <a:rPr lang="en-US" sz="2250" spc="-78">
                <a:solidFill>
                  <a:srgbClr val="333333">
                    <a:alpha val="80000"/>
                  </a:srgbClr>
                </a:solidFill>
                <a:latin typeface="JASO Sans"/>
                <a:ea typeface="JASO Sans"/>
                <a:cs typeface="JASO Sans"/>
                <a:sym typeface="JASO Sans"/>
              </a:rPr>
              <a:t>텍스트 중심 레이아웃을 성공적으로 구현하기 위해서는 폰트 선택에서부터 텍스트 컬러, 간격 설정까지 모든 요소가 조화를 이루어야 합니다. </a:t>
            </a:r>
          </a:p>
        </p:txBody>
      </p:sp>
      <p:sp>
        <p:nvSpPr>
          <p:cNvPr id="24" name="TextBox 24"/>
          <p:cNvSpPr txBox="1"/>
          <p:nvPr/>
        </p:nvSpPr>
        <p:spPr>
          <a:xfrm>
            <a:off x="5516959" y="3169996"/>
            <a:ext cx="8997178" cy="681946"/>
          </a:xfrm>
          <a:prstGeom prst="rect">
            <a:avLst/>
          </a:prstGeom>
        </p:spPr>
        <p:txBody>
          <a:bodyPr lIns="0" tIns="0" rIns="0" bIns="0" rtlCol="0" anchor="t">
            <a:normAutofit fontScale="92500"/>
          </a:bodyPr>
          <a:lstStyle/>
          <a:p>
            <a:pPr marL="0" lvl="0" indent="0" algn="l">
              <a:lnSpc>
                <a:spcPts val="5355"/>
              </a:lnSpc>
              <a:spcBef>
                <a:spcPct val="0"/>
              </a:spcBef>
            </a:pPr>
            <a:r>
              <a:rPr lang="en-US" sz="4500" b="1" u="none" strike="noStrike" spc="-99" dirty="0" err="1">
                <a:solidFill>
                  <a:srgbClr val="333333"/>
                </a:solidFill>
                <a:latin typeface="JASO Sans Bold"/>
                <a:ea typeface="JASO Sans Bold"/>
                <a:cs typeface="JASO Sans Bold"/>
                <a:sym typeface="JASO Sans Bold"/>
              </a:rPr>
              <a:t>텍스트로</a:t>
            </a:r>
            <a:r>
              <a:rPr lang="en-US" sz="4500" b="1" u="none" strike="noStrike" spc="-99" dirty="0">
                <a:solidFill>
                  <a:srgbClr val="333333"/>
                </a:solidFill>
                <a:latin typeface="JASO Sans Bold"/>
                <a:ea typeface="JASO Sans Bold"/>
                <a:cs typeface="JASO Sans Bold"/>
                <a:sym typeface="JASO Sans Bold"/>
              </a:rPr>
              <a:t> </a:t>
            </a:r>
            <a:r>
              <a:rPr lang="en-US" sz="4500" b="1" u="none" strike="noStrike" spc="-99" dirty="0" err="1">
                <a:solidFill>
                  <a:srgbClr val="333333"/>
                </a:solidFill>
                <a:latin typeface="JASO Sans Bold"/>
                <a:ea typeface="JASO Sans Bold"/>
                <a:cs typeface="JASO Sans Bold"/>
                <a:sym typeface="JASO Sans Bold"/>
              </a:rPr>
              <a:t>핵심을</a:t>
            </a:r>
            <a:r>
              <a:rPr lang="en-US" sz="4500" b="1" u="none" strike="noStrike" spc="-99" dirty="0">
                <a:solidFill>
                  <a:srgbClr val="333333"/>
                </a:solidFill>
                <a:latin typeface="JASO Sans Bold"/>
                <a:ea typeface="JASO Sans Bold"/>
                <a:cs typeface="JASO Sans Bold"/>
                <a:sym typeface="JASO Sans Bold"/>
              </a:rPr>
              <a:t> </a:t>
            </a:r>
            <a:r>
              <a:rPr lang="en-US" sz="4500" b="1" u="none" strike="noStrike" spc="-99" dirty="0" err="1">
                <a:solidFill>
                  <a:srgbClr val="333333"/>
                </a:solidFill>
                <a:latin typeface="JASO Sans Bold"/>
                <a:ea typeface="JASO Sans Bold"/>
                <a:cs typeface="JASO Sans Bold"/>
                <a:sym typeface="JASO Sans Bold"/>
              </a:rPr>
              <a:t>전달하는</a:t>
            </a:r>
            <a:r>
              <a:rPr lang="en-US" sz="4500" b="1" u="none" strike="noStrike" spc="-99" dirty="0">
                <a:solidFill>
                  <a:srgbClr val="333333"/>
                </a:solidFill>
                <a:latin typeface="JASO Sans Bold"/>
                <a:ea typeface="JASO Sans Bold"/>
                <a:cs typeface="JASO Sans Bold"/>
                <a:sym typeface="JASO Sans Bold"/>
              </a:rPr>
              <a:t> </a:t>
            </a:r>
            <a:r>
              <a:rPr lang="en-US" sz="4500" b="1" u="none" strike="noStrike" spc="-99" dirty="0" err="1">
                <a:solidFill>
                  <a:srgbClr val="333333"/>
                </a:solidFill>
                <a:latin typeface="JASO Sans Bold"/>
                <a:ea typeface="JASO Sans Bold"/>
                <a:cs typeface="JASO Sans Bold"/>
                <a:sym typeface="JASO Sans Bold"/>
              </a:rPr>
              <a:t>레이아웃</a:t>
            </a:r>
            <a:endParaRPr lang="en-US" sz="4500" b="1" u="none" strike="noStrike" spc="-99" dirty="0">
              <a:solidFill>
                <a:srgbClr val="333333"/>
              </a:solidFill>
              <a:latin typeface="JASO Sans Bold"/>
              <a:ea typeface="JASO Sans Bold"/>
              <a:cs typeface="JASO Sans Bold"/>
              <a:sym typeface="JASO Sans Bold"/>
            </a:endParaRPr>
          </a:p>
        </p:txBody>
      </p:sp>
      <p:sp>
        <p:nvSpPr>
          <p:cNvPr id="27" name="TextBox 19">
            <a:extLst>
              <a:ext uri="{FF2B5EF4-FFF2-40B4-BE49-F238E27FC236}">
                <a16:creationId xmlns:a16="http://schemas.microsoft.com/office/drawing/2014/main" id="{97B285A3-CAA6-4C5B-981D-71C45061A2B6}"/>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txBody>
            <a:bodyPr>
              <a:normAutofit fontScale="62500" lnSpcReduction="20000"/>
            </a:bodyPr>
            <a:lstStyle/>
            <a:p>
              <a:endParaRPr lang="ko-KR" altLang="en-US"/>
            </a:p>
          </p:txBody>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txBody>
            <a:bodyPr>
              <a:normAutofit fontScale="55000" lnSpcReduction="20000"/>
            </a:bodyPr>
            <a:lstStyle/>
            <a:p>
              <a:endParaRPr lang="ko-KR" altLang="en-US"/>
            </a:p>
          </p:txBody>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txBody>
            <a:bodyPr>
              <a:normAutofit fontScale="62500" lnSpcReduction="20000"/>
            </a:bodyPr>
            <a:lstStyle/>
            <a:p>
              <a:endParaRPr lang="ko-KR" altLang="en-US"/>
            </a:p>
          </p:txBody>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txBody>
            <a:bodyPr>
              <a:normAutofit fontScale="62500" lnSpcReduction="20000"/>
            </a:bodyPr>
            <a:lstStyle/>
            <a:p>
              <a:endParaRPr lang="ko-KR" altLang="en-US"/>
            </a:p>
          </p:txBody>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txBody>
            <a:bodyPr>
              <a:normAutofit fontScale="92500" lnSpcReduction="20000"/>
            </a:bodyPr>
            <a:lstStyle/>
            <a:p>
              <a:endParaRPr lang="ko-KR" altLang="en-US"/>
            </a:p>
          </p:txBody>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txBody>
            <a:bodyPr>
              <a:normAutofit fontScale="47500" lnSpcReduction="20000"/>
            </a:bodyPr>
            <a:lstStyle/>
            <a:p>
              <a:endParaRPr lang="ko-KR" altLang="en-US"/>
            </a:p>
          </p:txBody>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txBody>
            <a:bodyPr>
              <a:normAutofit fontScale="55000" lnSpcReduction="20000"/>
            </a:bodyPr>
            <a:lstStyle/>
            <a:p>
              <a:endParaRPr lang="ko-KR" altLang="en-US"/>
            </a:p>
          </p:txBody>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grpSp>
        <p:nvGrpSpPr>
          <p:cNvPr id="17" name="Group 17"/>
          <p:cNvGrpSpPr/>
          <p:nvPr/>
        </p:nvGrpSpPr>
        <p:grpSpPr>
          <a:xfrm>
            <a:off x="1546912" y="3025354"/>
            <a:ext cx="6440820" cy="6139193"/>
            <a:chOff x="0" y="0"/>
            <a:chExt cx="914322" cy="871504"/>
          </a:xfrm>
        </p:grpSpPr>
        <p:sp>
          <p:nvSpPr>
            <p:cNvPr id="18" name="Freeform 18"/>
            <p:cNvSpPr/>
            <p:nvPr/>
          </p:nvSpPr>
          <p:spPr>
            <a:xfrm>
              <a:off x="0" y="0"/>
              <a:ext cx="914322" cy="871504"/>
            </a:xfrm>
            <a:custGeom>
              <a:avLst/>
              <a:gdLst/>
              <a:ahLst/>
              <a:cxnLst/>
              <a:rect l="l" t="t" r="r" b="b"/>
              <a:pathLst>
                <a:path w="914322" h="871504">
                  <a:moveTo>
                    <a:pt x="0" y="0"/>
                  </a:moveTo>
                  <a:lnTo>
                    <a:pt x="914322" y="0"/>
                  </a:lnTo>
                  <a:lnTo>
                    <a:pt x="914322" y="871504"/>
                  </a:lnTo>
                  <a:lnTo>
                    <a:pt x="0" y="871504"/>
                  </a:lnTo>
                  <a:close/>
                </a:path>
              </a:pathLst>
            </a:custGeom>
            <a:blipFill>
              <a:blip r:embed="rId16"/>
              <a:stretch>
                <a:fillRect t="-28586" b="-28586"/>
              </a:stretch>
            </a:blipFill>
            <a:ln cap="sq">
              <a:noFill/>
              <a:prstDash val="solid"/>
              <a:miter/>
            </a:ln>
          </p:spPr>
        </p:sp>
      </p:grpSp>
      <p:grpSp>
        <p:nvGrpSpPr>
          <p:cNvPr id="19" name="Group 19"/>
          <p:cNvGrpSpPr/>
          <p:nvPr/>
        </p:nvGrpSpPr>
        <p:grpSpPr>
          <a:xfrm>
            <a:off x="8224358" y="3025354"/>
            <a:ext cx="3109361" cy="2937382"/>
            <a:chOff x="0" y="0"/>
            <a:chExt cx="922529" cy="871504"/>
          </a:xfrm>
        </p:grpSpPr>
        <p:sp>
          <p:nvSpPr>
            <p:cNvPr id="20" name="Freeform 20"/>
            <p:cNvSpPr/>
            <p:nvPr/>
          </p:nvSpPr>
          <p:spPr>
            <a:xfrm>
              <a:off x="0" y="0"/>
              <a:ext cx="922529" cy="871504"/>
            </a:xfrm>
            <a:custGeom>
              <a:avLst/>
              <a:gdLst/>
              <a:ahLst/>
              <a:cxnLst/>
              <a:rect l="l" t="t" r="r" b="b"/>
              <a:pathLst>
                <a:path w="922529" h="871504">
                  <a:moveTo>
                    <a:pt x="0" y="0"/>
                  </a:moveTo>
                  <a:lnTo>
                    <a:pt x="922529" y="0"/>
                  </a:lnTo>
                  <a:lnTo>
                    <a:pt x="922529" y="871504"/>
                  </a:lnTo>
                  <a:lnTo>
                    <a:pt x="0" y="871504"/>
                  </a:lnTo>
                  <a:close/>
                </a:path>
              </a:pathLst>
            </a:custGeom>
            <a:blipFill>
              <a:blip r:embed="rId17"/>
              <a:stretch>
                <a:fillRect l="-20851" r="-20851"/>
              </a:stretch>
            </a:blipFill>
            <a:ln cap="sq">
              <a:noFill/>
              <a:prstDash val="solid"/>
              <a:miter/>
            </a:ln>
          </p:spPr>
          <p:txBody>
            <a:bodyPr>
              <a:normAutofit/>
            </a:bodyPr>
            <a:lstStyle/>
            <a:p>
              <a:endParaRPr lang="ko-KR" altLang="en-US"/>
            </a:p>
          </p:txBody>
        </p:sp>
      </p:grpSp>
      <p:grpSp>
        <p:nvGrpSpPr>
          <p:cNvPr id="21" name="Group 21"/>
          <p:cNvGrpSpPr/>
          <p:nvPr/>
        </p:nvGrpSpPr>
        <p:grpSpPr>
          <a:xfrm>
            <a:off x="8224358" y="6227165"/>
            <a:ext cx="3109361" cy="2937382"/>
            <a:chOff x="0" y="0"/>
            <a:chExt cx="922529" cy="871504"/>
          </a:xfrm>
        </p:grpSpPr>
        <p:sp>
          <p:nvSpPr>
            <p:cNvPr id="22" name="Freeform 22"/>
            <p:cNvSpPr/>
            <p:nvPr/>
          </p:nvSpPr>
          <p:spPr>
            <a:xfrm>
              <a:off x="0" y="0"/>
              <a:ext cx="922529" cy="871504"/>
            </a:xfrm>
            <a:custGeom>
              <a:avLst/>
              <a:gdLst/>
              <a:ahLst/>
              <a:cxnLst/>
              <a:rect l="l" t="t" r="r" b="b"/>
              <a:pathLst>
                <a:path w="922529" h="871504">
                  <a:moveTo>
                    <a:pt x="0" y="0"/>
                  </a:moveTo>
                  <a:lnTo>
                    <a:pt x="922529" y="0"/>
                  </a:lnTo>
                  <a:lnTo>
                    <a:pt x="922529" y="871504"/>
                  </a:lnTo>
                  <a:lnTo>
                    <a:pt x="0" y="871504"/>
                  </a:lnTo>
                  <a:close/>
                </a:path>
              </a:pathLst>
            </a:custGeom>
            <a:blipFill>
              <a:blip r:embed="rId18"/>
              <a:stretch>
                <a:fillRect t="-32318"/>
              </a:stretch>
            </a:blipFill>
            <a:ln cap="sq">
              <a:noFill/>
              <a:prstDash val="solid"/>
              <a:miter/>
            </a:ln>
          </p:spPr>
          <p:txBody>
            <a:bodyPr>
              <a:normAutofit/>
            </a:bodyPr>
            <a:lstStyle/>
            <a:p>
              <a:endParaRPr lang="ko-KR" altLang="en-US"/>
            </a:p>
          </p:txBody>
        </p:sp>
      </p:grpSp>
      <p:sp>
        <p:nvSpPr>
          <p:cNvPr id="23" name="TextBox 23"/>
          <p:cNvSpPr txBox="1"/>
          <p:nvPr/>
        </p:nvSpPr>
        <p:spPr>
          <a:xfrm>
            <a:off x="2073273" y="872658"/>
            <a:ext cx="8137082" cy="791056"/>
          </a:xfrm>
          <a:prstGeom prst="rect">
            <a:avLst/>
          </a:prstGeom>
        </p:spPr>
        <p:txBody>
          <a:bodyPr lIns="0" tIns="0" rIns="0" bIns="0" rtlCol="0" anchor="t">
            <a:normAutofit/>
          </a:bodyPr>
          <a:lstStyle/>
          <a:p>
            <a:pPr marL="0" lvl="0" indent="0" algn="l">
              <a:lnSpc>
                <a:spcPts val="5969"/>
              </a:lnSpc>
            </a:pPr>
            <a:r>
              <a:rPr lang="en-US" sz="5852" b="1" spc="-117" dirty="0" err="1">
                <a:solidFill>
                  <a:srgbClr val="333333"/>
                </a:solidFill>
                <a:latin typeface="JASO Sans Bold"/>
                <a:ea typeface="JASO Sans Bold"/>
                <a:cs typeface="JASO Sans Bold"/>
                <a:sym typeface="JASO Sans Bold"/>
              </a:rPr>
              <a:t>사진이</a:t>
            </a:r>
            <a:r>
              <a:rPr lang="en-US" sz="5852" b="1" spc="-117" dirty="0">
                <a:solidFill>
                  <a:srgbClr val="333333"/>
                </a:solidFill>
                <a:latin typeface="JASO Sans Bold"/>
                <a:ea typeface="JASO Sans Bold"/>
                <a:cs typeface="JASO Sans Bold"/>
                <a:sym typeface="JASO Sans Bold"/>
              </a:rPr>
              <a:t> </a:t>
            </a:r>
            <a:r>
              <a:rPr lang="en-US" sz="5852" b="1" spc="-117" dirty="0" err="1">
                <a:solidFill>
                  <a:srgbClr val="333333"/>
                </a:solidFill>
                <a:latin typeface="JASO Sans Bold"/>
                <a:ea typeface="JASO Sans Bold"/>
                <a:cs typeface="JASO Sans Bold"/>
                <a:sym typeface="JASO Sans Bold"/>
              </a:rPr>
              <a:t>중심이</a:t>
            </a:r>
            <a:r>
              <a:rPr lang="en-US" sz="5852" b="1" spc="-117" dirty="0">
                <a:solidFill>
                  <a:srgbClr val="333333"/>
                </a:solidFill>
                <a:latin typeface="JASO Sans Bold"/>
                <a:ea typeface="JASO Sans Bold"/>
                <a:cs typeface="JASO Sans Bold"/>
                <a:sym typeface="JASO Sans Bold"/>
              </a:rPr>
              <a:t> </a:t>
            </a:r>
            <a:r>
              <a:rPr lang="en-US" sz="5852" b="1" spc="-117" dirty="0" err="1">
                <a:solidFill>
                  <a:srgbClr val="333333"/>
                </a:solidFill>
                <a:latin typeface="JASO Sans Bold"/>
                <a:ea typeface="JASO Sans Bold"/>
                <a:cs typeface="JASO Sans Bold"/>
                <a:sym typeface="JASO Sans Bold"/>
              </a:rPr>
              <a:t>되는</a:t>
            </a:r>
            <a:r>
              <a:rPr lang="en-US" sz="5852" b="1" spc="-117" dirty="0">
                <a:solidFill>
                  <a:srgbClr val="333333"/>
                </a:solidFill>
                <a:latin typeface="JASO Sans Bold"/>
                <a:ea typeface="JASO Sans Bold"/>
                <a:cs typeface="JASO Sans Bold"/>
                <a:sym typeface="JASO Sans Bold"/>
              </a:rPr>
              <a:t> </a:t>
            </a:r>
            <a:r>
              <a:rPr lang="en-US" sz="5852" b="1" spc="-117" dirty="0" err="1">
                <a:solidFill>
                  <a:srgbClr val="333333"/>
                </a:solidFill>
                <a:latin typeface="JASO Sans Bold"/>
                <a:ea typeface="JASO Sans Bold"/>
                <a:cs typeface="JASO Sans Bold"/>
                <a:sym typeface="JASO Sans Bold"/>
              </a:rPr>
              <a:t>페이지</a:t>
            </a:r>
            <a:endParaRPr lang="en-US" sz="5852" b="1" spc="-117" dirty="0">
              <a:solidFill>
                <a:srgbClr val="333333"/>
              </a:solidFill>
              <a:latin typeface="JASO Sans Bold"/>
              <a:ea typeface="JASO Sans Bold"/>
              <a:cs typeface="JASO Sans Bold"/>
              <a:sym typeface="JASO Sans Bold"/>
            </a:endParaRPr>
          </a:p>
        </p:txBody>
      </p:sp>
      <p:sp>
        <p:nvSpPr>
          <p:cNvPr id="24" name="TextBox 24"/>
          <p:cNvSpPr txBox="1"/>
          <p:nvPr/>
        </p:nvSpPr>
        <p:spPr>
          <a:xfrm>
            <a:off x="10118871"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dirty="0" err="1">
                <a:solidFill>
                  <a:srgbClr val="222222">
                    <a:alpha val="53725"/>
                  </a:srgbClr>
                </a:solidFill>
                <a:latin typeface="JASO Sans"/>
                <a:ea typeface="JASO Sans"/>
                <a:cs typeface="JASO Sans"/>
                <a:sym typeface="JASO Sans"/>
              </a:rPr>
              <a:t>메인타이틀에</a:t>
            </a:r>
            <a:r>
              <a:rPr lang="en-US" sz="1550" u="none" strike="noStrike" spc="-26" dirty="0">
                <a:solidFill>
                  <a:srgbClr val="222222">
                    <a:alpha val="53725"/>
                  </a:srgbClr>
                </a:solidFill>
                <a:latin typeface="JASO Sans"/>
                <a:ea typeface="JASO Sans"/>
                <a:cs typeface="JASO Sans"/>
                <a:sym typeface="JASO Sans"/>
              </a:rPr>
              <a:t> </a:t>
            </a:r>
            <a:r>
              <a:rPr lang="en-US" sz="1550" u="none" strike="noStrike" spc="-26" dirty="0" err="1">
                <a:solidFill>
                  <a:srgbClr val="222222">
                    <a:alpha val="53725"/>
                  </a:srgbClr>
                </a:solidFill>
                <a:latin typeface="JASO Sans"/>
                <a:ea typeface="JASO Sans"/>
                <a:cs typeface="JASO Sans"/>
                <a:sym typeface="JASO Sans"/>
              </a:rPr>
              <a:t>대한</a:t>
            </a:r>
            <a:r>
              <a:rPr lang="en-US" sz="1550" u="none" strike="noStrike" spc="-26" dirty="0">
                <a:solidFill>
                  <a:srgbClr val="222222">
                    <a:alpha val="53725"/>
                  </a:srgbClr>
                </a:solidFill>
                <a:latin typeface="JASO Sans"/>
                <a:ea typeface="JASO Sans"/>
                <a:cs typeface="JASO Sans"/>
                <a:sym typeface="JASO Sans"/>
              </a:rPr>
              <a:t> </a:t>
            </a:r>
            <a:r>
              <a:rPr lang="en-US" sz="1550" u="none" strike="noStrike" spc="-26" dirty="0" err="1">
                <a:solidFill>
                  <a:srgbClr val="222222">
                    <a:alpha val="53725"/>
                  </a:srgbClr>
                </a:solidFill>
                <a:latin typeface="JASO Sans"/>
                <a:ea typeface="JASO Sans"/>
                <a:cs typeface="JASO Sans"/>
                <a:sym typeface="JASO Sans"/>
              </a:rPr>
              <a:t>세부</a:t>
            </a:r>
            <a:r>
              <a:rPr lang="en-US" sz="1550" u="none" strike="noStrike" spc="-26" dirty="0">
                <a:solidFill>
                  <a:srgbClr val="222222">
                    <a:alpha val="53725"/>
                  </a:srgbClr>
                </a:solidFill>
                <a:latin typeface="JASO Sans"/>
                <a:ea typeface="JASO Sans"/>
                <a:cs typeface="JASO Sans"/>
                <a:sym typeface="JASO Sans"/>
              </a:rPr>
              <a:t> </a:t>
            </a:r>
            <a:r>
              <a:rPr lang="en-US" sz="1550" u="none" strike="noStrike" spc="-26" dirty="0" err="1">
                <a:solidFill>
                  <a:srgbClr val="222222">
                    <a:alpha val="53725"/>
                  </a:srgbClr>
                </a:solidFill>
                <a:latin typeface="JASO Sans"/>
                <a:ea typeface="JASO Sans"/>
                <a:cs typeface="JASO Sans"/>
                <a:sym typeface="JASO Sans"/>
              </a:rPr>
              <a:t>설명을</a:t>
            </a:r>
            <a:r>
              <a:rPr lang="en-US" sz="1550" u="none" strike="noStrike" spc="-26" dirty="0">
                <a:solidFill>
                  <a:srgbClr val="222222">
                    <a:alpha val="53725"/>
                  </a:srgbClr>
                </a:solidFill>
                <a:latin typeface="JASO Sans"/>
                <a:ea typeface="JASO Sans"/>
                <a:cs typeface="JASO Sans"/>
                <a:sym typeface="JASO Sans"/>
              </a:rPr>
              <a:t> </a:t>
            </a:r>
            <a:r>
              <a:rPr lang="en-US" sz="1550" u="none" strike="noStrike" spc="-26" dirty="0" err="1">
                <a:solidFill>
                  <a:srgbClr val="222222">
                    <a:alpha val="53725"/>
                  </a:srgbClr>
                </a:solidFill>
                <a:latin typeface="JASO Sans"/>
                <a:ea typeface="JASO Sans"/>
                <a:cs typeface="JASO Sans"/>
                <a:sym typeface="JASO Sans"/>
              </a:rPr>
              <a:t>입력해</a:t>
            </a:r>
            <a:r>
              <a:rPr lang="en-US" sz="1550" u="none" strike="noStrike" spc="-26" dirty="0">
                <a:solidFill>
                  <a:srgbClr val="222222">
                    <a:alpha val="53725"/>
                  </a:srgbClr>
                </a:solidFill>
                <a:latin typeface="JASO Sans"/>
                <a:ea typeface="JASO Sans"/>
                <a:cs typeface="JASO Sans"/>
                <a:sym typeface="JASO Sans"/>
              </a:rPr>
              <a:t> </a:t>
            </a:r>
            <a:r>
              <a:rPr lang="en-US" sz="1550" u="none" strike="noStrike" spc="-26" dirty="0" err="1">
                <a:solidFill>
                  <a:srgbClr val="222222">
                    <a:alpha val="53725"/>
                  </a:srgbClr>
                </a:solidFill>
                <a:latin typeface="JASO Sans"/>
                <a:ea typeface="JASO Sans"/>
                <a:cs typeface="JASO Sans"/>
                <a:sym typeface="JASO Sans"/>
              </a:rPr>
              <a:t>주세요</a:t>
            </a:r>
            <a:r>
              <a:rPr lang="en-US" sz="1550" u="none" strike="noStrike" spc="-26" dirty="0">
                <a:solidFill>
                  <a:srgbClr val="222222">
                    <a:alpha val="53725"/>
                  </a:srgbClr>
                </a:solidFill>
                <a:latin typeface="JASO Sans"/>
                <a:ea typeface="JASO Sans"/>
                <a:cs typeface="JASO Sans"/>
                <a:sym typeface="JASO Sans"/>
              </a:rPr>
              <a:t>.</a:t>
            </a:r>
          </a:p>
        </p:txBody>
      </p:sp>
      <p:sp>
        <p:nvSpPr>
          <p:cNvPr id="26" name="TextBox 26"/>
          <p:cNvSpPr txBox="1"/>
          <p:nvPr/>
        </p:nvSpPr>
        <p:spPr>
          <a:xfrm>
            <a:off x="12088457" y="4614675"/>
            <a:ext cx="4654474" cy="4549872"/>
          </a:xfrm>
          <a:prstGeom prst="rect">
            <a:avLst/>
          </a:prstGeom>
        </p:spPr>
        <p:txBody>
          <a:bodyPr lIns="0" tIns="0" rIns="0" bIns="0" rtlCol="0" anchor="t">
            <a:normAutofit/>
          </a:bodyPr>
          <a:lstStyle/>
          <a:p>
            <a:pPr algn="l">
              <a:lnSpc>
                <a:spcPts val="3622"/>
              </a:lnSpc>
            </a:pPr>
            <a:r>
              <a:rPr lang="en-US" sz="2250" spc="-78" dirty="0" err="1">
                <a:solidFill>
                  <a:srgbClr val="222222">
                    <a:alpha val="80000"/>
                  </a:srgbClr>
                </a:solidFill>
                <a:latin typeface="JASO Sans"/>
                <a:ea typeface="JASO Sans"/>
                <a:cs typeface="JASO Sans"/>
                <a:sym typeface="JASO Sans"/>
              </a:rPr>
              <a:t>이미지</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강조형</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레이아웃은</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텍스트보다</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시각적</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요소가</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중심이</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되는</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구성입니다</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강렬하거나</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감성적인</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사진을</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슬라이드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전면에</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배치하여</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즉각적인</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시선을</a:t>
            </a:r>
            <a:r>
              <a:rPr lang="en-US" sz="2250" spc="-78" dirty="0">
                <a:solidFill>
                  <a:srgbClr val="222222">
                    <a:alpha val="80000"/>
                  </a:srgbClr>
                </a:solidFill>
                <a:latin typeface="JASO Sans"/>
                <a:ea typeface="JASO Sans"/>
                <a:cs typeface="JASO Sans"/>
                <a:sym typeface="JASO Sans"/>
              </a:rPr>
              <a:t> 끌 수 </a:t>
            </a:r>
            <a:r>
              <a:rPr lang="en-US" sz="2250" spc="-78" dirty="0" err="1">
                <a:solidFill>
                  <a:srgbClr val="222222">
                    <a:alpha val="80000"/>
                  </a:srgbClr>
                </a:solidFill>
                <a:latin typeface="JASO Sans"/>
                <a:ea typeface="JASO Sans"/>
                <a:cs typeface="JASO Sans"/>
                <a:sym typeface="JASO Sans"/>
              </a:rPr>
              <a:t>있습니다</a:t>
            </a:r>
            <a:r>
              <a:rPr lang="en-US" sz="2250" spc="-78" dirty="0">
                <a:solidFill>
                  <a:srgbClr val="222222">
                    <a:alpha val="80000"/>
                  </a:srgbClr>
                </a:solidFill>
                <a:latin typeface="JASO Sans"/>
                <a:ea typeface="JASO Sans"/>
                <a:cs typeface="JASO Sans"/>
                <a:sym typeface="JASO Sans"/>
              </a:rPr>
              <a:t>.</a:t>
            </a:r>
          </a:p>
          <a:p>
            <a:pPr algn="l">
              <a:lnSpc>
                <a:spcPts val="3622"/>
              </a:lnSpc>
            </a:pPr>
            <a:r>
              <a:rPr lang="en-US" sz="2250" spc="-78" dirty="0" err="1">
                <a:solidFill>
                  <a:srgbClr val="222222">
                    <a:alpha val="80000"/>
                  </a:srgbClr>
                </a:solidFill>
                <a:latin typeface="JASO Sans"/>
                <a:ea typeface="JASO Sans"/>
                <a:cs typeface="JASO Sans"/>
                <a:sym typeface="JASO Sans"/>
              </a:rPr>
              <a:t>텍스트는</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보조적</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역할로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주로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상단</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또는</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하단에</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짧은</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문장으로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배치하는</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것이</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일반적입니다</a:t>
            </a:r>
            <a:r>
              <a:rPr lang="en-US" sz="2250" spc="-78" dirty="0">
                <a:solidFill>
                  <a:srgbClr val="222222">
                    <a:alpha val="80000"/>
                  </a:srgbClr>
                </a:solidFill>
                <a:latin typeface="JASO Sans"/>
                <a:ea typeface="JASO Sans"/>
                <a:cs typeface="JASO Sans"/>
                <a:sym typeface="JASO Sans"/>
              </a:rPr>
              <a:t>. </a:t>
            </a:r>
          </a:p>
          <a:p>
            <a:pPr algn="l">
              <a:lnSpc>
                <a:spcPts val="3622"/>
              </a:lnSpc>
            </a:pPr>
            <a:r>
              <a:rPr lang="en-US" sz="2250" spc="-78" dirty="0">
                <a:solidFill>
                  <a:srgbClr val="222222">
                    <a:alpha val="80000"/>
                  </a:srgbClr>
                </a:solidFill>
                <a:latin typeface="JASO Sans"/>
                <a:ea typeface="JASO Sans"/>
                <a:cs typeface="JASO Sans"/>
                <a:sym typeface="JASO Sans"/>
              </a:rPr>
              <a:t>이 </a:t>
            </a:r>
            <a:r>
              <a:rPr lang="en-US" sz="2250" spc="-78" dirty="0" err="1">
                <a:solidFill>
                  <a:srgbClr val="222222">
                    <a:alpha val="80000"/>
                  </a:srgbClr>
                </a:solidFill>
                <a:latin typeface="JASO Sans"/>
                <a:ea typeface="JASO Sans"/>
                <a:cs typeface="JASO Sans"/>
                <a:sym typeface="JASO Sans"/>
              </a:rPr>
              <a:t>레이아웃은</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광고</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캠페인</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감성</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콘텐츠</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제품</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소개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이벤트</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홍보</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등에서</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매우</a:t>
            </a:r>
            <a:r>
              <a:rPr lang="en-US" sz="2250" spc="-78" dirty="0">
                <a:solidFill>
                  <a:srgbClr val="222222">
                    <a:alpha val="80000"/>
                  </a:srgbClr>
                </a:solidFill>
                <a:latin typeface="JASO Sans"/>
                <a:ea typeface="JASO Sans"/>
                <a:cs typeface="JASO Sans"/>
                <a:sym typeface="JASO Sans"/>
              </a:rPr>
              <a:t> </a:t>
            </a:r>
            <a:r>
              <a:rPr lang="en-US" sz="2250" spc="-78" dirty="0" err="1">
                <a:solidFill>
                  <a:srgbClr val="222222">
                    <a:alpha val="80000"/>
                  </a:srgbClr>
                </a:solidFill>
                <a:latin typeface="JASO Sans"/>
                <a:ea typeface="JASO Sans"/>
                <a:cs typeface="JASO Sans"/>
                <a:sym typeface="JASO Sans"/>
              </a:rPr>
              <a:t>효과적입니다</a:t>
            </a:r>
            <a:r>
              <a:rPr lang="en-US" sz="2250" spc="-78" dirty="0">
                <a:solidFill>
                  <a:srgbClr val="222222">
                    <a:alpha val="80000"/>
                  </a:srgbClr>
                </a:solidFill>
                <a:latin typeface="JASO Sans"/>
                <a:ea typeface="JASO Sans"/>
                <a:cs typeface="JASO Sans"/>
                <a:sym typeface="JASO Sans"/>
              </a:rPr>
              <a:t>.</a:t>
            </a:r>
          </a:p>
        </p:txBody>
      </p:sp>
      <p:sp>
        <p:nvSpPr>
          <p:cNvPr id="27" name="TextBox 27"/>
          <p:cNvSpPr txBox="1"/>
          <p:nvPr/>
        </p:nvSpPr>
        <p:spPr>
          <a:xfrm>
            <a:off x="12088457" y="3025354"/>
            <a:ext cx="5750042" cy="2077492"/>
          </a:xfrm>
          <a:prstGeom prst="rect">
            <a:avLst/>
          </a:prstGeom>
        </p:spPr>
        <p:txBody>
          <a:bodyPr wrap="square" lIns="0" tIns="0" rIns="0" bIns="0" rtlCol="0" anchor="t">
            <a:spAutoFit/>
          </a:bodyPr>
          <a:lstStyle/>
          <a:p>
            <a:pPr marL="0" lvl="0" indent="0" algn="l">
              <a:lnSpc>
                <a:spcPts val="5355"/>
              </a:lnSpc>
            </a:pPr>
            <a:r>
              <a:rPr lang="en-US" sz="4500" b="1" spc="-99" dirty="0" err="1">
                <a:solidFill>
                  <a:srgbClr val="333333"/>
                </a:solidFill>
                <a:latin typeface="JASO Sans Bold"/>
                <a:ea typeface="JASO Sans Bold"/>
                <a:cs typeface="JASO Sans Bold"/>
                <a:sym typeface="JASO Sans Bold"/>
              </a:rPr>
              <a:t>사진</a:t>
            </a:r>
            <a:r>
              <a:rPr lang="en-US" sz="4500" b="1" spc="-99" dirty="0">
                <a:solidFill>
                  <a:srgbClr val="333333"/>
                </a:solidFill>
                <a:latin typeface="JASO Sans Bold"/>
                <a:ea typeface="JASO Sans Bold"/>
                <a:cs typeface="JASO Sans Bold"/>
                <a:sym typeface="JASO Sans Bold"/>
              </a:rPr>
              <a:t> </a:t>
            </a:r>
            <a:r>
              <a:rPr lang="en-US" sz="4500" b="1" spc="-99" dirty="0" err="1">
                <a:solidFill>
                  <a:srgbClr val="333333"/>
                </a:solidFill>
                <a:latin typeface="JASO Sans Bold"/>
                <a:ea typeface="JASO Sans Bold"/>
                <a:cs typeface="JASO Sans Bold"/>
                <a:sym typeface="JASO Sans Bold"/>
              </a:rPr>
              <a:t>하나</a:t>
            </a:r>
            <a:r>
              <a:rPr lang="en-US" sz="4500" b="1" u="none" strike="noStrike" spc="-99" dirty="0" err="1">
                <a:solidFill>
                  <a:srgbClr val="333333"/>
                </a:solidFill>
                <a:latin typeface="JASO Sans Bold"/>
                <a:ea typeface="JASO Sans Bold"/>
                <a:cs typeface="JASO Sans Bold"/>
                <a:sym typeface="JASO Sans Bold"/>
              </a:rPr>
              <a:t>로</a:t>
            </a:r>
            <a:endParaRPr lang="en-US" sz="4500" b="1" u="none" strike="noStrike" spc="-99" dirty="0">
              <a:solidFill>
                <a:srgbClr val="333333"/>
              </a:solidFill>
              <a:latin typeface="JASO Sans Bold"/>
              <a:ea typeface="JASO Sans Bold"/>
              <a:cs typeface="JASO Sans Bold"/>
              <a:sym typeface="JASO Sans Bold"/>
            </a:endParaRPr>
          </a:p>
          <a:p>
            <a:pPr marL="0" lvl="0" indent="0" algn="l">
              <a:lnSpc>
                <a:spcPts val="5355"/>
              </a:lnSpc>
            </a:pPr>
            <a:r>
              <a:rPr lang="en-US" sz="4500" b="1" u="none" strike="noStrike" spc="-99" dirty="0" err="1">
                <a:solidFill>
                  <a:srgbClr val="333333"/>
                </a:solidFill>
                <a:latin typeface="JASO Sans Bold"/>
                <a:ea typeface="JASO Sans Bold"/>
                <a:cs typeface="JASO Sans Bold"/>
                <a:sym typeface="JASO Sans Bold"/>
              </a:rPr>
              <a:t>메시지를</a:t>
            </a:r>
            <a:r>
              <a:rPr lang="en-US" sz="4500" b="1" u="none" strike="noStrike" spc="-99" dirty="0">
                <a:solidFill>
                  <a:srgbClr val="333333"/>
                </a:solidFill>
                <a:latin typeface="JASO Sans Bold"/>
                <a:ea typeface="JASO Sans Bold"/>
                <a:cs typeface="JASO Sans Bold"/>
                <a:sym typeface="JASO Sans Bold"/>
              </a:rPr>
              <a:t> </a:t>
            </a:r>
            <a:r>
              <a:rPr lang="en-US" sz="4500" b="1" u="none" strike="noStrike" spc="-99" dirty="0" err="1">
                <a:solidFill>
                  <a:srgbClr val="333333"/>
                </a:solidFill>
                <a:latin typeface="JASO Sans Bold"/>
                <a:ea typeface="JASO Sans Bold"/>
                <a:cs typeface="JASO Sans Bold"/>
                <a:sym typeface="JASO Sans Bold"/>
              </a:rPr>
              <a:t>전하다</a:t>
            </a:r>
            <a:endParaRPr lang="en-US" sz="4500" b="1" u="none" strike="noStrike" spc="-99" dirty="0">
              <a:solidFill>
                <a:srgbClr val="333333"/>
              </a:solidFill>
              <a:latin typeface="JASO Sans Bold"/>
              <a:ea typeface="JASO Sans Bold"/>
              <a:cs typeface="JASO Sans Bold"/>
              <a:sym typeface="JASO Sans Bold"/>
            </a:endParaRPr>
          </a:p>
          <a:p>
            <a:pPr marL="0" lvl="0" indent="0" algn="l">
              <a:lnSpc>
                <a:spcPts val="5355"/>
              </a:lnSpc>
            </a:pPr>
            <a:endParaRPr lang="en-US" sz="4500" b="1" u="none" strike="noStrike" spc="-99" dirty="0">
              <a:solidFill>
                <a:srgbClr val="333333"/>
              </a:solidFill>
              <a:latin typeface="JASO Sans Bold"/>
              <a:ea typeface="JASO Sans Bold"/>
              <a:cs typeface="JASO Sans Bold"/>
              <a:sym typeface="JASO Sans Bold"/>
            </a:endParaRPr>
          </a:p>
        </p:txBody>
      </p:sp>
      <p:sp>
        <p:nvSpPr>
          <p:cNvPr id="28" name="TextBox 19">
            <a:extLst>
              <a:ext uri="{FF2B5EF4-FFF2-40B4-BE49-F238E27FC236}">
                <a16:creationId xmlns:a16="http://schemas.microsoft.com/office/drawing/2014/main" id="{6077CB40-04B3-4585-BF85-DEC3A3889E16}"/>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txBody>
            <a:bodyPr>
              <a:normAutofit fontScale="62500" lnSpcReduction="20000"/>
            </a:bodyPr>
            <a:lstStyle/>
            <a:p>
              <a:endParaRPr lang="ko-KR" altLang="en-US"/>
            </a:p>
          </p:txBody>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txBody>
            <a:bodyPr>
              <a:normAutofit fontScale="55000" lnSpcReduction="20000"/>
            </a:bodyPr>
            <a:lstStyle/>
            <a:p>
              <a:endParaRPr lang="ko-KR" altLang="en-US"/>
            </a:p>
          </p:txBody>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txBody>
            <a:bodyPr>
              <a:normAutofit fontScale="62500" lnSpcReduction="20000"/>
            </a:bodyPr>
            <a:lstStyle/>
            <a:p>
              <a:endParaRPr lang="ko-KR" altLang="en-US"/>
            </a:p>
          </p:txBody>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txBody>
            <a:bodyPr>
              <a:normAutofit fontScale="62500" lnSpcReduction="20000"/>
            </a:bodyPr>
            <a:lstStyle/>
            <a:p>
              <a:endParaRPr lang="ko-KR" altLang="en-US"/>
            </a:p>
          </p:txBody>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txBody>
            <a:bodyPr>
              <a:normAutofit fontScale="92500" lnSpcReduction="20000"/>
            </a:bodyPr>
            <a:lstStyle/>
            <a:p>
              <a:endParaRPr lang="ko-KR" altLang="en-US"/>
            </a:p>
          </p:txBody>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txBody>
            <a:bodyPr>
              <a:normAutofit fontScale="47500" lnSpcReduction="20000"/>
            </a:bodyPr>
            <a:lstStyle/>
            <a:p>
              <a:endParaRPr lang="ko-KR" altLang="en-US"/>
            </a:p>
          </p:txBody>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txBody>
            <a:bodyPr>
              <a:normAutofit fontScale="55000" lnSpcReduction="20000"/>
            </a:bodyPr>
            <a:lstStyle/>
            <a:p>
              <a:endParaRPr lang="ko-KR" altLang="en-US"/>
            </a:p>
          </p:txBody>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txBody>
            <a:bodyPr>
              <a:normAutofit fontScale="25000" lnSpcReduction="20000"/>
            </a:bodyPr>
            <a:lstStyle/>
            <a:p>
              <a:endParaRPr lang="ko-KR" altLang="en-US"/>
            </a:p>
          </p:txBody>
        </p:sp>
        <p:sp>
          <p:nvSpPr>
            <p:cNvPr id="12" name="TextBox 12"/>
            <p:cNvSpPr txBox="1"/>
            <p:nvPr/>
          </p:nvSpPr>
          <p:spPr>
            <a:xfrm>
              <a:off x="0" y="-47625"/>
              <a:ext cx="3762963" cy="67001"/>
            </a:xfrm>
            <a:prstGeom prst="rect">
              <a:avLst/>
            </a:prstGeom>
          </p:spPr>
          <p:txBody>
            <a:bodyPr lIns="50800" tIns="50800" rIns="50800" bIns="50800" rtlCol="0" anchor="ctr">
              <a:normAutofit fontScale="25000" lnSpcReduction="20000"/>
            </a:bodyP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txBody>
            <a:bodyPr>
              <a:normAutofit/>
            </a:bodyPr>
            <a:lstStyle/>
            <a:p>
              <a:endParaRPr lang="ko-KR" altLang="en-US"/>
            </a:p>
          </p:txBody>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txBody>
          <a:bodyPr>
            <a:normAutofit fontScale="25000" lnSpcReduction="20000"/>
          </a:bodyPr>
          <a:lstStyle/>
          <a:p>
            <a:endParaRPr lang="ko-KR" altLang="en-US"/>
          </a:p>
        </p:txBody>
      </p:sp>
      <p:sp>
        <p:nvSpPr>
          <p:cNvPr id="17" name="TextBox 17"/>
          <p:cNvSpPr txBox="1"/>
          <p:nvPr/>
        </p:nvSpPr>
        <p:spPr>
          <a:xfrm>
            <a:off x="2073273" y="872658"/>
            <a:ext cx="8137082"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3장의 카드가 있는 페이지</a:t>
            </a:r>
          </a:p>
        </p:txBody>
      </p:sp>
      <p:sp>
        <p:nvSpPr>
          <p:cNvPr id="18" name="TextBox 18"/>
          <p:cNvSpPr txBox="1"/>
          <p:nvPr/>
        </p:nvSpPr>
        <p:spPr>
          <a:xfrm>
            <a:off x="9922897"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grpSp>
        <p:nvGrpSpPr>
          <p:cNvPr id="20" name="Group 20"/>
          <p:cNvGrpSpPr/>
          <p:nvPr/>
        </p:nvGrpSpPr>
        <p:grpSpPr>
          <a:xfrm>
            <a:off x="1546912" y="3025354"/>
            <a:ext cx="4878837" cy="6139193"/>
            <a:chOff x="0" y="0"/>
            <a:chExt cx="1284961" cy="1616907"/>
          </a:xfrm>
        </p:grpSpPr>
        <p:sp>
          <p:nvSpPr>
            <p:cNvPr id="21" name="Freeform 21"/>
            <p:cNvSpPr/>
            <p:nvPr/>
          </p:nvSpPr>
          <p:spPr>
            <a:xfrm>
              <a:off x="0" y="0"/>
              <a:ext cx="1284961" cy="1616907"/>
            </a:xfrm>
            <a:custGeom>
              <a:avLst/>
              <a:gdLst/>
              <a:ahLst/>
              <a:cxnLst/>
              <a:rect l="l" t="t" r="r" b="b"/>
              <a:pathLst>
                <a:path w="1284961" h="1616907">
                  <a:moveTo>
                    <a:pt x="0" y="0"/>
                  </a:moveTo>
                  <a:lnTo>
                    <a:pt x="1284961" y="0"/>
                  </a:lnTo>
                  <a:lnTo>
                    <a:pt x="1284961" y="1616907"/>
                  </a:lnTo>
                  <a:lnTo>
                    <a:pt x="0" y="1616907"/>
                  </a:lnTo>
                  <a:close/>
                </a:path>
              </a:pathLst>
            </a:custGeom>
            <a:solidFill>
              <a:srgbClr val="FFFFFF"/>
            </a:solidFill>
            <a:ln cap="sq">
              <a:noFill/>
              <a:prstDash val="solid"/>
              <a:miter/>
            </a:ln>
          </p:spPr>
          <p:txBody>
            <a:bodyPr>
              <a:normAutofit/>
            </a:bodyPr>
            <a:lstStyle/>
            <a:p>
              <a:endParaRPr lang="ko-KR" altLang="en-US"/>
            </a:p>
          </p:txBody>
        </p:sp>
        <p:sp>
          <p:nvSpPr>
            <p:cNvPr id="22" name="TextBox 22"/>
            <p:cNvSpPr txBox="1"/>
            <p:nvPr/>
          </p:nvSpPr>
          <p:spPr>
            <a:xfrm>
              <a:off x="0" y="-28575"/>
              <a:ext cx="1284961" cy="1645482"/>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3" name="Group 23"/>
          <p:cNvGrpSpPr/>
          <p:nvPr/>
        </p:nvGrpSpPr>
        <p:grpSpPr>
          <a:xfrm>
            <a:off x="6704581" y="3025354"/>
            <a:ext cx="4878837" cy="6139193"/>
            <a:chOff x="0" y="0"/>
            <a:chExt cx="1284961" cy="1616907"/>
          </a:xfrm>
        </p:grpSpPr>
        <p:sp>
          <p:nvSpPr>
            <p:cNvPr id="24" name="Freeform 24"/>
            <p:cNvSpPr/>
            <p:nvPr/>
          </p:nvSpPr>
          <p:spPr>
            <a:xfrm>
              <a:off x="0" y="0"/>
              <a:ext cx="1284961" cy="1616907"/>
            </a:xfrm>
            <a:custGeom>
              <a:avLst/>
              <a:gdLst/>
              <a:ahLst/>
              <a:cxnLst/>
              <a:rect l="l" t="t" r="r" b="b"/>
              <a:pathLst>
                <a:path w="1284961" h="1616907">
                  <a:moveTo>
                    <a:pt x="0" y="0"/>
                  </a:moveTo>
                  <a:lnTo>
                    <a:pt x="1284961" y="0"/>
                  </a:lnTo>
                  <a:lnTo>
                    <a:pt x="1284961" y="1616907"/>
                  </a:lnTo>
                  <a:lnTo>
                    <a:pt x="0" y="1616907"/>
                  </a:lnTo>
                  <a:close/>
                </a:path>
              </a:pathLst>
            </a:custGeom>
            <a:solidFill>
              <a:srgbClr val="EEDFDE"/>
            </a:solidFill>
            <a:ln cap="sq">
              <a:noFill/>
              <a:prstDash val="solid"/>
              <a:miter/>
            </a:ln>
          </p:spPr>
          <p:txBody>
            <a:bodyPr>
              <a:normAutofit/>
            </a:bodyPr>
            <a:lstStyle/>
            <a:p>
              <a:endParaRPr lang="ko-KR" altLang="en-US"/>
            </a:p>
          </p:txBody>
        </p:sp>
        <p:sp>
          <p:nvSpPr>
            <p:cNvPr id="25" name="TextBox 25"/>
            <p:cNvSpPr txBox="1"/>
            <p:nvPr/>
          </p:nvSpPr>
          <p:spPr>
            <a:xfrm>
              <a:off x="0" y="-28575"/>
              <a:ext cx="1284961" cy="1645482"/>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6" name="Group 26"/>
          <p:cNvGrpSpPr/>
          <p:nvPr/>
        </p:nvGrpSpPr>
        <p:grpSpPr>
          <a:xfrm>
            <a:off x="11864094" y="3025354"/>
            <a:ext cx="4878837" cy="6139193"/>
            <a:chOff x="0" y="0"/>
            <a:chExt cx="1284961" cy="1616907"/>
          </a:xfrm>
        </p:grpSpPr>
        <p:sp>
          <p:nvSpPr>
            <p:cNvPr id="27" name="Freeform 27"/>
            <p:cNvSpPr/>
            <p:nvPr/>
          </p:nvSpPr>
          <p:spPr>
            <a:xfrm>
              <a:off x="0" y="0"/>
              <a:ext cx="1284961" cy="1616907"/>
            </a:xfrm>
            <a:custGeom>
              <a:avLst/>
              <a:gdLst/>
              <a:ahLst/>
              <a:cxnLst/>
              <a:rect l="l" t="t" r="r" b="b"/>
              <a:pathLst>
                <a:path w="1284961" h="1616907">
                  <a:moveTo>
                    <a:pt x="0" y="0"/>
                  </a:moveTo>
                  <a:lnTo>
                    <a:pt x="1284961" y="0"/>
                  </a:lnTo>
                  <a:lnTo>
                    <a:pt x="1284961" y="1616907"/>
                  </a:lnTo>
                  <a:lnTo>
                    <a:pt x="0" y="1616907"/>
                  </a:lnTo>
                  <a:close/>
                </a:path>
              </a:pathLst>
            </a:custGeom>
            <a:solidFill>
              <a:srgbClr val="E3E3E3"/>
            </a:solidFill>
            <a:ln cap="sq">
              <a:noFill/>
              <a:prstDash val="solid"/>
              <a:miter/>
            </a:ln>
          </p:spPr>
          <p:txBody>
            <a:bodyPr>
              <a:normAutofit/>
            </a:bodyPr>
            <a:lstStyle/>
            <a:p>
              <a:endParaRPr lang="ko-KR" altLang="en-US"/>
            </a:p>
          </p:txBody>
        </p:sp>
        <p:sp>
          <p:nvSpPr>
            <p:cNvPr id="28" name="TextBox 28"/>
            <p:cNvSpPr txBox="1"/>
            <p:nvPr/>
          </p:nvSpPr>
          <p:spPr>
            <a:xfrm>
              <a:off x="0" y="-28575"/>
              <a:ext cx="1284961" cy="1645482"/>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29" name="TextBox 29"/>
          <p:cNvSpPr txBox="1"/>
          <p:nvPr/>
        </p:nvSpPr>
        <p:spPr>
          <a:xfrm>
            <a:off x="2228806" y="6028275"/>
            <a:ext cx="3622698" cy="2552700"/>
          </a:xfrm>
          <a:prstGeom prst="rect">
            <a:avLst/>
          </a:prstGeom>
        </p:spPr>
        <p:txBody>
          <a:bodyPr lIns="0" tIns="0" rIns="0" bIns="0" rtlCol="0" anchor="t">
            <a:normAutofit/>
          </a:bodyPr>
          <a:lstStyle/>
          <a:p>
            <a:pPr marL="0" lvl="0" indent="0" algn="ctr">
              <a:lnSpc>
                <a:spcPts val="3375"/>
              </a:lnSpc>
            </a:pPr>
            <a:r>
              <a:rPr lang="en-US" sz="2250" u="none" strike="noStrike" spc="-78">
                <a:solidFill>
                  <a:srgbClr val="222222">
                    <a:alpha val="80000"/>
                  </a:srgbClr>
                </a:solidFill>
                <a:latin typeface="JASO Sans"/>
                <a:ea typeface="JASO Sans"/>
                <a:cs typeface="JASO Sans"/>
                <a:sym typeface="JASO Sans"/>
              </a:rPr>
              <a:t>이 카드는 브랜드나 조직을 처음 </a:t>
            </a:r>
          </a:p>
          <a:p>
            <a:pPr marL="0" lvl="0" indent="0" algn="ctr">
              <a:lnSpc>
                <a:spcPts val="3375"/>
              </a:lnSpc>
            </a:pPr>
            <a:r>
              <a:rPr lang="en-US" sz="2250" u="none" strike="noStrike" spc="-78">
                <a:solidFill>
                  <a:srgbClr val="222222">
                    <a:alpha val="80000"/>
                  </a:srgbClr>
                </a:solidFill>
                <a:latin typeface="JASO Sans"/>
                <a:ea typeface="JASO Sans"/>
                <a:cs typeface="JASO Sans"/>
                <a:sym typeface="JASO Sans"/>
              </a:rPr>
              <a:t>소개할 때 사용하는 레이아웃입니다. 브랜드 철학, 설립 연도, 비전 등을 간략하게 정리해 한눈에 브랜드의 정체성을 전달할 수</a:t>
            </a:r>
          </a:p>
          <a:p>
            <a:pPr marL="0" lvl="0" indent="0" algn="ctr">
              <a:lnSpc>
                <a:spcPts val="3375"/>
              </a:lnSpc>
            </a:pPr>
            <a:r>
              <a:rPr lang="en-US" sz="2250" u="none" strike="noStrike" spc="-78">
                <a:solidFill>
                  <a:srgbClr val="222222">
                    <a:alpha val="80000"/>
                  </a:srgbClr>
                </a:solidFill>
                <a:latin typeface="JASO Sans"/>
                <a:ea typeface="JASO Sans"/>
                <a:cs typeface="JASO Sans"/>
                <a:sym typeface="JASO Sans"/>
              </a:rPr>
              <a:t>있습니다.</a:t>
            </a:r>
          </a:p>
        </p:txBody>
      </p:sp>
      <p:sp>
        <p:nvSpPr>
          <p:cNvPr id="30" name="TextBox 30"/>
          <p:cNvSpPr txBox="1"/>
          <p:nvPr/>
        </p:nvSpPr>
        <p:spPr>
          <a:xfrm>
            <a:off x="7386475" y="6028275"/>
            <a:ext cx="3622698" cy="2552700"/>
          </a:xfrm>
          <a:prstGeom prst="rect">
            <a:avLst/>
          </a:prstGeom>
        </p:spPr>
        <p:txBody>
          <a:bodyPr lIns="0" tIns="0" rIns="0" bIns="0" rtlCol="0" anchor="t">
            <a:normAutofit/>
          </a:bodyPr>
          <a:lstStyle/>
          <a:p>
            <a:pPr marL="0" lvl="0" indent="0" algn="ctr">
              <a:lnSpc>
                <a:spcPts val="3375"/>
              </a:lnSpc>
            </a:pPr>
            <a:r>
              <a:rPr lang="en-US" sz="2250" spc="-78">
                <a:solidFill>
                  <a:srgbClr val="222222">
                    <a:alpha val="80000"/>
                  </a:srgbClr>
                </a:solidFill>
                <a:latin typeface="JASO Sans"/>
                <a:ea typeface="JASO Sans"/>
                <a:cs typeface="JASO Sans"/>
                <a:sym typeface="JASO Sans"/>
              </a:rPr>
              <a:t>기업</a:t>
            </a:r>
            <a:r>
              <a:rPr lang="en-US" sz="2250" u="none" strike="noStrike" spc="-78">
                <a:solidFill>
                  <a:srgbClr val="222222">
                    <a:alpha val="80000"/>
                  </a:srgbClr>
                </a:solidFill>
                <a:latin typeface="JASO Sans"/>
                <a:ea typeface="JASO Sans"/>
                <a:cs typeface="JASO Sans"/>
                <a:sym typeface="JASO Sans"/>
              </a:rPr>
              <a:t>이 제공하는 주요 서비스나 제품을 간략히 소개하는 데 적합한 카드입니다. 한 장의 카드에 하나의 서비스만 집중해서 담고, 아이콘 등을 활용하여 직관성을 높입니다.</a:t>
            </a:r>
          </a:p>
        </p:txBody>
      </p:sp>
      <p:sp>
        <p:nvSpPr>
          <p:cNvPr id="31" name="TextBox 31"/>
          <p:cNvSpPr txBox="1"/>
          <p:nvPr/>
        </p:nvSpPr>
        <p:spPr>
          <a:xfrm>
            <a:off x="12545987" y="6028275"/>
            <a:ext cx="3622698" cy="2552700"/>
          </a:xfrm>
          <a:prstGeom prst="rect">
            <a:avLst/>
          </a:prstGeom>
        </p:spPr>
        <p:txBody>
          <a:bodyPr lIns="0" tIns="0" rIns="0" bIns="0" rtlCol="0" anchor="t">
            <a:normAutofit/>
          </a:bodyPr>
          <a:lstStyle/>
          <a:p>
            <a:pPr marL="0" lvl="0" indent="0" algn="ctr">
              <a:lnSpc>
                <a:spcPts val="3375"/>
              </a:lnSpc>
            </a:pPr>
            <a:r>
              <a:rPr lang="en-US" sz="2250" spc="-78">
                <a:solidFill>
                  <a:srgbClr val="222222">
                    <a:alpha val="80000"/>
                  </a:srgbClr>
                </a:solidFill>
                <a:latin typeface="JASO Sans"/>
                <a:ea typeface="JASO Sans"/>
                <a:cs typeface="JASO Sans"/>
                <a:sym typeface="JASO Sans"/>
              </a:rPr>
              <a:t>정보</a:t>
            </a:r>
            <a:r>
              <a:rPr lang="en-US" sz="2250" u="none" strike="noStrike" spc="-78">
                <a:solidFill>
                  <a:srgbClr val="222222">
                    <a:alpha val="80000"/>
                  </a:srgbClr>
                </a:solidFill>
                <a:latin typeface="JASO Sans"/>
                <a:ea typeface="JASO Sans"/>
                <a:cs typeface="JASO Sans"/>
                <a:sym typeface="JASO Sans"/>
              </a:rPr>
              <a:t> 콘텐츠나 교육 자료의 핵심만 뽑아서 요약하는 카드 구성입니다. [콘텐츠 마케팅의 3가지 전략]처럼 주제를 간단하게 정리하고, 핵심 키워드를 강조하여 구성합니다.</a:t>
            </a:r>
          </a:p>
        </p:txBody>
      </p:sp>
      <p:sp>
        <p:nvSpPr>
          <p:cNvPr id="32" name="TextBox 32"/>
          <p:cNvSpPr txBox="1"/>
          <p:nvPr/>
        </p:nvSpPr>
        <p:spPr>
          <a:xfrm>
            <a:off x="2067664" y="4104739"/>
            <a:ext cx="3837333" cy="1253021"/>
          </a:xfrm>
          <a:prstGeom prst="rect">
            <a:avLst/>
          </a:prstGeom>
        </p:spPr>
        <p:txBody>
          <a:bodyPr lIns="0" tIns="0" rIns="0" bIns="0" rtlCol="0" anchor="t">
            <a:normAutofit fontScale="92500"/>
          </a:bodyPr>
          <a:lstStyle/>
          <a:p>
            <a:pPr marL="0" lvl="0" indent="0" algn="ctr">
              <a:lnSpc>
                <a:spcPts val="4998"/>
              </a:lnSpc>
            </a:pPr>
            <a:r>
              <a:rPr lang="en-US" sz="4200" b="1" spc="-92" dirty="0" err="1">
                <a:solidFill>
                  <a:srgbClr val="333333"/>
                </a:solidFill>
                <a:latin typeface="JASO Sans Bold"/>
                <a:ea typeface="JASO Sans Bold"/>
                <a:cs typeface="JASO Sans Bold"/>
                <a:sym typeface="JASO Sans Bold"/>
              </a:rPr>
              <a:t>브랜드</a:t>
            </a:r>
            <a:r>
              <a:rPr lang="en-US" sz="4200" b="1" spc="-92" dirty="0">
                <a:solidFill>
                  <a:srgbClr val="333333"/>
                </a:solidFill>
                <a:latin typeface="JASO Sans Bold"/>
                <a:ea typeface="JASO Sans Bold"/>
                <a:cs typeface="JASO Sans Bold"/>
                <a:sym typeface="JASO Sans Bold"/>
              </a:rPr>
              <a:t> </a:t>
            </a:r>
            <a:r>
              <a:rPr lang="en-US" sz="4200" b="1" spc="-92" dirty="0" err="1">
                <a:solidFill>
                  <a:srgbClr val="333333"/>
                </a:solidFill>
                <a:latin typeface="JASO Sans Bold"/>
                <a:ea typeface="JASO Sans Bold"/>
                <a:cs typeface="JASO Sans Bold"/>
                <a:sym typeface="JASO Sans Bold"/>
              </a:rPr>
              <a:t>소개용</a:t>
            </a:r>
            <a:endParaRPr lang="en-US" sz="4200" b="1" spc="-92" dirty="0">
              <a:solidFill>
                <a:srgbClr val="333333"/>
              </a:solidFill>
              <a:latin typeface="JASO Sans Bold"/>
              <a:ea typeface="JASO Sans Bold"/>
              <a:cs typeface="JASO Sans Bold"/>
              <a:sym typeface="JASO Sans Bold"/>
            </a:endParaRPr>
          </a:p>
          <a:p>
            <a:pPr marL="0" lvl="0" indent="0" algn="ctr">
              <a:lnSpc>
                <a:spcPts val="4998"/>
              </a:lnSpc>
            </a:pPr>
            <a:r>
              <a:rPr lang="en-US" sz="4200" b="1" u="none" strike="noStrike" spc="-92" dirty="0" err="1">
                <a:solidFill>
                  <a:srgbClr val="333333"/>
                </a:solidFill>
                <a:latin typeface="JASO Sans Bold"/>
                <a:ea typeface="JASO Sans Bold"/>
                <a:cs typeface="JASO Sans Bold"/>
                <a:sym typeface="JASO Sans Bold"/>
              </a:rPr>
              <a:t>슬라이드</a:t>
            </a:r>
            <a:endParaRPr lang="en-US" sz="4200" b="1" u="none" strike="noStrike" spc="-92" dirty="0">
              <a:solidFill>
                <a:srgbClr val="333333"/>
              </a:solidFill>
              <a:latin typeface="JASO Sans Bold"/>
              <a:ea typeface="JASO Sans Bold"/>
              <a:cs typeface="JASO Sans Bold"/>
              <a:sym typeface="JASO Sans Bold"/>
            </a:endParaRPr>
          </a:p>
        </p:txBody>
      </p:sp>
      <p:sp>
        <p:nvSpPr>
          <p:cNvPr id="33" name="TextBox 33"/>
          <p:cNvSpPr txBox="1"/>
          <p:nvPr/>
        </p:nvSpPr>
        <p:spPr>
          <a:xfrm>
            <a:off x="7225333" y="4104739"/>
            <a:ext cx="3837333" cy="1881627"/>
          </a:xfrm>
          <a:prstGeom prst="rect">
            <a:avLst/>
          </a:prstGeom>
        </p:spPr>
        <p:txBody>
          <a:bodyPr lIns="0" tIns="0" rIns="0" bIns="0" rtlCol="0" anchor="t">
            <a:normAutofit/>
          </a:bodyPr>
          <a:lstStyle/>
          <a:p>
            <a:pPr marL="0" lvl="0" indent="0" algn="ctr">
              <a:lnSpc>
                <a:spcPts val="4998"/>
              </a:lnSpc>
            </a:pPr>
            <a:r>
              <a:rPr lang="en-US" sz="4200" b="1" spc="-92">
                <a:solidFill>
                  <a:srgbClr val="333333"/>
                </a:solidFill>
                <a:latin typeface="JASO Sans Bold"/>
                <a:ea typeface="JASO Sans Bold"/>
                <a:cs typeface="JASO Sans Bold"/>
                <a:sym typeface="JASO Sans Bold"/>
              </a:rPr>
              <a:t>핵심 서비스</a:t>
            </a:r>
          </a:p>
          <a:p>
            <a:pPr marL="0" lvl="0" indent="0" algn="ctr">
              <a:lnSpc>
                <a:spcPts val="4998"/>
              </a:lnSpc>
            </a:pPr>
            <a:r>
              <a:rPr lang="en-US" sz="4200" b="1" u="none" strike="noStrike" spc="-92">
                <a:solidFill>
                  <a:srgbClr val="333333"/>
                </a:solidFill>
                <a:latin typeface="JASO Sans Bold"/>
                <a:ea typeface="JASO Sans Bold"/>
                <a:cs typeface="JASO Sans Bold"/>
                <a:sym typeface="JASO Sans Bold"/>
              </a:rPr>
              <a:t>안내 카드</a:t>
            </a:r>
          </a:p>
          <a:p>
            <a:pPr marL="0" lvl="0" indent="0" algn="ctr">
              <a:lnSpc>
                <a:spcPts val="4998"/>
              </a:lnSpc>
            </a:pPr>
            <a:endParaRPr lang="en-US" sz="4200" b="1" u="none" strike="noStrike" spc="-92">
              <a:solidFill>
                <a:srgbClr val="333333"/>
              </a:solidFill>
              <a:latin typeface="JASO Sans Bold"/>
              <a:ea typeface="JASO Sans Bold"/>
              <a:cs typeface="JASO Sans Bold"/>
              <a:sym typeface="JASO Sans Bold"/>
            </a:endParaRPr>
          </a:p>
        </p:txBody>
      </p:sp>
      <p:sp>
        <p:nvSpPr>
          <p:cNvPr id="34" name="TextBox 34"/>
          <p:cNvSpPr txBox="1"/>
          <p:nvPr/>
        </p:nvSpPr>
        <p:spPr>
          <a:xfrm>
            <a:off x="12384846" y="4104739"/>
            <a:ext cx="3837333" cy="1253021"/>
          </a:xfrm>
          <a:prstGeom prst="rect">
            <a:avLst/>
          </a:prstGeom>
        </p:spPr>
        <p:txBody>
          <a:bodyPr lIns="0" tIns="0" rIns="0" bIns="0" rtlCol="0" anchor="t">
            <a:normAutofit fontScale="92500"/>
          </a:bodyPr>
          <a:lstStyle/>
          <a:p>
            <a:pPr marL="0" lvl="0" indent="0" algn="ctr">
              <a:lnSpc>
                <a:spcPts val="4998"/>
              </a:lnSpc>
            </a:pPr>
            <a:r>
              <a:rPr lang="en-US" sz="4200" b="1" spc="-92">
                <a:solidFill>
                  <a:srgbClr val="333333"/>
                </a:solidFill>
                <a:latin typeface="JASO Sans Bold"/>
                <a:ea typeface="JASO Sans Bold"/>
                <a:cs typeface="JASO Sans Bold"/>
                <a:sym typeface="JASO Sans Bold"/>
              </a:rPr>
              <a:t>정보형 콘텐츠</a:t>
            </a:r>
          </a:p>
          <a:p>
            <a:pPr marL="0" lvl="0" indent="0" algn="ctr">
              <a:lnSpc>
                <a:spcPts val="4998"/>
              </a:lnSpc>
            </a:pPr>
            <a:r>
              <a:rPr lang="en-US" sz="4200" b="1" u="none" strike="noStrike" spc="-92">
                <a:solidFill>
                  <a:srgbClr val="333333"/>
                </a:solidFill>
                <a:latin typeface="JASO Sans Bold"/>
                <a:ea typeface="JASO Sans Bold"/>
                <a:cs typeface="JASO Sans Bold"/>
                <a:sym typeface="JASO Sans Bold"/>
              </a:rPr>
              <a:t>하이라이트</a:t>
            </a:r>
          </a:p>
        </p:txBody>
      </p:sp>
      <p:sp>
        <p:nvSpPr>
          <p:cNvPr id="35" name="AutoShape 35"/>
          <p:cNvSpPr/>
          <p:nvPr/>
        </p:nvSpPr>
        <p:spPr>
          <a:xfrm flipH="1">
            <a:off x="1960658" y="5733997"/>
            <a:ext cx="4051345" cy="0"/>
          </a:xfrm>
          <a:prstGeom prst="line">
            <a:avLst/>
          </a:prstGeom>
          <a:ln w="19050" cap="rnd">
            <a:solidFill>
              <a:srgbClr val="333333">
                <a:alpha val="9804"/>
              </a:srgbClr>
            </a:solidFill>
            <a:prstDash val="solid"/>
            <a:headEnd type="none" w="sm" len="sm"/>
            <a:tailEnd type="none" w="sm" len="sm"/>
          </a:ln>
        </p:spPr>
        <p:txBody>
          <a:bodyPr>
            <a:normAutofit fontScale="25000" lnSpcReduction="20000"/>
          </a:bodyPr>
          <a:lstStyle/>
          <a:p>
            <a:endParaRPr lang="ko-KR" altLang="en-US"/>
          </a:p>
        </p:txBody>
      </p:sp>
      <p:sp>
        <p:nvSpPr>
          <p:cNvPr id="36" name="AutoShape 36"/>
          <p:cNvSpPr/>
          <p:nvPr/>
        </p:nvSpPr>
        <p:spPr>
          <a:xfrm flipH="1">
            <a:off x="7118327" y="5733997"/>
            <a:ext cx="4051345" cy="0"/>
          </a:xfrm>
          <a:prstGeom prst="line">
            <a:avLst/>
          </a:prstGeom>
          <a:ln w="19050" cap="rnd">
            <a:solidFill>
              <a:srgbClr val="333333">
                <a:alpha val="9804"/>
              </a:srgbClr>
            </a:solidFill>
            <a:prstDash val="solid"/>
            <a:headEnd type="none" w="sm" len="sm"/>
            <a:tailEnd type="none" w="sm" len="sm"/>
          </a:ln>
        </p:spPr>
        <p:txBody>
          <a:bodyPr>
            <a:normAutofit fontScale="25000" lnSpcReduction="20000"/>
          </a:bodyPr>
          <a:lstStyle/>
          <a:p>
            <a:endParaRPr lang="ko-KR" altLang="en-US"/>
          </a:p>
        </p:txBody>
      </p:sp>
      <p:sp>
        <p:nvSpPr>
          <p:cNvPr id="37" name="AutoShape 37"/>
          <p:cNvSpPr/>
          <p:nvPr/>
        </p:nvSpPr>
        <p:spPr>
          <a:xfrm flipH="1">
            <a:off x="12277840" y="5733997"/>
            <a:ext cx="4051345" cy="0"/>
          </a:xfrm>
          <a:prstGeom prst="line">
            <a:avLst/>
          </a:prstGeom>
          <a:ln w="19050" cap="rnd">
            <a:solidFill>
              <a:srgbClr val="333333">
                <a:alpha val="9804"/>
              </a:srgbClr>
            </a:solidFill>
            <a:prstDash val="solid"/>
            <a:headEnd type="none" w="sm" len="sm"/>
            <a:tailEnd type="none" w="sm" len="sm"/>
          </a:ln>
        </p:spPr>
        <p:txBody>
          <a:bodyPr>
            <a:normAutofit fontScale="25000" lnSpcReduction="20000"/>
          </a:bodyPr>
          <a:lstStyle/>
          <a:p>
            <a:endParaRPr lang="ko-KR" altLang="en-US"/>
          </a:p>
        </p:txBody>
      </p:sp>
      <p:sp>
        <p:nvSpPr>
          <p:cNvPr id="38" name="TextBox 38"/>
          <p:cNvSpPr txBox="1"/>
          <p:nvPr/>
        </p:nvSpPr>
        <p:spPr>
          <a:xfrm rot="-18144">
            <a:off x="3590809" y="3643239"/>
            <a:ext cx="1028620" cy="261545"/>
          </a:xfrm>
          <a:prstGeom prst="rect">
            <a:avLst/>
          </a:prstGeom>
        </p:spPr>
        <p:txBody>
          <a:bodyPr lIns="0" tIns="0" rIns="0" bIns="0" rtlCol="0" anchor="t">
            <a:normAutofit/>
          </a:bodyPr>
          <a:lstStyle/>
          <a:p>
            <a:pPr marL="0" lvl="0" indent="0" algn="l">
              <a:lnSpc>
                <a:spcPts val="1894"/>
              </a:lnSpc>
            </a:pPr>
            <a:r>
              <a:rPr lang="en-US" sz="1857" b="1" spc="-13">
                <a:solidFill>
                  <a:srgbClr val="B35555"/>
                </a:solidFill>
                <a:latin typeface="Poppins Semi-Bold"/>
                <a:ea typeface="Poppins Semi-Bold"/>
                <a:cs typeface="Poppins Semi-Bold"/>
                <a:sym typeface="Poppins Semi-Bold"/>
              </a:rPr>
              <a:t>Card 01</a:t>
            </a:r>
          </a:p>
        </p:txBody>
      </p:sp>
      <p:sp>
        <p:nvSpPr>
          <p:cNvPr id="39" name="TextBox 39"/>
          <p:cNvSpPr txBox="1"/>
          <p:nvPr/>
        </p:nvSpPr>
        <p:spPr>
          <a:xfrm rot="-18144">
            <a:off x="8748478" y="3643239"/>
            <a:ext cx="1028620" cy="261545"/>
          </a:xfrm>
          <a:prstGeom prst="rect">
            <a:avLst/>
          </a:prstGeom>
        </p:spPr>
        <p:txBody>
          <a:bodyPr lIns="0" tIns="0" rIns="0" bIns="0" rtlCol="0" anchor="t">
            <a:normAutofit/>
          </a:bodyPr>
          <a:lstStyle/>
          <a:p>
            <a:pPr marL="0" lvl="0" indent="0" algn="l">
              <a:lnSpc>
                <a:spcPts val="1894"/>
              </a:lnSpc>
            </a:pPr>
            <a:r>
              <a:rPr lang="en-US" sz="1857" b="1" spc="-13">
                <a:solidFill>
                  <a:srgbClr val="B35555"/>
                </a:solidFill>
                <a:latin typeface="Poppins Semi-Bold"/>
                <a:ea typeface="Poppins Semi-Bold"/>
                <a:cs typeface="Poppins Semi-Bold"/>
                <a:sym typeface="Poppins Semi-Bold"/>
              </a:rPr>
              <a:t>Card 02</a:t>
            </a:r>
          </a:p>
        </p:txBody>
      </p:sp>
      <p:sp>
        <p:nvSpPr>
          <p:cNvPr id="40" name="TextBox 40"/>
          <p:cNvSpPr txBox="1"/>
          <p:nvPr/>
        </p:nvSpPr>
        <p:spPr>
          <a:xfrm rot="-18144">
            <a:off x="13907990" y="3643239"/>
            <a:ext cx="1028620" cy="261545"/>
          </a:xfrm>
          <a:prstGeom prst="rect">
            <a:avLst/>
          </a:prstGeom>
        </p:spPr>
        <p:txBody>
          <a:bodyPr lIns="0" tIns="0" rIns="0" bIns="0" rtlCol="0" anchor="t">
            <a:normAutofit/>
          </a:bodyPr>
          <a:lstStyle/>
          <a:p>
            <a:pPr marL="0" lvl="0" indent="0" algn="l">
              <a:lnSpc>
                <a:spcPts val="1894"/>
              </a:lnSpc>
            </a:pPr>
            <a:r>
              <a:rPr lang="en-US" sz="1857" b="1" spc="-13">
                <a:solidFill>
                  <a:srgbClr val="B35555"/>
                </a:solidFill>
                <a:latin typeface="Poppins Semi-Bold"/>
                <a:ea typeface="Poppins Semi-Bold"/>
                <a:cs typeface="Poppins Semi-Bold"/>
                <a:sym typeface="Poppins Semi-Bold"/>
              </a:rPr>
              <a:t>Card 03</a:t>
            </a:r>
          </a:p>
        </p:txBody>
      </p:sp>
      <p:sp>
        <p:nvSpPr>
          <p:cNvPr id="41" name="Freeform 41"/>
          <p:cNvSpPr/>
          <p:nvPr/>
        </p:nvSpPr>
        <p:spPr>
          <a:xfrm>
            <a:off x="3352549" y="3694368"/>
            <a:ext cx="171426" cy="130713"/>
          </a:xfrm>
          <a:custGeom>
            <a:avLst/>
            <a:gdLst/>
            <a:ahLst/>
            <a:cxnLst/>
            <a:rect l="l" t="t" r="r" b="b"/>
            <a:pathLst>
              <a:path w="171426" h="130713">
                <a:moveTo>
                  <a:pt x="0" y="0"/>
                </a:moveTo>
                <a:lnTo>
                  <a:pt x="171426" y="0"/>
                </a:lnTo>
                <a:lnTo>
                  <a:pt x="171426" y="130712"/>
                </a:lnTo>
                <a:lnTo>
                  <a:pt x="0" y="13071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normAutofit fontScale="25000" lnSpcReduction="20000"/>
          </a:bodyPr>
          <a:lstStyle/>
          <a:p>
            <a:endParaRPr lang="ko-KR" altLang="en-US"/>
          </a:p>
        </p:txBody>
      </p:sp>
      <p:sp>
        <p:nvSpPr>
          <p:cNvPr id="42" name="Freeform 42"/>
          <p:cNvSpPr/>
          <p:nvPr/>
        </p:nvSpPr>
        <p:spPr>
          <a:xfrm>
            <a:off x="8510218" y="3694368"/>
            <a:ext cx="171426" cy="130713"/>
          </a:xfrm>
          <a:custGeom>
            <a:avLst/>
            <a:gdLst/>
            <a:ahLst/>
            <a:cxnLst/>
            <a:rect l="l" t="t" r="r" b="b"/>
            <a:pathLst>
              <a:path w="171426" h="130713">
                <a:moveTo>
                  <a:pt x="0" y="0"/>
                </a:moveTo>
                <a:lnTo>
                  <a:pt x="171426" y="0"/>
                </a:lnTo>
                <a:lnTo>
                  <a:pt x="171426" y="130712"/>
                </a:lnTo>
                <a:lnTo>
                  <a:pt x="0" y="13071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normAutofit fontScale="25000" lnSpcReduction="20000"/>
          </a:bodyPr>
          <a:lstStyle/>
          <a:p>
            <a:endParaRPr lang="ko-KR" altLang="en-US"/>
          </a:p>
        </p:txBody>
      </p:sp>
      <p:sp>
        <p:nvSpPr>
          <p:cNvPr id="43" name="Freeform 43"/>
          <p:cNvSpPr/>
          <p:nvPr/>
        </p:nvSpPr>
        <p:spPr>
          <a:xfrm>
            <a:off x="13669730" y="3694368"/>
            <a:ext cx="171426" cy="130713"/>
          </a:xfrm>
          <a:custGeom>
            <a:avLst/>
            <a:gdLst/>
            <a:ahLst/>
            <a:cxnLst/>
            <a:rect l="l" t="t" r="r" b="b"/>
            <a:pathLst>
              <a:path w="171426" h="130713">
                <a:moveTo>
                  <a:pt x="0" y="0"/>
                </a:moveTo>
                <a:lnTo>
                  <a:pt x="171427" y="0"/>
                </a:lnTo>
                <a:lnTo>
                  <a:pt x="171427" y="130712"/>
                </a:lnTo>
                <a:lnTo>
                  <a:pt x="0" y="13071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normAutofit fontScale="25000" lnSpcReduction="20000"/>
          </a:bodyPr>
          <a:lstStyle/>
          <a:p>
            <a:endParaRPr lang="ko-KR" altLang="en-US"/>
          </a:p>
        </p:txBody>
      </p:sp>
      <p:sp>
        <p:nvSpPr>
          <p:cNvPr id="44" name="TextBox 19">
            <a:extLst>
              <a:ext uri="{FF2B5EF4-FFF2-40B4-BE49-F238E27FC236}">
                <a16:creationId xmlns:a16="http://schemas.microsoft.com/office/drawing/2014/main" id="{A8E4488E-BCDA-4511-A8A8-A7032CBC7414}"/>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Freeform 17"/>
          <p:cNvSpPr/>
          <p:nvPr/>
        </p:nvSpPr>
        <p:spPr>
          <a:xfrm>
            <a:off x="8841322" y="3298842"/>
            <a:ext cx="302678" cy="302678"/>
          </a:xfrm>
          <a:custGeom>
            <a:avLst/>
            <a:gdLst/>
            <a:ahLst/>
            <a:cxnLst/>
            <a:rect l="l" t="t" r="r" b="b"/>
            <a:pathLst>
              <a:path w="302678" h="302678">
                <a:moveTo>
                  <a:pt x="0" y="0"/>
                </a:moveTo>
                <a:lnTo>
                  <a:pt x="302678" y="0"/>
                </a:lnTo>
                <a:lnTo>
                  <a:pt x="302678" y="302679"/>
                </a:lnTo>
                <a:lnTo>
                  <a:pt x="0" y="30267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8" name="Freeform 18"/>
          <p:cNvSpPr/>
          <p:nvPr/>
        </p:nvSpPr>
        <p:spPr>
          <a:xfrm>
            <a:off x="8841322" y="6584301"/>
            <a:ext cx="302678" cy="302678"/>
          </a:xfrm>
          <a:custGeom>
            <a:avLst/>
            <a:gdLst/>
            <a:ahLst/>
            <a:cxnLst/>
            <a:rect l="l" t="t" r="r" b="b"/>
            <a:pathLst>
              <a:path w="302678" h="302678">
                <a:moveTo>
                  <a:pt x="0" y="0"/>
                </a:moveTo>
                <a:lnTo>
                  <a:pt x="302678" y="0"/>
                </a:lnTo>
                <a:lnTo>
                  <a:pt x="302678" y="302679"/>
                </a:lnTo>
                <a:lnTo>
                  <a:pt x="0" y="30267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19" name="Group 19"/>
          <p:cNvGrpSpPr/>
          <p:nvPr/>
        </p:nvGrpSpPr>
        <p:grpSpPr>
          <a:xfrm>
            <a:off x="1546912" y="3025354"/>
            <a:ext cx="6772225" cy="2858284"/>
            <a:chOff x="0" y="0"/>
            <a:chExt cx="961367" cy="405754"/>
          </a:xfrm>
        </p:grpSpPr>
        <p:sp>
          <p:nvSpPr>
            <p:cNvPr id="20" name="Freeform 20"/>
            <p:cNvSpPr/>
            <p:nvPr/>
          </p:nvSpPr>
          <p:spPr>
            <a:xfrm>
              <a:off x="0" y="0"/>
              <a:ext cx="961367" cy="405754"/>
            </a:xfrm>
            <a:custGeom>
              <a:avLst/>
              <a:gdLst/>
              <a:ahLst/>
              <a:cxnLst/>
              <a:rect l="l" t="t" r="r" b="b"/>
              <a:pathLst>
                <a:path w="961367" h="405754">
                  <a:moveTo>
                    <a:pt x="0" y="0"/>
                  </a:moveTo>
                  <a:lnTo>
                    <a:pt x="961367" y="0"/>
                  </a:lnTo>
                  <a:lnTo>
                    <a:pt x="961367" y="405754"/>
                  </a:lnTo>
                  <a:lnTo>
                    <a:pt x="0" y="405754"/>
                  </a:lnTo>
                  <a:close/>
                </a:path>
              </a:pathLst>
            </a:custGeom>
            <a:blipFill>
              <a:blip r:embed="rId18"/>
              <a:stretch>
                <a:fillRect l="-15857" t="-98822" r="-7981" b="-94592"/>
              </a:stretch>
            </a:blipFill>
            <a:ln cap="sq">
              <a:noFill/>
              <a:prstDash val="solid"/>
              <a:miter/>
            </a:ln>
          </p:spPr>
        </p:sp>
      </p:grpSp>
      <p:grpSp>
        <p:nvGrpSpPr>
          <p:cNvPr id="21" name="Group 21"/>
          <p:cNvGrpSpPr/>
          <p:nvPr/>
        </p:nvGrpSpPr>
        <p:grpSpPr>
          <a:xfrm>
            <a:off x="1546912" y="6310813"/>
            <a:ext cx="6772225" cy="2858284"/>
            <a:chOff x="0" y="0"/>
            <a:chExt cx="961367" cy="405754"/>
          </a:xfrm>
        </p:grpSpPr>
        <p:sp>
          <p:nvSpPr>
            <p:cNvPr id="22" name="Freeform 22"/>
            <p:cNvSpPr/>
            <p:nvPr/>
          </p:nvSpPr>
          <p:spPr>
            <a:xfrm>
              <a:off x="0" y="0"/>
              <a:ext cx="961367" cy="405754"/>
            </a:xfrm>
            <a:custGeom>
              <a:avLst/>
              <a:gdLst/>
              <a:ahLst/>
              <a:cxnLst/>
              <a:rect l="l" t="t" r="r" b="b"/>
              <a:pathLst>
                <a:path w="961367" h="405754">
                  <a:moveTo>
                    <a:pt x="0" y="0"/>
                  </a:moveTo>
                  <a:lnTo>
                    <a:pt x="961367" y="0"/>
                  </a:lnTo>
                  <a:lnTo>
                    <a:pt x="961367" y="405754"/>
                  </a:lnTo>
                  <a:lnTo>
                    <a:pt x="0" y="405754"/>
                  </a:lnTo>
                  <a:close/>
                </a:path>
              </a:pathLst>
            </a:custGeom>
            <a:blipFill>
              <a:blip r:embed="rId19"/>
              <a:stretch>
                <a:fillRect t="-29049" b="-29049"/>
              </a:stretch>
            </a:blipFill>
            <a:ln cap="sq">
              <a:noFill/>
              <a:prstDash val="solid"/>
              <a:miter/>
            </a:ln>
          </p:spPr>
        </p:sp>
      </p:grpSp>
      <p:sp>
        <p:nvSpPr>
          <p:cNvPr id="23" name="TextBox 23"/>
          <p:cNvSpPr txBox="1"/>
          <p:nvPr/>
        </p:nvSpPr>
        <p:spPr>
          <a:xfrm>
            <a:off x="2073273" y="872658"/>
            <a:ext cx="8935899"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사진과 설명글이 있는 페이지</a:t>
            </a:r>
          </a:p>
        </p:txBody>
      </p:sp>
      <p:sp>
        <p:nvSpPr>
          <p:cNvPr id="24" name="TextBox 24"/>
          <p:cNvSpPr txBox="1"/>
          <p:nvPr/>
        </p:nvSpPr>
        <p:spPr>
          <a:xfrm>
            <a:off x="10760447"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6" name="TextBox 26"/>
          <p:cNvSpPr txBox="1"/>
          <p:nvPr/>
        </p:nvSpPr>
        <p:spPr>
          <a:xfrm>
            <a:off x="8841322" y="3961105"/>
            <a:ext cx="7901609" cy="1806804"/>
          </a:xfrm>
          <a:prstGeom prst="rect">
            <a:avLst/>
          </a:prstGeom>
        </p:spPr>
        <p:txBody>
          <a:bodyPr lIns="0" tIns="0" rIns="0" bIns="0" rtlCol="0" anchor="t">
            <a:normAutofit/>
          </a:bodyPr>
          <a:lstStyle/>
          <a:p>
            <a:pPr algn="l">
              <a:lnSpc>
                <a:spcPts val="3622"/>
              </a:lnSpc>
            </a:pPr>
            <a:r>
              <a:rPr lang="en-US" sz="2250" spc="-78">
                <a:solidFill>
                  <a:srgbClr val="222222">
                    <a:alpha val="80000"/>
                  </a:srgbClr>
                </a:solidFill>
                <a:latin typeface="JASO Sans"/>
                <a:ea typeface="JASO Sans"/>
                <a:cs typeface="JASO Sans"/>
                <a:sym typeface="JASO Sans"/>
              </a:rPr>
              <a:t>시각 자료를 중심으로 정보를 전달할 때 활용하기 좋은 레이아웃이에요.</a:t>
            </a:r>
          </a:p>
          <a:p>
            <a:pPr algn="l">
              <a:lnSpc>
                <a:spcPts val="3622"/>
              </a:lnSpc>
            </a:pPr>
            <a:r>
              <a:rPr lang="en-US" sz="2250" spc="-78">
                <a:solidFill>
                  <a:srgbClr val="222222">
                    <a:alpha val="80000"/>
                  </a:srgbClr>
                </a:solidFill>
                <a:latin typeface="JASO Sans"/>
                <a:ea typeface="JASO Sans"/>
                <a:cs typeface="JASO Sans"/>
                <a:sym typeface="JASO Sans"/>
              </a:rPr>
              <a:t> 사진을 크게 배치해 실제 사례나 과정을 직관적으로 보여줄 수 있으며, 그 옆에 간단한 설명을 배치해 핵심 내용을 빠르게 이해하도록 도와줍니다.</a:t>
            </a:r>
          </a:p>
        </p:txBody>
      </p:sp>
      <p:sp>
        <p:nvSpPr>
          <p:cNvPr id="27" name="TextBox 27"/>
          <p:cNvSpPr txBox="1"/>
          <p:nvPr/>
        </p:nvSpPr>
        <p:spPr>
          <a:xfrm>
            <a:off x="8841322" y="7246564"/>
            <a:ext cx="7901609" cy="2263982"/>
          </a:xfrm>
          <a:prstGeom prst="rect">
            <a:avLst/>
          </a:prstGeom>
        </p:spPr>
        <p:txBody>
          <a:bodyPr lIns="0" tIns="0" rIns="0" bIns="0" rtlCol="0" anchor="t">
            <a:normAutofit/>
          </a:bodyPr>
          <a:lstStyle/>
          <a:p>
            <a:pPr algn="l">
              <a:lnSpc>
                <a:spcPts val="3622"/>
              </a:lnSpc>
            </a:pPr>
            <a:r>
              <a:rPr lang="en-US" sz="2250" spc="-78">
                <a:solidFill>
                  <a:srgbClr val="222222">
                    <a:alpha val="80000"/>
                  </a:srgbClr>
                </a:solidFill>
                <a:latin typeface="JASO Sans"/>
                <a:ea typeface="JASO Sans"/>
                <a:cs typeface="JASO Sans"/>
                <a:sym typeface="JASO Sans"/>
              </a:rPr>
              <a:t>동일한 구성의 반복 페이지를 통해 통일감 있는 정보 구조를 만들 수 있는 레이아웃입니다. 이미지를 중심으로 스토리의 흐름을 보여주거나 단계별 변화, 비교 자료 등을 소개할 때 유용하게 사용할 수 있어요.</a:t>
            </a:r>
          </a:p>
          <a:p>
            <a:pPr algn="l">
              <a:lnSpc>
                <a:spcPts val="3622"/>
              </a:lnSpc>
            </a:pPr>
            <a:r>
              <a:rPr lang="en-US" sz="2250" spc="-78">
                <a:solidFill>
                  <a:srgbClr val="222222">
                    <a:alpha val="80000"/>
                  </a:srgbClr>
                </a:solidFill>
                <a:latin typeface="JASO Sans"/>
                <a:ea typeface="JASO Sans"/>
                <a:cs typeface="JASO Sans"/>
                <a:sym typeface="JASO Sans"/>
              </a:rPr>
              <a:t>깔끔한 구성 덕분에 다양한 비즈니스·교육용 자료에서 자주 사용됩니다.</a:t>
            </a:r>
          </a:p>
          <a:p>
            <a:pPr algn="l">
              <a:lnSpc>
                <a:spcPts val="3622"/>
              </a:lnSpc>
            </a:pPr>
            <a:r>
              <a:rPr lang="en-US" sz="2250" spc="-78">
                <a:solidFill>
                  <a:srgbClr val="222222">
                    <a:alpha val="80000"/>
                  </a:srgbClr>
                </a:solidFill>
                <a:latin typeface="JASO Sans"/>
                <a:ea typeface="JASO Sans"/>
                <a:cs typeface="JASO Sans"/>
                <a:sym typeface="JASO Sans"/>
              </a:rPr>
              <a:t> </a:t>
            </a:r>
          </a:p>
        </p:txBody>
      </p:sp>
      <p:sp>
        <p:nvSpPr>
          <p:cNvPr id="28" name="TextBox 28"/>
          <p:cNvSpPr txBox="1"/>
          <p:nvPr/>
        </p:nvSpPr>
        <p:spPr>
          <a:xfrm>
            <a:off x="9300541" y="3156198"/>
            <a:ext cx="7901609" cy="614807"/>
          </a:xfrm>
          <a:prstGeom prst="rect">
            <a:avLst/>
          </a:prstGeom>
        </p:spPr>
        <p:txBody>
          <a:bodyPr lIns="0" tIns="0" rIns="0" bIns="0" rtlCol="0" anchor="t">
            <a:normAutofit fontScale="92500"/>
          </a:bodyPr>
          <a:lstStyle/>
          <a:p>
            <a:pPr marL="0" lvl="0" indent="0" algn="l">
              <a:lnSpc>
                <a:spcPts val="4879"/>
              </a:lnSpc>
            </a:pPr>
            <a:r>
              <a:rPr lang="en-US" sz="4100" b="1" spc="-90">
                <a:solidFill>
                  <a:srgbClr val="333333"/>
                </a:solidFill>
                <a:latin typeface="JASO Sans Bold"/>
                <a:ea typeface="JASO Sans Bold"/>
                <a:cs typeface="JASO Sans Bold"/>
                <a:sym typeface="JASO Sans Bold"/>
              </a:rPr>
              <a:t>실사 이미지 중심</a:t>
            </a:r>
            <a:r>
              <a:rPr lang="en-US" sz="4100" b="1" u="none" strike="noStrike" spc="-90">
                <a:solidFill>
                  <a:srgbClr val="333333"/>
                </a:solidFill>
                <a:latin typeface="JASO Sans Bold"/>
                <a:ea typeface="JASO Sans Bold"/>
                <a:cs typeface="JASO Sans Bold"/>
                <a:sym typeface="JASO Sans Bold"/>
              </a:rPr>
              <a:t> 정보 소개 </a:t>
            </a:r>
          </a:p>
        </p:txBody>
      </p:sp>
      <p:sp>
        <p:nvSpPr>
          <p:cNvPr id="29" name="TextBox 29"/>
          <p:cNvSpPr txBox="1"/>
          <p:nvPr/>
        </p:nvSpPr>
        <p:spPr>
          <a:xfrm>
            <a:off x="9300541" y="6441657"/>
            <a:ext cx="7901609" cy="614807"/>
          </a:xfrm>
          <a:prstGeom prst="rect">
            <a:avLst/>
          </a:prstGeom>
        </p:spPr>
        <p:txBody>
          <a:bodyPr lIns="0" tIns="0" rIns="0" bIns="0" rtlCol="0" anchor="t">
            <a:normAutofit fontScale="92500"/>
          </a:bodyPr>
          <a:lstStyle/>
          <a:p>
            <a:pPr marL="0" lvl="0" indent="0" algn="l">
              <a:lnSpc>
                <a:spcPts val="4879"/>
              </a:lnSpc>
            </a:pPr>
            <a:r>
              <a:rPr lang="en-US" sz="4100" b="1" spc="-90">
                <a:solidFill>
                  <a:srgbClr val="333333"/>
                </a:solidFill>
                <a:latin typeface="JASO Sans Bold"/>
                <a:ea typeface="JASO Sans Bold"/>
                <a:cs typeface="JASO Sans Bold"/>
                <a:sym typeface="JASO Sans Bold"/>
              </a:rPr>
              <a:t>연속 이미지 기반</a:t>
            </a:r>
            <a:r>
              <a:rPr lang="en-US" sz="4100" b="1" u="none" strike="noStrike" spc="-90">
                <a:solidFill>
                  <a:srgbClr val="333333"/>
                </a:solidFill>
                <a:latin typeface="JASO Sans Bold"/>
                <a:ea typeface="JASO Sans Bold"/>
                <a:cs typeface="JASO Sans Bold"/>
                <a:sym typeface="JASO Sans Bold"/>
              </a:rPr>
              <a:t> 설명형</a:t>
            </a:r>
          </a:p>
        </p:txBody>
      </p:sp>
      <p:sp>
        <p:nvSpPr>
          <p:cNvPr id="30" name="TextBox 19">
            <a:extLst>
              <a:ext uri="{FF2B5EF4-FFF2-40B4-BE49-F238E27FC236}">
                <a16:creationId xmlns:a16="http://schemas.microsoft.com/office/drawing/2014/main" id="{0F4E8BEC-F512-41A7-8130-62C850948E4B}"/>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txBody>
            <a:bodyPr>
              <a:normAutofit fontScale="62500" lnSpcReduction="20000"/>
            </a:bodyPr>
            <a:lstStyle/>
            <a:p>
              <a:endParaRPr lang="ko-KR" altLang="en-US"/>
            </a:p>
          </p:txBody>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txBody>
            <a:bodyPr>
              <a:normAutofit fontScale="55000" lnSpcReduction="20000"/>
            </a:bodyPr>
            <a:lstStyle/>
            <a:p>
              <a:endParaRPr lang="ko-KR" altLang="en-US"/>
            </a:p>
          </p:txBody>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txBody>
            <a:bodyPr>
              <a:normAutofit fontScale="62500" lnSpcReduction="20000"/>
            </a:bodyPr>
            <a:lstStyle/>
            <a:p>
              <a:endParaRPr lang="ko-KR" altLang="en-US"/>
            </a:p>
          </p:txBody>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txBody>
            <a:bodyPr>
              <a:normAutofit fontScale="62500" lnSpcReduction="20000"/>
            </a:bodyPr>
            <a:lstStyle/>
            <a:p>
              <a:endParaRPr lang="ko-KR" altLang="en-US"/>
            </a:p>
          </p:txBody>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txBody>
            <a:bodyPr>
              <a:normAutofit fontScale="92500" lnSpcReduction="20000"/>
            </a:bodyPr>
            <a:lstStyle/>
            <a:p>
              <a:endParaRPr lang="ko-KR" altLang="en-US"/>
            </a:p>
          </p:txBody>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txBody>
            <a:bodyPr>
              <a:normAutofit fontScale="47500" lnSpcReduction="20000"/>
            </a:bodyPr>
            <a:lstStyle/>
            <a:p>
              <a:endParaRPr lang="ko-KR" altLang="en-US"/>
            </a:p>
          </p:txBody>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txBody>
            <a:bodyPr>
              <a:normAutofit fontScale="55000" lnSpcReduction="20000"/>
            </a:bodyPr>
            <a:lstStyle/>
            <a:p>
              <a:endParaRPr lang="ko-KR" altLang="en-US"/>
            </a:p>
          </p:txBody>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txBody>
            <a:bodyPr>
              <a:normAutofit/>
            </a:bodyPr>
            <a:lstStyle/>
            <a:p>
              <a:endParaRPr lang="ko-KR" altLang="en-US"/>
            </a:p>
          </p:txBody>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txBody>
          <a:bodyPr>
            <a:normAutofit fontScale="25000" lnSpcReduction="20000"/>
          </a:bodyPr>
          <a:lstStyle/>
          <a:p>
            <a:endParaRPr lang="ko-KR" altLang="en-US"/>
          </a:p>
        </p:txBody>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키워드와 요약정리가 있는 페이지</a:t>
            </a:r>
          </a:p>
        </p:txBody>
      </p:sp>
      <p:sp>
        <p:nvSpPr>
          <p:cNvPr id="18" name="TextBox 18"/>
          <p:cNvSpPr txBox="1"/>
          <p:nvPr/>
        </p:nvSpPr>
        <p:spPr>
          <a:xfrm>
            <a:off x="12111418" y="1358870"/>
            <a:ext cx="6293520" cy="228644"/>
          </a:xfrm>
          <a:prstGeom prst="rect">
            <a:avLst/>
          </a:prstGeom>
        </p:spPr>
        <p:txBody>
          <a:bodyPr lIns="0" tIns="0" rIns="0" bIns="0" rtlCol="0" anchor="t">
            <a:sp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0" name="AutoShape 20"/>
          <p:cNvSpPr/>
          <p:nvPr/>
        </p:nvSpPr>
        <p:spPr>
          <a:xfrm flipH="1">
            <a:off x="3310422" y="6163414"/>
            <a:ext cx="0" cy="1605255"/>
          </a:xfrm>
          <a:prstGeom prst="line">
            <a:avLst/>
          </a:prstGeom>
          <a:ln w="19050" cap="rnd">
            <a:solidFill>
              <a:srgbClr val="333333">
                <a:alpha val="19608"/>
              </a:srgbClr>
            </a:solidFill>
            <a:prstDash val="solid"/>
            <a:headEnd type="none" w="sm" len="sm"/>
            <a:tailEnd type="none" w="sm" len="sm"/>
          </a:ln>
        </p:spPr>
        <p:txBody>
          <a:bodyPr>
            <a:normAutofit fontScale="25000" lnSpcReduction="20000"/>
          </a:bodyPr>
          <a:lstStyle/>
          <a:p>
            <a:endParaRPr lang="ko-KR" altLang="en-US"/>
          </a:p>
        </p:txBody>
      </p:sp>
      <p:sp>
        <p:nvSpPr>
          <p:cNvPr id="21" name="AutoShape 21"/>
          <p:cNvSpPr/>
          <p:nvPr/>
        </p:nvSpPr>
        <p:spPr>
          <a:xfrm>
            <a:off x="7208585" y="6163414"/>
            <a:ext cx="0" cy="1605255"/>
          </a:xfrm>
          <a:prstGeom prst="line">
            <a:avLst/>
          </a:prstGeom>
          <a:ln w="19050" cap="rnd">
            <a:solidFill>
              <a:srgbClr val="333333">
                <a:alpha val="19608"/>
              </a:srgbClr>
            </a:solidFill>
            <a:prstDash val="solid"/>
            <a:headEnd type="none" w="sm" len="sm"/>
            <a:tailEnd type="none" w="sm" len="sm"/>
          </a:ln>
        </p:spPr>
        <p:txBody>
          <a:bodyPr>
            <a:normAutofit fontScale="25000" lnSpcReduction="20000"/>
          </a:bodyPr>
          <a:lstStyle/>
          <a:p>
            <a:endParaRPr lang="ko-KR" altLang="en-US"/>
          </a:p>
        </p:txBody>
      </p:sp>
      <p:sp>
        <p:nvSpPr>
          <p:cNvPr id="22" name="AutoShape 22"/>
          <p:cNvSpPr/>
          <p:nvPr/>
        </p:nvSpPr>
        <p:spPr>
          <a:xfrm>
            <a:off x="11084478" y="6163414"/>
            <a:ext cx="0" cy="1605255"/>
          </a:xfrm>
          <a:prstGeom prst="line">
            <a:avLst/>
          </a:prstGeom>
          <a:ln w="19050" cap="rnd">
            <a:solidFill>
              <a:srgbClr val="333333">
                <a:alpha val="19608"/>
              </a:srgbClr>
            </a:solidFill>
            <a:prstDash val="solid"/>
            <a:headEnd type="none" w="sm" len="sm"/>
            <a:tailEnd type="none" w="sm" len="sm"/>
          </a:ln>
        </p:spPr>
        <p:txBody>
          <a:bodyPr>
            <a:normAutofit fontScale="25000" lnSpcReduction="20000"/>
          </a:bodyPr>
          <a:lstStyle/>
          <a:p>
            <a:endParaRPr lang="ko-KR" altLang="en-US"/>
          </a:p>
        </p:txBody>
      </p:sp>
      <p:grpSp>
        <p:nvGrpSpPr>
          <p:cNvPr id="23" name="Group 23"/>
          <p:cNvGrpSpPr/>
          <p:nvPr/>
        </p:nvGrpSpPr>
        <p:grpSpPr>
          <a:xfrm>
            <a:off x="1546912" y="3025354"/>
            <a:ext cx="3536544" cy="3358257"/>
            <a:chOff x="0" y="0"/>
            <a:chExt cx="870097" cy="826233"/>
          </a:xfrm>
        </p:grpSpPr>
        <p:sp>
          <p:nvSpPr>
            <p:cNvPr id="24" name="Freeform 24"/>
            <p:cNvSpPr/>
            <p:nvPr/>
          </p:nvSpPr>
          <p:spPr>
            <a:xfrm>
              <a:off x="0" y="0"/>
              <a:ext cx="870097" cy="826233"/>
            </a:xfrm>
            <a:custGeom>
              <a:avLst/>
              <a:gdLst/>
              <a:ahLst/>
              <a:cxnLst/>
              <a:rect l="l" t="t" r="r" b="b"/>
              <a:pathLst>
                <a:path w="870097" h="826233">
                  <a:moveTo>
                    <a:pt x="0" y="0"/>
                  </a:moveTo>
                  <a:lnTo>
                    <a:pt x="870097" y="0"/>
                  </a:lnTo>
                  <a:lnTo>
                    <a:pt x="870097" y="826233"/>
                  </a:lnTo>
                  <a:lnTo>
                    <a:pt x="0" y="826233"/>
                  </a:lnTo>
                  <a:close/>
                </a:path>
              </a:pathLst>
            </a:custGeom>
            <a:solidFill>
              <a:srgbClr val="EEDFDE"/>
            </a:solidFill>
            <a:ln cap="sq">
              <a:noFill/>
              <a:prstDash val="solid"/>
              <a:miter/>
            </a:ln>
          </p:spPr>
          <p:txBody>
            <a:bodyPr>
              <a:normAutofit/>
            </a:bodyPr>
            <a:lstStyle/>
            <a:p>
              <a:endParaRPr lang="ko-KR" altLang="en-US"/>
            </a:p>
          </p:txBody>
        </p:sp>
        <p:sp>
          <p:nvSpPr>
            <p:cNvPr id="25" name="TextBox 25"/>
            <p:cNvSpPr txBox="1"/>
            <p:nvPr/>
          </p:nvSpPr>
          <p:spPr>
            <a:xfrm>
              <a:off x="0" y="-28575"/>
              <a:ext cx="870097" cy="85480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6" name="Group 26"/>
          <p:cNvGrpSpPr/>
          <p:nvPr/>
        </p:nvGrpSpPr>
        <p:grpSpPr>
          <a:xfrm>
            <a:off x="5435550" y="3025354"/>
            <a:ext cx="3536544" cy="3358257"/>
            <a:chOff x="0" y="0"/>
            <a:chExt cx="870097" cy="826233"/>
          </a:xfrm>
        </p:grpSpPr>
        <p:sp>
          <p:nvSpPr>
            <p:cNvPr id="27" name="Freeform 27"/>
            <p:cNvSpPr/>
            <p:nvPr/>
          </p:nvSpPr>
          <p:spPr>
            <a:xfrm>
              <a:off x="0" y="0"/>
              <a:ext cx="870097" cy="826233"/>
            </a:xfrm>
            <a:custGeom>
              <a:avLst/>
              <a:gdLst/>
              <a:ahLst/>
              <a:cxnLst/>
              <a:rect l="l" t="t" r="r" b="b"/>
              <a:pathLst>
                <a:path w="870097" h="826233">
                  <a:moveTo>
                    <a:pt x="0" y="0"/>
                  </a:moveTo>
                  <a:lnTo>
                    <a:pt x="870097" y="0"/>
                  </a:lnTo>
                  <a:lnTo>
                    <a:pt x="870097" y="826233"/>
                  </a:lnTo>
                  <a:lnTo>
                    <a:pt x="0" y="826233"/>
                  </a:lnTo>
                  <a:close/>
                </a:path>
              </a:pathLst>
            </a:custGeom>
            <a:solidFill>
              <a:srgbClr val="E3E3E3"/>
            </a:solidFill>
            <a:ln cap="sq">
              <a:noFill/>
              <a:prstDash val="solid"/>
              <a:miter/>
            </a:ln>
          </p:spPr>
          <p:txBody>
            <a:bodyPr>
              <a:normAutofit/>
            </a:bodyPr>
            <a:lstStyle/>
            <a:p>
              <a:endParaRPr lang="ko-KR" altLang="en-US"/>
            </a:p>
          </p:txBody>
        </p:sp>
        <p:sp>
          <p:nvSpPr>
            <p:cNvPr id="28" name="TextBox 28"/>
            <p:cNvSpPr txBox="1"/>
            <p:nvPr/>
          </p:nvSpPr>
          <p:spPr>
            <a:xfrm>
              <a:off x="0" y="-28575"/>
              <a:ext cx="870097" cy="85480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9" name="Group 29"/>
          <p:cNvGrpSpPr/>
          <p:nvPr/>
        </p:nvGrpSpPr>
        <p:grpSpPr>
          <a:xfrm>
            <a:off x="9320968" y="3025354"/>
            <a:ext cx="3536544" cy="3358257"/>
            <a:chOff x="0" y="0"/>
            <a:chExt cx="870097" cy="826233"/>
          </a:xfrm>
        </p:grpSpPr>
        <p:sp>
          <p:nvSpPr>
            <p:cNvPr id="30" name="Freeform 30"/>
            <p:cNvSpPr/>
            <p:nvPr/>
          </p:nvSpPr>
          <p:spPr>
            <a:xfrm>
              <a:off x="0" y="0"/>
              <a:ext cx="870097" cy="826233"/>
            </a:xfrm>
            <a:custGeom>
              <a:avLst/>
              <a:gdLst/>
              <a:ahLst/>
              <a:cxnLst/>
              <a:rect l="l" t="t" r="r" b="b"/>
              <a:pathLst>
                <a:path w="870097" h="826233">
                  <a:moveTo>
                    <a:pt x="0" y="0"/>
                  </a:moveTo>
                  <a:lnTo>
                    <a:pt x="870097" y="0"/>
                  </a:lnTo>
                  <a:lnTo>
                    <a:pt x="870097" y="826233"/>
                  </a:lnTo>
                  <a:lnTo>
                    <a:pt x="0" y="826233"/>
                  </a:lnTo>
                  <a:close/>
                </a:path>
              </a:pathLst>
            </a:custGeom>
            <a:solidFill>
              <a:srgbClr val="EEDFDE"/>
            </a:solidFill>
            <a:ln cap="sq">
              <a:noFill/>
              <a:prstDash val="solid"/>
              <a:miter/>
            </a:ln>
          </p:spPr>
          <p:txBody>
            <a:bodyPr>
              <a:normAutofit/>
            </a:bodyPr>
            <a:lstStyle/>
            <a:p>
              <a:endParaRPr lang="ko-KR" altLang="en-US"/>
            </a:p>
          </p:txBody>
        </p:sp>
        <p:sp>
          <p:nvSpPr>
            <p:cNvPr id="31" name="TextBox 31"/>
            <p:cNvSpPr txBox="1"/>
            <p:nvPr/>
          </p:nvSpPr>
          <p:spPr>
            <a:xfrm>
              <a:off x="0" y="-28575"/>
              <a:ext cx="870097" cy="85480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32" name="AutoShape 32"/>
          <p:cNvSpPr/>
          <p:nvPr/>
        </p:nvSpPr>
        <p:spPr>
          <a:xfrm>
            <a:off x="15048195" y="6163414"/>
            <a:ext cx="0" cy="1605255"/>
          </a:xfrm>
          <a:prstGeom prst="line">
            <a:avLst/>
          </a:prstGeom>
          <a:ln w="19050" cap="rnd">
            <a:solidFill>
              <a:srgbClr val="333333">
                <a:alpha val="19608"/>
              </a:srgbClr>
            </a:solidFill>
            <a:prstDash val="solid"/>
            <a:headEnd type="none" w="sm" len="sm"/>
            <a:tailEnd type="none" w="sm" len="sm"/>
          </a:ln>
        </p:spPr>
        <p:txBody>
          <a:bodyPr>
            <a:normAutofit fontScale="25000" lnSpcReduction="20000"/>
          </a:bodyPr>
          <a:lstStyle/>
          <a:p>
            <a:endParaRPr lang="ko-KR" altLang="en-US"/>
          </a:p>
        </p:txBody>
      </p:sp>
      <p:grpSp>
        <p:nvGrpSpPr>
          <p:cNvPr id="33" name="Group 33"/>
          <p:cNvGrpSpPr/>
          <p:nvPr/>
        </p:nvGrpSpPr>
        <p:grpSpPr>
          <a:xfrm>
            <a:off x="13206387" y="3025354"/>
            <a:ext cx="3536544" cy="3358257"/>
            <a:chOff x="0" y="0"/>
            <a:chExt cx="870097" cy="826233"/>
          </a:xfrm>
        </p:grpSpPr>
        <p:sp>
          <p:nvSpPr>
            <p:cNvPr id="34" name="Freeform 34"/>
            <p:cNvSpPr/>
            <p:nvPr/>
          </p:nvSpPr>
          <p:spPr>
            <a:xfrm>
              <a:off x="0" y="0"/>
              <a:ext cx="870097" cy="826233"/>
            </a:xfrm>
            <a:custGeom>
              <a:avLst/>
              <a:gdLst/>
              <a:ahLst/>
              <a:cxnLst/>
              <a:rect l="l" t="t" r="r" b="b"/>
              <a:pathLst>
                <a:path w="870097" h="826233">
                  <a:moveTo>
                    <a:pt x="0" y="0"/>
                  </a:moveTo>
                  <a:lnTo>
                    <a:pt x="870097" y="0"/>
                  </a:lnTo>
                  <a:lnTo>
                    <a:pt x="870097" y="826233"/>
                  </a:lnTo>
                  <a:lnTo>
                    <a:pt x="0" y="826233"/>
                  </a:lnTo>
                  <a:close/>
                </a:path>
              </a:pathLst>
            </a:custGeom>
            <a:solidFill>
              <a:srgbClr val="E3E3E3"/>
            </a:solidFill>
            <a:ln cap="sq">
              <a:noFill/>
              <a:prstDash val="solid"/>
              <a:miter/>
            </a:ln>
          </p:spPr>
          <p:txBody>
            <a:bodyPr>
              <a:normAutofit/>
            </a:bodyPr>
            <a:lstStyle/>
            <a:p>
              <a:endParaRPr lang="ko-KR" altLang="en-US"/>
            </a:p>
          </p:txBody>
        </p:sp>
        <p:sp>
          <p:nvSpPr>
            <p:cNvPr id="35" name="TextBox 35"/>
            <p:cNvSpPr txBox="1"/>
            <p:nvPr/>
          </p:nvSpPr>
          <p:spPr>
            <a:xfrm>
              <a:off x="0" y="-28575"/>
              <a:ext cx="870097" cy="85480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36" name="Group 36"/>
          <p:cNvGrpSpPr/>
          <p:nvPr/>
        </p:nvGrpSpPr>
        <p:grpSpPr>
          <a:xfrm>
            <a:off x="1545069" y="7768669"/>
            <a:ext cx="15197862" cy="1395878"/>
            <a:chOff x="0" y="0"/>
            <a:chExt cx="4002729" cy="367639"/>
          </a:xfrm>
        </p:grpSpPr>
        <p:sp>
          <p:nvSpPr>
            <p:cNvPr id="37" name="Freeform 37"/>
            <p:cNvSpPr/>
            <p:nvPr/>
          </p:nvSpPr>
          <p:spPr>
            <a:xfrm>
              <a:off x="0" y="0"/>
              <a:ext cx="4002729" cy="367639"/>
            </a:xfrm>
            <a:custGeom>
              <a:avLst/>
              <a:gdLst/>
              <a:ahLst/>
              <a:cxnLst/>
              <a:rect l="l" t="t" r="r" b="b"/>
              <a:pathLst>
                <a:path w="4002729" h="367639">
                  <a:moveTo>
                    <a:pt x="0" y="0"/>
                  </a:moveTo>
                  <a:lnTo>
                    <a:pt x="4002729" y="0"/>
                  </a:lnTo>
                  <a:lnTo>
                    <a:pt x="4002729" y="367639"/>
                  </a:lnTo>
                  <a:lnTo>
                    <a:pt x="0" y="367639"/>
                  </a:lnTo>
                  <a:close/>
                </a:path>
              </a:pathLst>
            </a:custGeom>
            <a:ln w="19050" cap="sq">
              <a:solidFill>
                <a:srgbClr val="B35555"/>
              </a:solidFill>
              <a:prstDash val="solid"/>
              <a:miter/>
            </a:ln>
          </p:spPr>
          <p:txBody>
            <a:bodyPr>
              <a:normAutofit/>
            </a:bodyPr>
            <a:lstStyle/>
            <a:p>
              <a:endParaRPr lang="ko-KR" altLang="en-US"/>
            </a:p>
          </p:txBody>
        </p:sp>
        <p:sp>
          <p:nvSpPr>
            <p:cNvPr id="38" name="TextBox 38"/>
            <p:cNvSpPr txBox="1"/>
            <p:nvPr/>
          </p:nvSpPr>
          <p:spPr>
            <a:xfrm>
              <a:off x="0" y="-28575"/>
              <a:ext cx="4002729" cy="396214"/>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39" name="TextBox 39"/>
          <p:cNvSpPr txBox="1"/>
          <p:nvPr/>
        </p:nvSpPr>
        <p:spPr>
          <a:xfrm>
            <a:off x="1546912" y="5276701"/>
            <a:ext cx="3622698" cy="415246"/>
          </a:xfrm>
          <a:prstGeom prst="rect">
            <a:avLst/>
          </a:prstGeom>
        </p:spPr>
        <p:txBody>
          <a:bodyPr lIns="0" tIns="0" rIns="0" bIns="0" rtlCol="0" anchor="t">
            <a:normAutofit/>
          </a:bodyPr>
          <a:lstStyle/>
          <a:p>
            <a:pPr marL="0" lvl="0" indent="0" algn="ctr">
              <a:lnSpc>
                <a:spcPts val="3524"/>
              </a:lnSpc>
            </a:pPr>
            <a:r>
              <a:rPr lang="en-US" sz="2349" spc="-82">
                <a:solidFill>
                  <a:srgbClr val="222222">
                    <a:alpha val="80000"/>
                  </a:srgbClr>
                </a:solidFill>
                <a:latin typeface="JASO Sans"/>
                <a:ea typeface="JASO Sans"/>
                <a:cs typeface="JASO Sans"/>
                <a:sym typeface="JASO Sans"/>
              </a:rPr>
              <a:t>핵심요약정리</a:t>
            </a:r>
          </a:p>
        </p:txBody>
      </p:sp>
      <p:sp>
        <p:nvSpPr>
          <p:cNvPr id="40" name="TextBox 40"/>
          <p:cNvSpPr txBox="1"/>
          <p:nvPr/>
        </p:nvSpPr>
        <p:spPr>
          <a:xfrm>
            <a:off x="5392473" y="5276701"/>
            <a:ext cx="3622698" cy="415246"/>
          </a:xfrm>
          <a:prstGeom prst="rect">
            <a:avLst/>
          </a:prstGeom>
        </p:spPr>
        <p:txBody>
          <a:bodyPr lIns="0" tIns="0" rIns="0" bIns="0" rtlCol="0" anchor="t">
            <a:normAutofit/>
          </a:bodyPr>
          <a:lstStyle/>
          <a:p>
            <a:pPr marL="0" lvl="0" indent="0" algn="ctr">
              <a:lnSpc>
                <a:spcPts val="3524"/>
              </a:lnSpc>
            </a:pPr>
            <a:r>
              <a:rPr lang="en-US" sz="2349" spc="-82">
                <a:solidFill>
                  <a:srgbClr val="222222">
                    <a:alpha val="80000"/>
                  </a:srgbClr>
                </a:solidFill>
                <a:latin typeface="JASO Sans"/>
                <a:ea typeface="JASO Sans"/>
                <a:cs typeface="JASO Sans"/>
                <a:sym typeface="JASO Sans"/>
              </a:rPr>
              <a:t>중요포인트</a:t>
            </a:r>
          </a:p>
        </p:txBody>
      </p:sp>
      <p:sp>
        <p:nvSpPr>
          <p:cNvPr id="41" name="TextBox 41"/>
          <p:cNvSpPr txBox="1"/>
          <p:nvPr/>
        </p:nvSpPr>
        <p:spPr>
          <a:xfrm>
            <a:off x="9281871" y="5276701"/>
            <a:ext cx="3622698" cy="415246"/>
          </a:xfrm>
          <a:prstGeom prst="rect">
            <a:avLst/>
          </a:prstGeom>
        </p:spPr>
        <p:txBody>
          <a:bodyPr lIns="0" tIns="0" rIns="0" bIns="0" rtlCol="0" anchor="t">
            <a:normAutofit/>
          </a:bodyPr>
          <a:lstStyle/>
          <a:p>
            <a:pPr marL="0" lvl="0" indent="0" algn="ctr">
              <a:lnSpc>
                <a:spcPts val="3524"/>
              </a:lnSpc>
            </a:pPr>
            <a:r>
              <a:rPr lang="en-US" sz="2349" spc="-82">
                <a:solidFill>
                  <a:srgbClr val="222222">
                    <a:alpha val="80000"/>
                  </a:srgbClr>
                </a:solidFill>
                <a:latin typeface="JASO Sans"/>
                <a:ea typeface="JASO Sans"/>
                <a:cs typeface="JASO Sans"/>
                <a:sym typeface="JASO Sans"/>
              </a:rPr>
              <a:t>핵심아이디어</a:t>
            </a:r>
          </a:p>
        </p:txBody>
      </p:sp>
      <p:sp>
        <p:nvSpPr>
          <p:cNvPr id="42" name="TextBox 42"/>
          <p:cNvSpPr txBox="1"/>
          <p:nvPr/>
        </p:nvSpPr>
        <p:spPr>
          <a:xfrm>
            <a:off x="13171269" y="5276701"/>
            <a:ext cx="3622698" cy="415246"/>
          </a:xfrm>
          <a:prstGeom prst="rect">
            <a:avLst/>
          </a:prstGeom>
        </p:spPr>
        <p:txBody>
          <a:bodyPr lIns="0" tIns="0" rIns="0" bIns="0" rtlCol="0" anchor="t">
            <a:normAutofit/>
          </a:bodyPr>
          <a:lstStyle/>
          <a:p>
            <a:pPr marL="0" lvl="0" indent="0" algn="ctr">
              <a:lnSpc>
                <a:spcPts val="3524"/>
              </a:lnSpc>
            </a:pPr>
            <a:r>
              <a:rPr lang="en-US" sz="2349" spc="-82">
                <a:solidFill>
                  <a:srgbClr val="222222">
                    <a:alpha val="80000"/>
                  </a:srgbClr>
                </a:solidFill>
                <a:latin typeface="JASO Sans"/>
                <a:ea typeface="JASO Sans"/>
                <a:cs typeface="JASO Sans"/>
                <a:sym typeface="JASO Sans"/>
              </a:rPr>
              <a:t>주요 내용 정리</a:t>
            </a:r>
          </a:p>
        </p:txBody>
      </p:sp>
      <p:sp>
        <p:nvSpPr>
          <p:cNvPr id="43" name="TextBox 43"/>
          <p:cNvSpPr txBox="1"/>
          <p:nvPr/>
        </p:nvSpPr>
        <p:spPr>
          <a:xfrm>
            <a:off x="1650805" y="4692050"/>
            <a:ext cx="3328759" cy="499524"/>
          </a:xfrm>
          <a:prstGeom prst="rect">
            <a:avLst/>
          </a:prstGeom>
        </p:spPr>
        <p:txBody>
          <a:bodyPr lIns="0" tIns="0" rIns="0" bIns="0" rtlCol="0" anchor="t">
            <a:normAutofit fontScale="92500"/>
          </a:bodyPr>
          <a:lstStyle/>
          <a:p>
            <a:pPr marL="0" lvl="0" indent="0" algn="ctr">
              <a:lnSpc>
                <a:spcPts val="3978"/>
              </a:lnSpc>
            </a:pPr>
            <a:r>
              <a:rPr lang="en-US" sz="3343" b="1" spc="-73">
                <a:solidFill>
                  <a:srgbClr val="333333"/>
                </a:solidFill>
                <a:latin typeface="JASO Sans Bold"/>
                <a:ea typeface="JASO Sans Bold"/>
                <a:cs typeface="JASO Sans Bold"/>
                <a:sym typeface="JASO Sans Bold"/>
              </a:rPr>
              <a:t>키워드 1</a:t>
            </a:r>
          </a:p>
        </p:txBody>
      </p:sp>
      <p:sp>
        <p:nvSpPr>
          <p:cNvPr id="44" name="TextBox 44"/>
          <p:cNvSpPr txBox="1"/>
          <p:nvPr/>
        </p:nvSpPr>
        <p:spPr>
          <a:xfrm>
            <a:off x="5496366" y="4692050"/>
            <a:ext cx="3328759" cy="499524"/>
          </a:xfrm>
          <a:prstGeom prst="rect">
            <a:avLst/>
          </a:prstGeom>
        </p:spPr>
        <p:txBody>
          <a:bodyPr lIns="0" tIns="0" rIns="0" bIns="0" rtlCol="0" anchor="t">
            <a:normAutofit fontScale="92500"/>
          </a:bodyPr>
          <a:lstStyle/>
          <a:p>
            <a:pPr marL="0" lvl="0" indent="0" algn="ctr">
              <a:lnSpc>
                <a:spcPts val="3978"/>
              </a:lnSpc>
            </a:pPr>
            <a:r>
              <a:rPr lang="en-US" sz="3343" b="1" spc="-73">
                <a:solidFill>
                  <a:srgbClr val="333333"/>
                </a:solidFill>
                <a:latin typeface="JASO Sans Bold"/>
                <a:ea typeface="JASO Sans Bold"/>
                <a:cs typeface="JASO Sans Bold"/>
                <a:sym typeface="JASO Sans Bold"/>
              </a:rPr>
              <a:t>키워드 2</a:t>
            </a:r>
          </a:p>
        </p:txBody>
      </p:sp>
      <p:sp>
        <p:nvSpPr>
          <p:cNvPr id="45" name="TextBox 45"/>
          <p:cNvSpPr txBox="1"/>
          <p:nvPr/>
        </p:nvSpPr>
        <p:spPr>
          <a:xfrm>
            <a:off x="9385764" y="4692050"/>
            <a:ext cx="3328759" cy="499524"/>
          </a:xfrm>
          <a:prstGeom prst="rect">
            <a:avLst/>
          </a:prstGeom>
        </p:spPr>
        <p:txBody>
          <a:bodyPr lIns="0" tIns="0" rIns="0" bIns="0" rtlCol="0" anchor="t">
            <a:normAutofit fontScale="92500"/>
          </a:bodyPr>
          <a:lstStyle/>
          <a:p>
            <a:pPr marL="0" lvl="0" indent="0" algn="ctr">
              <a:lnSpc>
                <a:spcPts val="3978"/>
              </a:lnSpc>
            </a:pPr>
            <a:r>
              <a:rPr lang="en-US" sz="3343" b="1" spc="-73">
                <a:solidFill>
                  <a:srgbClr val="333333"/>
                </a:solidFill>
                <a:latin typeface="JASO Sans Bold"/>
                <a:ea typeface="JASO Sans Bold"/>
                <a:cs typeface="JASO Sans Bold"/>
                <a:sym typeface="JASO Sans Bold"/>
              </a:rPr>
              <a:t>키워드 3</a:t>
            </a:r>
          </a:p>
        </p:txBody>
      </p:sp>
      <p:sp>
        <p:nvSpPr>
          <p:cNvPr id="46" name="TextBox 46"/>
          <p:cNvSpPr txBox="1"/>
          <p:nvPr/>
        </p:nvSpPr>
        <p:spPr>
          <a:xfrm>
            <a:off x="13275162" y="4692050"/>
            <a:ext cx="3328759" cy="499524"/>
          </a:xfrm>
          <a:prstGeom prst="rect">
            <a:avLst/>
          </a:prstGeom>
        </p:spPr>
        <p:txBody>
          <a:bodyPr lIns="0" tIns="0" rIns="0" bIns="0" rtlCol="0" anchor="t">
            <a:normAutofit fontScale="92500"/>
          </a:bodyPr>
          <a:lstStyle/>
          <a:p>
            <a:pPr marL="0" lvl="0" indent="0" algn="ctr">
              <a:lnSpc>
                <a:spcPts val="3978"/>
              </a:lnSpc>
            </a:pPr>
            <a:r>
              <a:rPr lang="en-US" sz="3343" b="1" spc="-73">
                <a:solidFill>
                  <a:srgbClr val="333333"/>
                </a:solidFill>
                <a:latin typeface="JASO Sans Bold"/>
                <a:ea typeface="JASO Sans Bold"/>
                <a:cs typeface="JASO Sans Bold"/>
                <a:sym typeface="JASO Sans Bold"/>
              </a:rPr>
              <a:t>키워드 4</a:t>
            </a:r>
          </a:p>
        </p:txBody>
      </p:sp>
      <p:sp>
        <p:nvSpPr>
          <p:cNvPr id="47" name="Freeform 47"/>
          <p:cNvSpPr/>
          <p:nvPr/>
        </p:nvSpPr>
        <p:spPr>
          <a:xfrm>
            <a:off x="6772297" y="3624485"/>
            <a:ext cx="872576" cy="830038"/>
          </a:xfrm>
          <a:custGeom>
            <a:avLst/>
            <a:gdLst/>
            <a:ahLst/>
            <a:cxnLst/>
            <a:rect l="l" t="t" r="r" b="b"/>
            <a:pathLst>
              <a:path w="872576" h="830038">
                <a:moveTo>
                  <a:pt x="0" y="0"/>
                </a:moveTo>
                <a:lnTo>
                  <a:pt x="872576" y="0"/>
                </a:lnTo>
                <a:lnTo>
                  <a:pt x="872576" y="830038"/>
                </a:lnTo>
                <a:lnTo>
                  <a:pt x="0" y="83003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normAutofit/>
          </a:bodyPr>
          <a:lstStyle/>
          <a:p>
            <a:endParaRPr lang="ko-KR" altLang="en-US"/>
          </a:p>
        </p:txBody>
      </p:sp>
      <p:sp>
        <p:nvSpPr>
          <p:cNvPr id="48" name="Freeform 48"/>
          <p:cNvSpPr/>
          <p:nvPr/>
        </p:nvSpPr>
        <p:spPr>
          <a:xfrm>
            <a:off x="10650415" y="3624485"/>
            <a:ext cx="868125" cy="799760"/>
          </a:xfrm>
          <a:custGeom>
            <a:avLst/>
            <a:gdLst/>
            <a:ahLst/>
            <a:cxnLst/>
            <a:rect l="l" t="t" r="r" b="b"/>
            <a:pathLst>
              <a:path w="868125" h="799760">
                <a:moveTo>
                  <a:pt x="0" y="0"/>
                </a:moveTo>
                <a:lnTo>
                  <a:pt x="868125" y="0"/>
                </a:lnTo>
                <a:lnTo>
                  <a:pt x="868125" y="799760"/>
                </a:lnTo>
                <a:lnTo>
                  <a:pt x="0" y="79976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normAutofit/>
          </a:bodyPr>
          <a:lstStyle/>
          <a:p>
            <a:endParaRPr lang="ko-KR" altLang="en-US"/>
          </a:p>
        </p:txBody>
      </p:sp>
      <p:sp>
        <p:nvSpPr>
          <p:cNvPr id="49" name="Freeform 49"/>
          <p:cNvSpPr/>
          <p:nvPr/>
        </p:nvSpPr>
        <p:spPr>
          <a:xfrm>
            <a:off x="2892793" y="3624485"/>
            <a:ext cx="835259" cy="830038"/>
          </a:xfrm>
          <a:custGeom>
            <a:avLst/>
            <a:gdLst/>
            <a:ahLst/>
            <a:cxnLst/>
            <a:rect l="l" t="t" r="r" b="b"/>
            <a:pathLst>
              <a:path w="835259" h="830038">
                <a:moveTo>
                  <a:pt x="0" y="0"/>
                </a:moveTo>
                <a:lnTo>
                  <a:pt x="835258" y="0"/>
                </a:lnTo>
                <a:lnTo>
                  <a:pt x="835258" y="830038"/>
                </a:lnTo>
                <a:lnTo>
                  <a:pt x="0" y="83003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normAutofit/>
          </a:bodyPr>
          <a:lstStyle/>
          <a:p>
            <a:endParaRPr lang="ko-KR" altLang="en-US"/>
          </a:p>
        </p:txBody>
      </p:sp>
      <p:sp>
        <p:nvSpPr>
          <p:cNvPr id="50" name="Freeform 50"/>
          <p:cNvSpPr/>
          <p:nvPr/>
        </p:nvSpPr>
        <p:spPr>
          <a:xfrm>
            <a:off x="2976158" y="8301153"/>
            <a:ext cx="302678" cy="302678"/>
          </a:xfrm>
          <a:custGeom>
            <a:avLst/>
            <a:gdLst/>
            <a:ahLst/>
            <a:cxnLst/>
            <a:rect l="l" t="t" r="r" b="b"/>
            <a:pathLst>
              <a:path w="302678" h="302678">
                <a:moveTo>
                  <a:pt x="0" y="0"/>
                </a:moveTo>
                <a:lnTo>
                  <a:pt x="302678" y="0"/>
                </a:lnTo>
                <a:lnTo>
                  <a:pt x="302678" y="302678"/>
                </a:lnTo>
                <a:lnTo>
                  <a:pt x="0" y="302678"/>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normAutofit fontScale="85000" lnSpcReduction="10000"/>
          </a:bodyPr>
          <a:lstStyle/>
          <a:p>
            <a:endParaRPr lang="ko-KR" altLang="en-US"/>
          </a:p>
        </p:txBody>
      </p:sp>
      <p:sp>
        <p:nvSpPr>
          <p:cNvPr id="51" name="TextBox 51"/>
          <p:cNvSpPr txBox="1"/>
          <p:nvPr/>
        </p:nvSpPr>
        <p:spPr>
          <a:xfrm>
            <a:off x="3435377" y="8235394"/>
            <a:ext cx="13168543" cy="451511"/>
          </a:xfrm>
          <a:prstGeom prst="rect">
            <a:avLst/>
          </a:prstGeom>
        </p:spPr>
        <p:txBody>
          <a:bodyPr lIns="0" tIns="0" rIns="0" bIns="0" rtlCol="0" anchor="t">
            <a:normAutofit fontScale="92500"/>
          </a:bodyPr>
          <a:lstStyle/>
          <a:p>
            <a:pPr marL="0" lvl="0" indent="0" algn="l">
              <a:lnSpc>
                <a:spcPts val="3573"/>
              </a:lnSpc>
            </a:pPr>
            <a:r>
              <a:rPr lang="en-US" sz="3003" b="1" spc="-66">
                <a:solidFill>
                  <a:srgbClr val="333333"/>
                </a:solidFill>
                <a:latin typeface="JASO Sans Bold"/>
                <a:ea typeface="JASO Sans Bold"/>
                <a:cs typeface="JASO Sans Bold"/>
                <a:sym typeface="JASO Sans Bold"/>
              </a:rPr>
              <a:t>여러 개의 키워드를 기반으로 핵심 메시지를 정리해  전달하는 레이아웃입니다.</a:t>
            </a:r>
          </a:p>
        </p:txBody>
      </p:sp>
      <p:sp>
        <p:nvSpPr>
          <p:cNvPr id="52" name="Freeform 52"/>
          <p:cNvSpPr/>
          <p:nvPr/>
        </p:nvSpPr>
        <p:spPr>
          <a:xfrm>
            <a:off x="14711296" y="3624485"/>
            <a:ext cx="673798" cy="799760"/>
          </a:xfrm>
          <a:custGeom>
            <a:avLst/>
            <a:gdLst/>
            <a:ahLst/>
            <a:cxnLst/>
            <a:rect l="l" t="t" r="r" b="b"/>
            <a:pathLst>
              <a:path w="673798" h="799760">
                <a:moveTo>
                  <a:pt x="0" y="0"/>
                </a:moveTo>
                <a:lnTo>
                  <a:pt x="673798" y="0"/>
                </a:lnTo>
                <a:lnTo>
                  <a:pt x="673798" y="799760"/>
                </a:lnTo>
                <a:lnTo>
                  <a:pt x="0" y="79976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normAutofit/>
          </a:bodyPr>
          <a:lstStyle/>
          <a:p>
            <a:endParaRPr lang="ko-KR" altLang="en-US"/>
          </a:p>
        </p:txBody>
      </p:sp>
      <p:sp>
        <p:nvSpPr>
          <p:cNvPr id="53" name="TextBox 19">
            <a:extLst>
              <a:ext uri="{FF2B5EF4-FFF2-40B4-BE49-F238E27FC236}">
                <a16:creationId xmlns:a16="http://schemas.microsoft.com/office/drawing/2014/main" id="{474C1232-5DBB-404B-9AD0-20CE31B27D44}"/>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리스트가 있는 페이지</a:t>
            </a:r>
          </a:p>
        </p:txBody>
      </p:sp>
      <p:sp>
        <p:nvSpPr>
          <p:cNvPr id="18" name="TextBox 18"/>
          <p:cNvSpPr txBox="1"/>
          <p:nvPr/>
        </p:nvSpPr>
        <p:spPr>
          <a:xfrm>
            <a:off x="8541889"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0" name="TextBox 20"/>
          <p:cNvSpPr txBox="1"/>
          <p:nvPr/>
        </p:nvSpPr>
        <p:spPr>
          <a:xfrm>
            <a:off x="1731872" y="3265897"/>
            <a:ext cx="14845507" cy="892448"/>
          </a:xfrm>
          <a:prstGeom prst="rect">
            <a:avLst/>
          </a:prstGeom>
        </p:spPr>
        <p:txBody>
          <a:bodyPr lIns="0" tIns="0" rIns="0" bIns="0" rtlCol="0" anchor="t">
            <a:normAutofit/>
          </a:bodyPr>
          <a:lstStyle/>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리스트형 콘텐츠 정리 레이아웃은 정보의 구조를 명확히 하고, 각 항목을 구분하여 보기 쉽게 정렬하는 데 매우 적합한 방식입니다.</a:t>
            </a:r>
          </a:p>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 이 레이아웃은 복잡하거나 많은 내용을 간결하게 요약할 때 유용하며, 발표자와 청중 모두에게 정보 전달 효율을 높여줍니다.</a:t>
            </a:r>
          </a:p>
        </p:txBody>
      </p:sp>
      <p:grpSp>
        <p:nvGrpSpPr>
          <p:cNvPr id="21" name="Group 21"/>
          <p:cNvGrpSpPr/>
          <p:nvPr/>
        </p:nvGrpSpPr>
        <p:grpSpPr>
          <a:xfrm>
            <a:off x="1546912" y="4777470"/>
            <a:ext cx="15197862" cy="1208595"/>
            <a:chOff x="0" y="0"/>
            <a:chExt cx="4002729" cy="318313"/>
          </a:xfrm>
        </p:grpSpPr>
        <p:sp>
          <p:nvSpPr>
            <p:cNvPr id="22" name="Freeform 22"/>
            <p:cNvSpPr/>
            <p:nvPr/>
          </p:nvSpPr>
          <p:spPr>
            <a:xfrm>
              <a:off x="0" y="0"/>
              <a:ext cx="4002729" cy="318313"/>
            </a:xfrm>
            <a:custGeom>
              <a:avLst/>
              <a:gdLst/>
              <a:ahLst/>
              <a:cxnLst/>
              <a:rect l="l" t="t" r="r" b="b"/>
              <a:pathLst>
                <a:path w="4002729" h="318313">
                  <a:moveTo>
                    <a:pt x="0" y="0"/>
                  </a:moveTo>
                  <a:lnTo>
                    <a:pt x="4002729" y="0"/>
                  </a:lnTo>
                  <a:lnTo>
                    <a:pt x="4002729" y="318313"/>
                  </a:lnTo>
                  <a:lnTo>
                    <a:pt x="0" y="318313"/>
                  </a:lnTo>
                  <a:close/>
                </a:path>
              </a:pathLst>
            </a:custGeom>
            <a:solidFill>
              <a:srgbClr val="ECECEC"/>
            </a:solidFill>
            <a:ln cap="sq">
              <a:noFill/>
              <a:prstDash val="solid"/>
              <a:miter/>
            </a:ln>
          </p:spPr>
        </p:sp>
        <p:sp>
          <p:nvSpPr>
            <p:cNvPr id="23" name="TextBox 23"/>
            <p:cNvSpPr txBox="1"/>
            <p:nvPr/>
          </p:nvSpPr>
          <p:spPr>
            <a:xfrm>
              <a:off x="0" y="-28575"/>
              <a:ext cx="4002729" cy="34688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4" name="Group 24"/>
          <p:cNvGrpSpPr/>
          <p:nvPr/>
        </p:nvGrpSpPr>
        <p:grpSpPr>
          <a:xfrm>
            <a:off x="1546912" y="6200778"/>
            <a:ext cx="15197862" cy="1208595"/>
            <a:chOff x="0" y="0"/>
            <a:chExt cx="4002729" cy="318313"/>
          </a:xfrm>
        </p:grpSpPr>
        <p:sp>
          <p:nvSpPr>
            <p:cNvPr id="25" name="Freeform 25"/>
            <p:cNvSpPr/>
            <p:nvPr/>
          </p:nvSpPr>
          <p:spPr>
            <a:xfrm>
              <a:off x="0" y="0"/>
              <a:ext cx="4002729" cy="318313"/>
            </a:xfrm>
            <a:custGeom>
              <a:avLst/>
              <a:gdLst/>
              <a:ahLst/>
              <a:cxnLst/>
              <a:rect l="l" t="t" r="r" b="b"/>
              <a:pathLst>
                <a:path w="4002729" h="318313">
                  <a:moveTo>
                    <a:pt x="0" y="0"/>
                  </a:moveTo>
                  <a:lnTo>
                    <a:pt x="4002729" y="0"/>
                  </a:lnTo>
                  <a:lnTo>
                    <a:pt x="4002729" y="318313"/>
                  </a:lnTo>
                  <a:lnTo>
                    <a:pt x="0" y="318313"/>
                  </a:lnTo>
                  <a:close/>
                </a:path>
              </a:pathLst>
            </a:custGeom>
            <a:solidFill>
              <a:srgbClr val="ECECEC"/>
            </a:solidFill>
            <a:ln cap="sq">
              <a:noFill/>
              <a:prstDash val="solid"/>
              <a:miter/>
            </a:ln>
          </p:spPr>
        </p:sp>
        <p:sp>
          <p:nvSpPr>
            <p:cNvPr id="26" name="TextBox 26"/>
            <p:cNvSpPr txBox="1"/>
            <p:nvPr/>
          </p:nvSpPr>
          <p:spPr>
            <a:xfrm>
              <a:off x="0" y="-28575"/>
              <a:ext cx="4002729" cy="34688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7" name="Group 27"/>
          <p:cNvGrpSpPr/>
          <p:nvPr/>
        </p:nvGrpSpPr>
        <p:grpSpPr>
          <a:xfrm>
            <a:off x="1546912" y="7628449"/>
            <a:ext cx="15197862" cy="1208595"/>
            <a:chOff x="0" y="0"/>
            <a:chExt cx="4002729" cy="318313"/>
          </a:xfrm>
        </p:grpSpPr>
        <p:sp>
          <p:nvSpPr>
            <p:cNvPr id="28" name="Freeform 28"/>
            <p:cNvSpPr/>
            <p:nvPr/>
          </p:nvSpPr>
          <p:spPr>
            <a:xfrm>
              <a:off x="0" y="0"/>
              <a:ext cx="4002729" cy="318313"/>
            </a:xfrm>
            <a:custGeom>
              <a:avLst/>
              <a:gdLst/>
              <a:ahLst/>
              <a:cxnLst/>
              <a:rect l="l" t="t" r="r" b="b"/>
              <a:pathLst>
                <a:path w="4002729" h="318313">
                  <a:moveTo>
                    <a:pt x="0" y="0"/>
                  </a:moveTo>
                  <a:lnTo>
                    <a:pt x="4002729" y="0"/>
                  </a:lnTo>
                  <a:lnTo>
                    <a:pt x="4002729" y="318313"/>
                  </a:lnTo>
                  <a:lnTo>
                    <a:pt x="0" y="318313"/>
                  </a:lnTo>
                  <a:close/>
                </a:path>
              </a:pathLst>
            </a:custGeom>
            <a:solidFill>
              <a:srgbClr val="ECECEC"/>
            </a:solidFill>
            <a:ln cap="sq">
              <a:noFill/>
              <a:prstDash val="solid"/>
              <a:miter/>
            </a:ln>
          </p:spPr>
        </p:sp>
        <p:sp>
          <p:nvSpPr>
            <p:cNvPr id="29" name="TextBox 29"/>
            <p:cNvSpPr txBox="1"/>
            <p:nvPr/>
          </p:nvSpPr>
          <p:spPr>
            <a:xfrm>
              <a:off x="0" y="-28575"/>
              <a:ext cx="4002729" cy="346888"/>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30" name="TextBox 30"/>
          <p:cNvSpPr txBox="1"/>
          <p:nvPr/>
        </p:nvSpPr>
        <p:spPr>
          <a:xfrm>
            <a:off x="2440307" y="5138034"/>
            <a:ext cx="11935017" cy="447631"/>
          </a:xfrm>
          <a:prstGeom prst="rect">
            <a:avLst/>
          </a:prstGeom>
        </p:spPr>
        <p:txBody>
          <a:bodyPr lIns="0" tIns="0" rIns="0" bIns="0" rtlCol="0" anchor="t">
            <a:normAutofit/>
          </a:bodyPr>
          <a:lstStyle/>
          <a:p>
            <a:pPr algn="l">
              <a:lnSpc>
                <a:spcPts val="3450"/>
              </a:lnSpc>
            </a:pPr>
            <a:r>
              <a:rPr lang="en-US" sz="3000" spc="-51">
                <a:solidFill>
                  <a:srgbClr val="222222"/>
                </a:solidFill>
                <a:latin typeface="JASO Sans"/>
                <a:ea typeface="JASO Sans"/>
                <a:cs typeface="JASO Sans"/>
                <a:sym typeface="JASO Sans"/>
              </a:rPr>
              <a:t>각 항목은 </a:t>
            </a:r>
            <a:r>
              <a:rPr lang="en-US" sz="3000" b="1" spc="-51">
                <a:solidFill>
                  <a:srgbClr val="222222"/>
                </a:solidFill>
                <a:latin typeface="JASO Sans Bold"/>
                <a:ea typeface="JASO Sans Bold"/>
                <a:cs typeface="JASO Sans Bold"/>
                <a:sym typeface="JASO Sans Bold"/>
              </a:rPr>
              <a:t>하나의 주제</a:t>
            </a:r>
            <a:r>
              <a:rPr lang="en-US" sz="3000" spc="-51">
                <a:solidFill>
                  <a:srgbClr val="222222"/>
                </a:solidFill>
                <a:latin typeface="JASO Sans"/>
                <a:ea typeface="JASO Sans"/>
                <a:cs typeface="JASO Sans"/>
                <a:sym typeface="JASO Sans"/>
              </a:rPr>
              <a:t>에만 집중하여 정보를 쪼개어 전달합니다.</a:t>
            </a:r>
          </a:p>
        </p:txBody>
      </p:sp>
      <p:sp>
        <p:nvSpPr>
          <p:cNvPr id="31" name="TextBox 31"/>
          <p:cNvSpPr txBox="1"/>
          <p:nvPr/>
        </p:nvSpPr>
        <p:spPr>
          <a:xfrm>
            <a:off x="2440307" y="6562585"/>
            <a:ext cx="11935017" cy="447631"/>
          </a:xfrm>
          <a:prstGeom prst="rect">
            <a:avLst/>
          </a:prstGeom>
        </p:spPr>
        <p:txBody>
          <a:bodyPr lIns="0" tIns="0" rIns="0" bIns="0" rtlCol="0" anchor="t">
            <a:normAutofit/>
          </a:bodyPr>
          <a:lstStyle/>
          <a:p>
            <a:pPr algn="l">
              <a:lnSpc>
                <a:spcPts val="3450"/>
              </a:lnSpc>
            </a:pPr>
            <a:r>
              <a:rPr lang="en-US" sz="3000" spc="-51">
                <a:solidFill>
                  <a:srgbClr val="222222"/>
                </a:solidFill>
                <a:latin typeface="JASO Sans"/>
                <a:ea typeface="JASO Sans"/>
                <a:cs typeface="JASO Sans"/>
                <a:sym typeface="JASO Sans"/>
              </a:rPr>
              <a:t>체크아이콘, 숫자, 화살표 등으로 정보의 흐름을 </a:t>
            </a:r>
            <a:r>
              <a:rPr lang="en-US" sz="3000" b="1" spc="-51">
                <a:solidFill>
                  <a:srgbClr val="222222"/>
                </a:solidFill>
                <a:latin typeface="JASO Sans Bold"/>
                <a:ea typeface="JASO Sans Bold"/>
                <a:cs typeface="JASO Sans Bold"/>
                <a:sym typeface="JASO Sans Bold"/>
              </a:rPr>
              <a:t>시각적으로 표현</a:t>
            </a:r>
            <a:r>
              <a:rPr lang="en-US" sz="3000" spc="-51">
                <a:solidFill>
                  <a:srgbClr val="222222"/>
                </a:solidFill>
                <a:latin typeface="JASO Sans"/>
                <a:ea typeface="JASO Sans"/>
                <a:cs typeface="JASO Sans"/>
                <a:sym typeface="JASO Sans"/>
              </a:rPr>
              <a:t>합니다.</a:t>
            </a:r>
          </a:p>
        </p:txBody>
      </p:sp>
      <p:sp>
        <p:nvSpPr>
          <p:cNvPr id="32" name="TextBox 32"/>
          <p:cNvSpPr txBox="1"/>
          <p:nvPr/>
        </p:nvSpPr>
        <p:spPr>
          <a:xfrm>
            <a:off x="2440307" y="7964601"/>
            <a:ext cx="11935017" cy="447631"/>
          </a:xfrm>
          <a:prstGeom prst="rect">
            <a:avLst/>
          </a:prstGeom>
        </p:spPr>
        <p:txBody>
          <a:bodyPr lIns="0" tIns="0" rIns="0" bIns="0" rtlCol="0" anchor="t">
            <a:normAutofit/>
          </a:bodyPr>
          <a:lstStyle/>
          <a:p>
            <a:pPr algn="l">
              <a:lnSpc>
                <a:spcPts val="3450"/>
              </a:lnSpc>
            </a:pPr>
            <a:r>
              <a:rPr lang="en-US" sz="3000" spc="-51">
                <a:solidFill>
                  <a:srgbClr val="222222"/>
                </a:solidFill>
                <a:latin typeface="JASO Sans"/>
                <a:ea typeface="JASO Sans"/>
                <a:cs typeface="JASO Sans"/>
                <a:sym typeface="JASO Sans"/>
              </a:rPr>
              <a:t>동일한 간격, 균형 잡힌 정렬로 </a:t>
            </a:r>
            <a:r>
              <a:rPr lang="en-US" sz="3000" b="1" spc="-51">
                <a:solidFill>
                  <a:srgbClr val="222222"/>
                </a:solidFill>
                <a:latin typeface="JASO Sans Bold"/>
                <a:ea typeface="JASO Sans Bold"/>
                <a:cs typeface="JASO Sans Bold"/>
                <a:sym typeface="JASO Sans Bold"/>
              </a:rPr>
              <a:t>보기 좋은 구조</a:t>
            </a:r>
            <a:r>
              <a:rPr lang="en-US" sz="3000" spc="-51">
                <a:solidFill>
                  <a:srgbClr val="222222"/>
                </a:solidFill>
                <a:latin typeface="JASO Sans"/>
                <a:ea typeface="JASO Sans"/>
                <a:cs typeface="JASO Sans"/>
                <a:sym typeface="JASO Sans"/>
              </a:rPr>
              <a:t>를 만듭니다.</a:t>
            </a:r>
          </a:p>
        </p:txBody>
      </p:sp>
      <p:sp>
        <p:nvSpPr>
          <p:cNvPr id="33" name="Freeform 33"/>
          <p:cNvSpPr/>
          <p:nvPr/>
        </p:nvSpPr>
        <p:spPr>
          <a:xfrm>
            <a:off x="2088641" y="5291898"/>
            <a:ext cx="170988" cy="130378"/>
          </a:xfrm>
          <a:custGeom>
            <a:avLst/>
            <a:gdLst/>
            <a:ahLst/>
            <a:cxnLst/>
            <a:rect l="l" t="t" r="r" b="b"/>
            <a:pathLst>
              <a:path w="170988" h="130378">
                <a:moveTo>
                  <a:pt x="0" y="0"/>
                </a:moveTo>
                <a:lnTo>
                  <a:pt x="170988" y="0"/>
                </a:lnTo>
                <a:lnTo>
                  <a:pt x="170988" y="130379"/>
                </a:lnTo>
                <a:lnTo>
                  <a:pt x="0" y="13037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4" name="Freeform 34"/>
          <p:cNvSpPr/>
          <p:nvPr/>
        </p:nvSpPr>
        <p:spPr>
          <a:xfrm>
            <a:off x="2088641" y="6674698"/>
            <a:ext cx="170988" cy="130378"/>
          </a:xfrm>
          <a:custGeom>
            <a:avLst/>
            <a:gdLst/>
            <a:ahLst/>
            <a:cxnLst/>
            <a:rect l="l" t="t" r="r" b="b"/>
            <a:pathLst>
              <a:path w="170988" h="130378">
                <a:moveTo>
                  <a:pt x="0" y="0"/>
                </a:moveTo>
                <a:lnTo>
                  <a:pt x="170988" y="0"/>
                </a:lnTo>
                <a:lnTo>
                  <a:pt x="170988" y="130378"/>
                </a:lnTo>
                <a:lnTo>
                  <a:pt x="0" y="13037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5" name="Freeform 35"/>
          <p:cNvSpPr/>
          <p:nvPr/>
        </p:nvSpPr>
        <p:spPr>
          <a:xfrm>
            <a:off x="2088641" y="8102368"/>
            <a:ext cx="170988" cy="130378"/>
          </a:xfrm>
          <a:custGeom>
            <a:avLst/>
            <a:gdLst/>
            <a:ahLst/>
            <a:cxnLst/>
            <a:rect l="l" t="t" r="r" b="b"/>
            <a:pathLst>
              <a:path w="170988" h="130378">
                <a:moveTo>
                  <a:pt x="0" y="0"/>
                </a:moveTo>
                <a:lnTo>
                  <a:pt x="170988" y="0"/>
                </a:lnTo>
                <a:lnTo>
                  <a:pt x="170988" y="130378"/>
                </a:lnTo>
                <a:lnTo>
                  <a:pt x="0" y="13037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36" name="TextBox 19">
            <a:extLst>
              <a:ext uri="{FF2B5EF4-FFF2-40B4-BE49-F238E27FC236}">
                <a16:creationId xmlns:a16="http://schemas.microsoft.com/office/drawing/2014/main" id="{746390DE-CF2F-4073-9059-C4F476F98799}"/>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원인과 결과 있는 페이지</a:t>
            </a:r>
          </a:p>
        </p:txBody>
      </p:sp>
      <p:sp>
        <p:nvSpPr>
          <p:cNvPr id="18" name="TextBox 18"/>
          <p:cNvSpPr txBox="1"/>
          <p:nvPr/>
        </p:nvSpPr>
        <p:spPr>
          <a:xfrm>
            <a:off x="9423773"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19" name="TextBox 19"/>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07</a:t>
            </a:r>
          </a:p>
        </p:txBody>
      </p:sp>
      <p:grpSp>
        <p:nvGrpSpPr>
          <p:cNvPr id="20" name="Group 20"/>
          <p:cNvGrpSpPr/>
          <p:nvPr/>
        </p:nvGrpSpPr>
        <p:grpSpPr>
          <a:xfrm>
            <a:off x="1545069" y="3025354"/>
            <a:ext cx="7483304" cy="1858631"/>
            <a:chOff x="0" y="0"/>
            <a:chExt cx="1864367" cy="463054"/>
          </a:xfrm>
        </p:grpSpPr>
        <p:sp>
          <p:nvSpPr>
            <p:cNvPr id="21" name="Freeform 21"/>
            <p:cNvSpPr/>
            <p:nvPr/>
          </p:nvSpPr>
          <p:spPr>
            <a:xfrm>
              <a:off x="0" y="0"/>
              <a:ext cx="1864367" cy="463054"/>
            </a:xfrm>
            <a:custGeom>
              <a:avLst/>
              <a:gdLst/>
              <a:ahLst/>
              <a:cxnLst/>
              <a:rect l="l" t="t" r="r" b="b"/>
              <a:pathLst>
                <a:path w="1864367" h="463054">
                  <a:moveTo>
                    <a:pt x="0" y="0"/>
                  </a:moveTo>
                  <a:lnTo>
                    <a:pt x="1864367" y="0"/>
                  </a:lnTo>
                  <a:lnTo>
                    <a:pt x="1864367" y="463054"/>
                  </a:lnTo>
                  <a:lnTo>
                    <a:pt x="0" y="463054"/>
                  </a:lnTo>
                  <a:close/>
                </a:path>
              </a:pathLst>
            </a:custGeom>
            <a:solidFill>
              <a:srgbClr val="E3E3E3"/>
            </a:solidFill>
            <a:ln cap="sq">
              <a:noFill/>
              <a:prstDash val="solid"/>
              <a:miter/>
            </a:ln>
          </p:spPr>
        </p:sp>
        <p:sp>
          <p:nvSpPr>
            <p:cNvPr id="22" name="TextBox 22"/>
            <p:cNvSpPr txBox="1"/>
            <p:nvPr/>
          </p:nvSpPr>
          <p:spPr>
            <a:xfrm>
              <a:off x="0" y="-28575"/>
              <a:ext cx="1864367" cy="491629"/>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3" name="Group 23"/>
          <p:cNvGrpSpPr/>
          <p:nvPr/>
        </p:nvGrpSpPr>
        <p:grpSpPr>
          <a:xfrm>
            <a:off x="1545069" y="5165343"/>
            <a:ext cx="7483304" cy="1858631"/>
            <a:chOff x="0" y="0"/>
            <a:chExt cx="1864367" cy="463054"/>
          </a:xfrm>
        </p:grpSpPr>
        <p:sp>
          <p:nvSpPr>
            <p:cNvPr id="24" name="Freeform 24"/>
            <p:cNvSpPr/>
            <p:nvPr/>
          </p:nvSpPr>
          <p:spPr>
            <a:xfrm>
              <a:off x="0" y="0"/>
              <a:ext cx="1864367" cy="463054"/>
            </a:xfrm>
            <a:custGeom>
              <a:avLst/>
              <a:gdLst/>
              <a:ahLst/>
              <a:cxnLst/>
              <a:rect l="l" t="t" r="r" b="b"/>
              <a:pathLst>
                <a:path w="1864367" h="463054">
                  <a:moveTo>
                    <a:pt x="0" y="0"/>
                  </a:moveTo>
                  <a:lnTo>
                    <a:pt x="1864367" y="0"/>
                  </a:lnTo>
                  <a:lnTo>
                    <a:pt x="1864367" y="463054"/>
                  </a:lnTo>
                  <a:lnTo>
                    <a:pt x="0" y="463054"/>
                  </a:lnTo>
                  <a:close/>
                </a:path>
              </a:pathLst>
            </a:custGeom>
            <a:solidFill>
              <a:srgbClr val="E3E3E3"/>
            </a:solidFill>
            <a:ln cap="sq">
              <a:noFill/>
              <a:prstDash val="solid"/>
              <a:miter/>
            </a:ln>
          </p:spPr>
        </p:sp>
        <p:sp>
          <p:nvSpPr>
            <p:cNvPr id="25" name="TextBox 25"/>
            <p:cNvSpPr txBox="1"/>
            <p:nvPr/>
          </p:nvSpPr>
          <p:spPr>
            <a:xfrm>
              <a:off x="0" y="-28575"/>
              <a:ext cx="1864367" cy="491629"/>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6" name="Group 26"/>
          <p:cNvGrpSpPr/>
          <p:nvPr/>
        </p:nvGrpSpPr>
        <p:grpSpPr>
          <a:xfrm>
            <a:off x="1545069" y="7305916"/>
            <a:ext cx="7483304" cy="1858631"/>
            <a:chOff x="0" y="0"/>
            <a:chExt cx="1864367" cy="463054"/>
          </a:xfrm>
        </p:grpSpPr>
        <p:sp>
          <p:nvSpPr>
            <p:cNvPr id="27" name="Freeform 27"/>
            <p:cNvSpPr/>
            <p:nvPr/>
          </p:nvSpPr>
          <p:spPr>
            <a:xfrm>
              <a:off x="0" y="0"/>
              <a:ext cx="1864367" cy="463054"/>
            </a:xfrm>
            <a:custGeom>
              <a:avLst/>
              <a:gdLst/>
              <a:ahLst/>
              <a:cxnLst/>
              <a:rect l="l" t="t" r="r" b="b"/>
              <a:pathLst>
                <a:path w="1864367" h="463054">
                  <a:moveTo>
                    <a:pt x="0" y="0"/>
                  </a:moveTo>
                  <a:lnTo>
                    <a:pt x="1864367" y="0"/>
                  </a:lnTo>
                  <a:lnTo>
                    <a:pt x="1864367" y="463054"/>
                  </a:lnTo>
                  <a:lnTo>
                    <a:pt x="0" y="463054"/>
                  </a:lnTo>
                  <a:close/>
                </a:path>
              </a:pathLst>
            </a:custGeom>
            <a:solidFill>
              <a:srgbClr val="E3E3E3"/>
            </a:solidFill>
            <a:ln cap="sq">
              <a:noFill/>
              <a:prstDash val="solid"/>
              <a:miter/>
            </a:ln>
          </p:spPr>
        </p:sp>
        <p:sp>
          <p:nvSpPr>
            <p:cNvPr id="28" name="TextBox 28"/>
            <p:cNvSpPr txBox="1"/>
            <p:nvPr/>
          </p:nvSpPr>
          <p:spPr>
            <a:xfrm>
              <a:off x="0" y="-28575"/>
              <a:ext cx="1864367" cy="491629"/>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9" name="Group 29"/>
          <p:cNvGrpSpPr/>
          <p:nvPr/>
        </p:nvGrpSpPr>
        <p:grpSpPr>
          <a:xfrm>
            <a:off x="10615314" y="3025354"/>
            <a:ext cx="6127617" cy="6139148"/>
            <a:chOff x="0" y="0"/>
            <a:chExt cx="1526452" cy="1529334"/>
          </a:xfrm>
        </p:grpSpPr>
        <p:sp>
          <p:nvSpPr>
            <p:cNvPr id="30" name="Freeform 30"/>
            <p:cNvSpPr/>
            <p:nvPr/>
          </p:nvSpPr>
          <p:spPr>
            <a:xfrm>
              <a:off x="0" y="0"/>
              <a:ext cx="1526452" cy="1529334"/>
            </a:xfrm>
            <a:custGeom>
              <a:avLst/>
              <a:gdLst/>
              <a:ahLst/>
              <a:cxnLst/>
              <a:rect l="l" t="t" r="r" b="b"/>
              <a:pathLst>
                <a:path w="1526452" h="1529334">
                  <a:moveTo>
                    <a:pt x="1526452" y="0"/>
                  </a:moveTo>
                  <a:lnTo>
                    <a:pt x="1526452" y="1529334"/>
                  </a:lnTo>
                  <a:lnTo>
                    <a:pt x="0" y="1529334"/>
                  </a:lnTo>
                  <a:lnTo>
                    <a:pt x="0" y="0"/>
                  </a:lnTo>
                  <a:close/>
                </a:path>
              </a:pathLst>
            </a:custGeom>
            <a:solidFill>
              <a:srgbClr val="FFFFFF"/>
            </a:solidFill>
            <a:ln cap="sq">
              <a:noFill/>
              <a:prstDash val="solid"/>
              <a:miter/>
            </a:ln>
          </p:spPr>
        </p:sp>
        <p:sp>
          <p:nvSpPr>
            <p:cNvPr id="31" name="TextBox 31"/>
            <p:cNvSpPr txBox="1"/>
            <p:nvPr/>
          </p:nvSpPr>
          <p:spPr>
            <a:xfrm>
              <a:off x="0" y="-28575"/>
              <a:ext cx="1526452" cy="1557909"/>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32" name="Freeform 32"/>
          <p:cNvSpPr/>
          <p:nvPr/>
        </p:nvSpPr>
        <p:spPr>
          <a:xfrm>
            <a:off x="9488738" y="5705355"/>
            <a:ext cx="781837" cy="712449"/>
          </a:xfrm>
          <a:custGeom>
            <a:avLst/>
            <a:gdLst/>
            <a:ahLst/>
            <a:cxnLst/>
            <a:rect l="l" t="t" r="r" b="b"/>
            <a:pathLst>
              <a:path w="781837" h="712449">
                <a:moveTo>
                  <a:pt x="0" y="0"/>
                </a:moveTo>
                <a:lnTo>
                  <a:pt x="781838" y="0"/>
                </a:lnTo>
                <a:lnTo>
                  <a:pt x="781838" y="712449"/>
                </a:lnTo>
                <a:lnTo>
                  <a:pt x="0" y="712449"/>
                </a:lnTo>
                <a:lnTo>
                  <a:pt x="0" y="0"/>
                </a:lnTo>
                <a:close/>
              </a:path>
            </a:pathLst>
          </a:custGeom>
          <a:blipFill>
            <a:blip r:embed="rId16">
              <a:alphaModFix amt="36000"/>
              <a:extLst>
                <a:ext uri="{96DAC541-7B7A-43D3-8B79-37D633B846F1}">
                  <asvg:svgBlip xmlns:asvg="http://schemas.microsoft.com/office/drawing/2016/SVG/main" r:embed="rId17"/>
                </a:ext>
              </a:extLst>
            </a:blip>
            <a:stretch>
              <a:fillRect/>
            </a:stretch>
          </a:blipFill>
        </p:spPr>
      </p:sp>
      <p:sp>
        <p:nvSpPr>
          <p:cNvPr id="33" name="TextBox 33"/>
          <p:cNvSpPr txBox="1"/>
          <p:nvPr/>
        </p:nvSpPr>
        <p:spPr>
          <a:xfrm>
            <a:off x="3861440" y="3470116"/>
            <a:ext cx="4524838" cy="884333"/>
          </a:xfrm>
          <a:prstGeom prst="rect">
            <a:avLst/>
          </a:prstGeom>
        </p:spPr>
        <p:txBody>
          <a:bodyPr lIns="0" tIns="0" rIns="0" bIns="0" rtlCol="0" anchor="t">
            <a:normAutofit/>
          </a:bodyPr>
          <a:lstStyle/>
          <a:p>
            <a:pPr marL="0" lvl="0" indent="0" algn="l">
              <a:lnSpc>
                <a:spcPts val="3622"/>
              </a:lnSpc>
              <a:spcBef>
                <a:spcPct val="0"/>
              </a:spcBef>
            </a:pPr>
            <a:r>
              <a:rPr lang="en-US" sz="2249" u="none" strike="noStrike" spc="-78">
                <a:solidFill>
                  <a:srgbClr val="222222">
                    <a:alpha val="80000"/>
                  </a:srgbClr>
                </a:solidFill>
                <a:latin typeface="JASO Sans"/>
                <a:ea typeface="JASO Sans"/>
                <a:cs typeface="JASO Sans"/>
                <a:sym typeface="JASO Sans"/>
              </a:rPr>
              <a:t>문제가 발생한 배경 중 외부 환경이나 제도적 요인을 설명하는 카드입니다. </a:t>
            </a:r>
          </a:p>
        </p:txBody>
      </p:sp>
      <p:sp>
        <p:nvSpPr>
          <p:cNvPr id="34" name="TextBox 34"/>
          <p:cNvSpPr txBox="1"/>
          <p:nvPr/>
        </p:nvSpPr>
        <p:spPr>
          <a:xfrm>
            <a:off x="3861440" y="5610105"/>
            <a:ext cx="4524838" cy="884333"/>
          </a:xfrm>
          <a:prstGeom prst="rect">
            <a:avLst/>
          </a:prstGeom>
        </p:spPr>
        <p:txBody>
          <a:bodyPr lIns="0" tIns="0" rIns="0" bIns="0" rtlCol="0" anchor="t">
            <a:normAutofit/>
          </a:bodyPr>
          <a:lstStyle/>
          <a:p>
            <a:pPr marL="0" lvl="0" indent="0" algn="l">
              <a:lnSpc>
                <a:spcPts val="3622"/>
              </a:lnSpc>
              <a:spcBef>
                <a:spcPct val="0"/>
              </a:spcBef>
            </a:pPr>
            <a:r>
              <a:rPr lang="en-US" sz="2249" u="none" strike="noStrike" spc="-78">
                <a:solidFill>
                  <a:srgbClr val="222222">
                    <a:alpha val="80000"/>
                  </a:srgbClr>
                </a:solidFill>
                <a:latin typeface="JASO Sans"/>
                <a:ea typeface="JASO Sans"/>
                <a:cs typeface="JASO Sans"/>
                <a:sym typeface="JASO Sans"/>
              </a:rPr>
              <a:t>내부 시스템이나 조직 구조에서 비롯된 원인을 정리합니다.</a:t>
            </a:r>
          </a:p>
        </p:txBody>
      </p:sp>
      <p:sp>
        <p:nvSpPr>
          <p:cNvPr id="35" name="TextBox 35"/>
          <p:cNvSpPr txBox="1"/>
          <p:nvPr/>
        </p:nvSpPr>
        <p:spPr>
          <a:xfrm>
            <a:off x="3861440" y="7750678"/>
            <a:ext cx="4524838" cy="884333"/>
          </a:xfrm>
          <a:prstGeom prst="rect">
            <a:avLst/>
          </a:prstGeom>
        </p:spPr>
        <p:txBody>
          <a:bodyPr lIns="0" tIns="0" rIns="0" bIns="0" rtlCol="0" anchor="t">
            <a:normAutofit/>
          </a:bodyPr>
          <a:lstStyle/>
          <a:p>
            <a:pPr marL="0" lvl="0" indent="0" algn="l">
              <a:lnSpc>
                <a:spcPts val="3622"/>
              </a:lnSpc>
              <a:spcBef>
                <a:spcPct val="0"/>
              </a:spcBef>
            </a:pPr>
            <a:r>
              <a:rPr lang="en-US" sz="2249" u="none" strike="noStrike" spc="-78">
                <a:solidFill>
                  <a:srgbClr val="222222">
                    <a:alpha val="80000"/>
                  </a:srgbClr>
                </a:solidFill>
                <a:latin typeface="JASO Sans"/>
                <a:ea typeface="JASO Sans"/>
                <a:cs typeface="JASO Sans"/>
                <a:sym typeface="JASO Sans"/>
              </a:rPr>
              <a:t>개인 또는 팀의 행동, 선택, 역량 등으로 발생한 원인을 설명합니다.</a:t>
            </a:r>
          </a:p>
        </p:txBody>
      </p:sp>
      <p:grpSp>
        <p:nvGrpSpPr>
          <p:cNvPr id="36" name="Group 36"/>
          <p:cNvGrpSpPr/>
          <p:nvPr/>
        </p:nvGrpSpPr>
        <p:grpSpPr>
          <a:xfrm>
            <a:off x="2037335" y="3607796"/>
            <a:ext cx="1392300" cy="674696"/>
            <a:chOff x="0" y="0"/>
            <a:chExt cx="346873" cy="168092"/>
          </a:xfrm>
        </p:grpSpPr>
        <p:sp>
          <p:nvSpPr>
            <p:cNvPr id="37" name="Freeform 37"/>
            <p:cNvSpPr/>
            <p:nvPr/>
          </p:nvSpPr>
          <p:spPr>
            <a:xfrm>
              <a:off x="0" y="0"/>
              <a:ext cx="346873" cy="168092"/>
            </a:xfrm>
            <a:custGeom>
              <a:avLst/>
              <a:gdLst/>
              <a:ahLst/>
              <a:cxnLst/>
              <a:rect l="l" t="t" r="r" b="b"/>
              <a:pathLst>
                <a:path w="346873" h="168092">
                  <a:moveTo>
                    <a:pt x="0" y="0"/>
                  </a:moveTo>
                  <a:lnTo>
                    <a:pt x="346873" y="0"/>
                  </a:lnTo>
                  <a:lnTo>
                    <a:pt x="346873" y="168092"/>
                  </a:lnTo>
                  <a:lnTo>
                    <a:pt x="0" y="168092"/>
                  </a:lnTo>
                  <a:close/>
                </a:path>
              </a:pathLst>
            </a:custGeom>
            <a:solidFill>
              <a:srgbClr val="B35555"/>
            </a:solidFill>
            <a:ln cap="sq">
              <a:noFill/>
              <a:prstDash val="solid"/>
              <a:miter/>
            </a:ln>
          </p:spPr>
        </p:sp>
        <p:sp>
          <p:nvSpPr>
            <p:cNvPr id="38" name="TextBox 38"/>
            <p:cNvSpPr txBox="1"/>
            <p:nvPr/>
          </p:nvSpPr>
          <p:spPr>
            <a:xfrm>
              <a:off x="0" y="-28575"/>
              <a:ext cx="346873" cy="196667"/>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grpSp>
        <p:nvGrpSpPr>
          <p:cNvPr id="39" name="Group 39"/>
          <p:cNvGrpSpPr/>
          <p:nvPr/>
        </p:nvGrpSpPr>
        <p:grpSpPr>
          <a:xfrm>
            <a:off x="10833073" y="3252173"/>
            <a:ext cx="5692099" cy="1030319"/>
            <a:chOff x="0" y="0"/>
            <a:chExt cx="1417977" cy="256666"/>
          </a:xfrm>
        </p:grpSpPr>
        <p:sp>
          <p:nvSpPr>
            <p:cNvPr id="40" name="Freeform 40"/>
            <p:cNvSpPr/>
            <p:nvPr/>
          </p:nvSpPr>
          <p:spPr>
            <a:xfrm>
              <a:off x="0" y="0"/>
              <a:ext cx="1417977" cy="256666"/>
            </a:xfrm>
            <a:custGeom>
              <a:avLst/>
              <a:gdLst/>
              <a:ahLst/>
              <a:cxnLst/>
              <a:rect l="l" t="t" r="r" b="b"/>
              <a:pathLst>
                <a:path w="1417977" h="256666">
                  <a:moveTo>
                    <a:pt x="0" y="0"/>
                  </a:moveTo>
                  <a:lnTo>
                    <a:pt x="1417977" y="0"/>
                  </a:lnTo>
                  <a:lnTo>
                    <a:pt x="1417977" y="256666"/>
                  </a:lnTo>
                  <a:lnTo>
                    <a:pt x="0" y="256666"/>
                  </a:lnTo>
                  <a:close/>
                </a:path>
              </a:pathLst>
            </a:custGeom>
            <a:solidFill>
              <a:srgbClr val="B35555"/>
            </a:solidFill>
            <a:ln cap="sq">
              <a:noFill/>
              <a:prstDash val="solid"/>
              <a:miter/>
            </a:ln>
          </p:spPr>
        </p:sp>
        <p:sp>
          <p:nvSpPr>
            <p:cNvPr id="41" name="TextBox 41"/>
            <p:cNvSpPr txBox="1"/>
            <p:nvPr/>
          </p:nvSpPr>
          <p:spPr>
            <a:xfrm>
              <a:off x="0" y="0"/>
              <a:ext cx="1417977" cy="256666"/>
            </a:xfrm>
            <a:prstGeom prst="rect">
              <a:avLst/>
            </a:prstGeom>
          </p:spPr>
          <p:txBody>
            <a:bodyPr lIns="50800" tIns="50800" rIns="50800" bIns="50800" rtlCol="0" anchor="ctr">
              <a:normAutofit/>
            </a:bodyPr>
            <a:lstStyle/>
            <a:p>
              <a:pPr algn="ctr">
                <a:lnSpc>
                  <a:spcPts val="1860"/>
                </a:lnSpc>
              </a:pPr>
              <a:endParaRPr/>
            </a:p>
          </p:txBody>
        </p:sp>
      </p:grpSp>
      <p:grpSp>
        <p:nvGrpSpPr>
          <p:cNvPr id="42" name="Group 42"/>
          <p:cNvGrpSpPr/>
          <p:nvPr/>
        </p:nvGrpSpPr>
        <p:grpSpPr>
          <a:xfrm>
            <a:off x="2037335" y="5750760"/>
            <a:ext cx="1392300" cy="674696"/>
            <a:chOff x="0" y="0"/>
            <a:chExt cx="346873" cy="168092"/>
          </a:xfrm>
        </p:grpSpPr>
        <p:sp>
          <p:nvSpPr>
            <p:cNvPr id="43" name="Freeform 43"/>
            <p:cNvSpPr/>
            <p:nvPr/>
          </p:nvSpPr>
          <p:spPr>
            <a:xfrm>
              <a:off x="0" y="0"/>
              <a:ext cx="346873" cy="168092"/>
            </a:xfrm>
            <a:custGeom>
              <a:avLst/>
              <a:gdLst/>
              <a:ahLst/>
              <a:cxnLst/>
              <a:rect l="l" t="t" r="r" b="b"/>
              <a:pathLst>
                <a:path w="346873" h="168092">
                  <a:moveTo>
                    <a:pt x="0" y="0"/>
                  </a:moveTo>
                  <a:lnTo>
                    <a:pt x="346873" y="0"/>
                  </a:lnTo>
                  <a:lnTo>
                    <a:pt x="346873" y="168092"/>
                  </a:lnTo>
                  <a:lnTo>
                    <a:pt x="0" y="168092"/>
                  </a:lnTo>
                  <a:close/>
                </a:path>
              </a:pathLst>
            </a:custGeom>
            <a:solidFill>
              <a:srgbClr val="B35555"/>
            </a:solidFill>
            <a:ln cap="sq">
              <a:noFill/>
              <a:prstDash val="solid"/>
              <a:miter/>
            </a:ln>
          </p:spPr>
        </p:sp>
        <p:sp>
          <p:nvSpPr>
            <p:cNvPr id="44" name="TextBox 44"/>
            <p:cNvSpPr txBox="1"/>
            <p:nvPr/>
          </p:nvSpPr>
          <p:spPr>
            <a:xfrm>
              <a:off x="0" y="-28575"/>
              <a:ext cx="346873" cy="196667"/>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grpSp>
        <p:nvGrpSpPr>
          <p:cNvPr id="45" name="Group 45"/>
          <p:cNvGrpSpPr/>
          <p:nvPr/>
        </p:nvGrpSpPr>
        <p:grpSpPr>
          <a:xfrm>
            <a:off x="2037335" y="7890749"/>
            <a:ext cx="1392300" cy="674696"/>
            <a:chOff x="0" y="0"/>
            <a:chExt cx="346873" cy="168092"/>
          </a:xfrm>
        </p:grpSpPr>
        <p:sp>
          <p:nvSpPr>
            <p:cNvPr id="46" name="Freeform 46"/>
            <p:cNvSpPr/>
            <p:nvPr/>
          </p:nvSpPr>
          <p:spPr>
            <a:xfrm>
              <a:off x="0" y="0"/>
              <a:ext cx="346873" cy="168092"/>
            </a:xfrm>
            <a:custGeom>
              <a:avLst/>
              <a:gdLst/>
              <a:ahLst/>
              <a:cxnLst/>
              <a:rect l="l" t="t" r="r" b="b"/>
              <a:pathLst>
                <a:path w="346873" h="168092">
                  <a:moveTo>
                    <a:pt x="0" y="0"/>
                  </a:moveTo>
                  <a:lnTo>
                    <a:pt x="346873" y="0"/>
                  </a:lnTo>
                  <a:lnTo>
                    <a:pt x="346873" y="168092"/>
                  </a:lnTo>
                  <a:lnTo>
                    <a:pt x="0" y="168092"/>
                  </a:lnTo>
                  <a:close/>
                </a:path>
              </a:pathLst>
            </a:custGeom>
            <a:solidFill>
              <a:srgbClr val="B35555"/>
            </a:solidFill>
            <a:ln cap="sq">
              <a:noFill/>
              <a:prstDash val="solid"/>
              <a:miter/>
            </a:ln>
          </p:spPr>
        </p:sp>
        <p:sp>
          <p:nvSpPr>
            <p:cNvPr id="47" name="TextBox 47"/>
            <p:cNvSpPr txBox="1"/>
            <p:nvPr/>
          </p:nvSpPr>
          <p:spPr>
            <a:xfrm>
              <a:off x="0" y="-28575"/>
              <a:ext cx="346873" cy="196667"/>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48" name="TextBox 48"/>
          <p:cNvSpPr txBox="1"/>
          <p:nvPr/>
        </p:nvSpPr>
        <p:spPr>
          <a:xfrm rot="-18144">
            <a:off x="2034685" y="3604479"/>
            <a:ext cx="1417216" cy="678007"/>
          </a:xfrm>
          <a:prstGeom prst="rect">
            <a:avLst/>
          </a:prstGeom>
        </p:spPr>
        <p:txBody>
          <a:bodyPr lIns="0" tIns="0" rIns="0" bIns="0" rtlCol="0" anchor="ctr">
            <a:normAutofit/>
          </a:bodyPr>
          <a:lstStyle/>
          <a:p>
            <a:pPr marL="0" lvl="0" indent="0" algn="ctr">
              <a:lnSpc>
                <a:spcPts val="2760"/>
              </a:lnSpc>
            </a:pPr>
            <a:r>
              <a:rPr lang="en-US" sz="2400" b="1" spc="-52" dirty="0" err="1">
                <a:solidFill>
                  <a:srgbClr val="F5F4F4"/>
                </a:solidFill>
                <a:latin typeface="JASO Sans Bold"/>
                <a:ea typeface="JASO Sans Bold"/>
                <a:cs typeface="JASO Sans Bold"/>
                <a:sym typeface="JASO Sans Bold"/>
              </a:rPr>
              <a:t>원인</a:t>
            </a:r>
            <a:r>
              <a:rPr lang="en-US" sz="2400" b="1" spc="-52" dirty="0">
                <a:solidFill>
                  <a:srgbClr val="F5F4F4"/>
                </a:solidFill>
                <a:latin typeface="JASO Sans Bold"/>
                <a:ea typeface="JASO Sans Bold"/>
                <a:cs typeface="JASO Sans Bold"/>
                <a:sym typeface="JASO Sans Bold"/>
              </a:rPr>
              <a:t> 1</a:t>
            </a:r>
          </a:p>
        </p:txBody>
      </p:sp>
      <p:sp>
        <p:nvSpPr>
          <p:cNvPr id="49" name="TextBox 49"/>
          <p:cNvSpPr txBox="1"/>
          <p:nvPr/>
        </p:nvSpPr>
        <p:spPr>
          <a:xfrm rot="-18144">
            <a:off x="2035940" y="5751550"/>
            <a:ext cx="1415972" cy="673898"/>
          </a:xfrm>
          <a:prstGeom prst="rect">
            <a:avLst/>
          </a:prstGeom>
        </p:spPr>
        <p:txBody>
          <a:bodyPr lIns="0" tIns="0" rIns="0" bIns="0" rtlCol="0" anchor="ctr">
            <a:normAutofit/>
          </a:bodyPr>
          <a:lstStyle/>
          <a:p>
            <a:pPr marL="0" lvl="0" indent="0" algn="ctr">
              <a:lnSpc>
                <a:spcPts val="2760"/>
              </a:lnSpc>
            </a:pPr>
            <a:r>
              <a:rPr lang="en-US" sz="2400" b="1" spc="-52" dirty="0" err="1">
                <a:solidFill>
                  <a:srgbClr val="F5F4F4"/>
                </a:solidFill>
                <a:latin typeface="JASO Sans Bold"/>
                <a:ea typeface="JASO Sans Bold"/>
                <a:cs typeface="JASO Sans Bold"/>
                <a:sym typeface="JASO Sans Bold"/>
              </a:rPr>
              <a:t>원인</a:t>
            </a:r>
            <a:r>
              <a:rPr lang="en-US" sz="2400" b="1" spc="-52" dirty="0">
                <a:solidFill>
                  <a:srgbClr val="F5F4F4"/>
                </a:solidFill>
                <a:latin typeface="JASO Sans Bold"/>
                <a:ea typeface="JASO Sans Bold"/>
                <a:cs typeface="JASO Sans Bold"/>
                <a:sym typeface="JASO Sans Bold"/>
              </a:rPr>
              <a:t> 2</a:t>
            </a:r>
          </a:p>
        </p:txBody>
      </p:sp>
      <p:sp>
        <p:nvSpPr>
          <p:cNvPr id="50" name="TextBox 50"/>
          <p:cNvSpPr txBox="1"/>
          <p:nvPr/>
        </p:nvSpPr>
        <p:spPr>
          <a:xfrm rot="-18144">
            <a:off x="2037127" y="7890746"/>
            <a:ext cx="1414773" cy="670955"/>
          </a:xfrm>
          <a:prstGeom prst="rect">
            <a:avLst/>
          </a:prstGeom>
        </p:spPr>
        <p:txBody>
          <a:bodyPr lIns="0" tIns="0" rIns="0" bIns="0" rtlCol="0" anchor="ctr">
            <a:normAutofit/>
          </a:bodyPr>
          <a:lstStyle/>
          <a:p>
            <a:pPr marL="0" lvl="0" indent="0" algn="ctr">
              <a:lnSpc>
                <a:spcPts val="2760"/>
              </a:lnSpc>
            </a:pPr>
            <a:r>
              <a:rPr lang="en-US" sz="2400" b="1" spc="-52" dirty="0" err="1">
                <a:solidFill>
                  <a:srgbClr val="F5F4F4"/>
                </a:solidFill>
                <a:latin typeface="JASO Sans Bold"/>
                <a:ea typeface="JASO Sans Bold"/>
                <a:cs typeface="JASO Sans Bold"/>
                <a:sym typeface="JASO Sans Bold"/>
              </a:rPr>
              <a:t>원인</a:t>
            </a:r>
            <a:r>
              <a:rPr lang="en-US" sz="2400" b="1" spc="-52" dirty="0">
                <a:solidFill>
                  <a:srgbClr val="F5F4F4"/>
                </a:solidFill>
                <a:latin typeface="JASO Sans Bold"/>
                <a:ea typeface="JASO Sans Bold"/>
                <a:cs typeface="JASO Sans Bold"/>
                <a:sym typeface="JASO Sans Bold"/>
              </a:rPr>
              <a:t> 3</a:t>
            </a:r>
          </a:p>
        </p:txBody>
      </p:sp>
      <p:sp>
        <p:nvSpPr>
          <p:cNvPr id="51" name="TextBox 51"/>
          <p:cNvSpPr txBox="1"/>
          <p:nvPr/>
        </p:nvSpPr>
        <p:spPr>
          <a:xfrm>
            <a:off x="11275818" y="4788735"/>
            <a:ext cx="4806608" cy="3635516"/>
          </a:xfrm>
          <a:prstGeom prst="rect">
            <a:avLst/>
          </a:prstGeom>
        </p:spPr>
        <p:txBody>
          <a:bodyPr lIns="0" tIns="0" rIns="0" bIns="0" rtlCol="0" anchor="t">
            <a:normAutofit/>
          </a:bodyPr>
          <a:lstStyle/>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여러 원인이 모여 하나의 결과를 만들어내는 흐름을 보여주는 레이아웃입니다.</a:t>
            </a:r>
          </a:p>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세 가지 원인이 종합적으로 작용해 나타난</a:t>
            </a:r>
          </a:p>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하나의 결과를 제시하는 카드입니다.</a:t>
            </a:r>
          </a:p>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예: “프로젝트 일정 지연”, “매출 감소”등.</a:t>
            </a:r>
          </a:p>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 이 결과는 앞선 원인들과 시각적으로 연결되어 인과관계를 쉽게 이해할 수 있도록</a:t>
            </a:r>
          </a:p>
          <a:p>
            <a:pPr marL="0" lvl="0" indent="0" algn="ctr">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설계합니다.</a:t>
            </a:r>
          </a:p>
        </p:txBody>
      </p:sp>
      <p:sp>
        <p:nvSpPr>
          <p:cNvPr id="52" name="TextBox 52"/>
          <p:cNvSpPr txBox="1"/>
          <p:nvPr/>
        </p:nvSpPr>
        <p:spPr>
          <a:xfrm rot="-18144">
            <a:off x="10833086" y="3251576"/>
            <a:ext cx="5690255" cy="1030706"/>
          </a:xfrm>
          <a:prstGeom prst="rect">
            <a:avLst/>
          </a:prstGeom>
        </p:spPr>
        <p:txBody>
          <a:bodyPr lIns="0" tIns="0" rIns="0" bIns="0" rtlCol="0" anchor="ctr">
            <a:normAutofit/>
          </a:bodyPr>
          <a:lstStyle/>
          <a:p>
            <a:pPr marL="0" lvl="0" indent="0" algn="ctr">
              <a:lnSpc>
                <a:spcPts val="3497"/>
              </a:lnSpc>
            </a:pPr>
            <a:r>
              <a:rPr lang="en-US" sz="3041" b="1" spc="-66" dirty="0" err="1">
                <a:solidFill>
                  <a:srgbClr val="FFFFFF"/>
                </a:solidFill>
                <a:latin typeface="JASO Sans Bold"/>
                <a:ea typeface="JASO Sans Bold"/>
                <a:cs typeface="JASO Sans Bold"/>
                <a:sym typeface="JASO Sans Bold"/>
              </a:rPr>
              <a:t>결과</a:t>
            </a:r>
            <a:endParaRPr lang="en-US" sz="3041" b="1" spc="-66" dirty="0">
              <a:solidFill>
                <a:srgbClr val="FFFFFF"/>
              </a:solidFill>
              <a:latin typeface="JASO Sans Bold"/>
              <a:ea typeface="JASO Sans Bold"/>
              <a:cs typeface="JASO Sans Bold"/>
              <a:sym typeface="JASO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normAutofit fontScale="25000" lnSpcReduction="20000"/>
            </a:bodyPr>
            <a:lstStyle/>
            <a:p>
              <a:pPr algn="ctr">
                <a:lnSpc>
                  <a:spcPts val="2587"/>
                </a:lnSpc>
              </a:pPr>
              <a:endParaRPr/>
            </a:p>
          </p:txBody>
        </p:sp>
      </p:grpSp>
      <p:sp>
        <p:nvSpPr>
          <p:cNvPr id="13" name="TextBox 13"/>
          <p:cNvSpPr txBox="1"/>
          <p:nvPr/>
        </p:nvSpPr>
        <p:spPr>
          <a:xfrm rot="-18144">
            <a:off x="13006057" y="3557674"/>
            <a:ext cx="1125212" cy="438368"/>
          </a:xfrm>
          <a:prstGeom prst="rect">
            <a:avLst/>
          </a:prstGeom>
        </p:spPr>
        <p:txBody>
          <a:bodyPr lIns="0" tIns="0" rIns="0" bIns="0" rtlCol="0" anchor="t">
            <a:normAutofit fontScale="92500"/>
          </a:bodyPr>
          <a:lstStyle/>
          <a:p>
            <a:pPr marL="0" lvl="0" indent="0" algn="ctr">
              <a:lnSpc>
                <a:spcPts val="3497"/>
              </a:lnSpc>
            </a:pPr>
            <a:r>
              <a:rPr lang="en-US" sz="3041" b="1" spc="-66">
                <a:solidFill>
                  <a:srgbClr val="FFFFFF"/>
                </a:solidFill>
                <a:latin typeface="JASO Sans Bold"/>
                <a:ea typeface="JASO Sans Bold"/>
                <a:cs typeface="JASO Sans Bold"/>
                <a:sym typeface="JASO Sans Bold"/>
              </a:rPr>
              <a:t>결과</a:t>
            </a:r>
          </a:p>
        </p:txBody>
      </p:sp>
      <p:grpSp>
        <p:nvGrpSpPr>
          <p:cNvPr id="14" name="Group 14"/>
          <p:cNvGrpSpPr/>
          <p:nvPr/>
        </p:nvGrpSpPr>
        <p:grpSpPr>
          <a:xfrm>
            <a:off x="1049478" y="852837"/>
            <a:ext cx="735448" cy="735448"/>
            <a:chOff x="0" y="0"/>
            <a:chExt cx="191064" cy="191064"/>
          </a:xfrm>
        </p:grpSpPr>
        <p:sp>
          <p:nvSpPr>
            <p:cNvPr id="15" name="Freeform 15"/>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6" name="TextBox 16"/>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7" name="AutoShape 17"/>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grpSp>
        <p:nvGrpSpPr>
          <p:cNvPr id="18" name="Group 18"/>
          <p:cNvGrpSpPr/>
          <p:nvPr/>
        </p:nvGrpSpPr>
        <p:grpSpPr>
          <a:xfrm>
            <a:off x="1545069" y="3025354"/>
            <a:ext cx="4841708" cy="4161167"/>
            <a:chOff x="0" y="0"/>
            <a:chExt cx="738724" cy="634891"/>
          </a:xfrm>
        </p:grpSpPr>
        <p:sp>
          <p:nvSpPr>
            <p:cNvPr id="19" name="Freeform 19"/>
            <p:cNvSpPr/>
            <p:nvPr/>
          </p:nvSpPr>
          <p:spPr>
            <a:xfrm>
              <a:off x="0" y="0"/>
              <a:ext cx="738724" cy="634891"/>
            </a:xfrm>
            <a:custGeom>
              <a:avLst/>
              <a:gdLst/>
              <a:ahLst/>
              <a:cxnLst/>
              <a:rect l="l" t="t" r="r" b="b"/>
              <a:pathLst>
                <a:path w="738724" h="634891">
                  <a:moveTo>
                    <a:pt x="0" y="0"/>
                  </a:moveTo>
                  <a:lnTo>
                    <a:pt x="738724" y="0"/>
                  </a:lnTo>
                  <a:lnTo>
                    <a:pt x="738724" y="634891"/>
                  </a:lnTo>
                  <a:lnTo>
                    <a:pt x="0" y="634891"/>
                  </a:lnTo>
                  <a:close/>
                </a:path>
              </a:pathLst>
            </a:custGeom>
            <a:blipFill>
              <a:blip r:embed="rId16"/>
              <a:stretch>
                <a:fillRect t="-37265" b="-37265"/>
              </a:stretch>
            </a:blipFill>
            <a:ln cap="sq">
              <a:noFill/>
              <a:prstDash val="solid"/>
              <a:miter/>
            </a:ln>
          </p:spPr>
        </p:sp>
      </p:grpSp>
      <p:grpSp>
        <p:nvGrpSpPr>
          <p:cNvPr id="20" name="Group 20"/>
          <p:cNvGrpSpPr/>
          <p:nvPr/>
        </p:nvGrpSpPr>
        <p:grpSpPr>
          <a:xfrm>
            <a:off x="6720122" y="3025354"/>
            <a:ext cx="4841708" cy="4161167"/>
            <a:chOff x="0" y="0"/>
            <a:chExt cx="738724" cy="634891"/>
          </a:xfrm>
        </p:grpSpPr>
        <p:sp>
          <p:nvSpPr>
            <p:cNvPr id="21" name="Freeform 21"/>
            <p:cNvSpPr/>
            <p:nvPr/>
          </p:nvSpPr>
          <p:spPr>
            <a:xfrm>
              <a:off x="0" y="0"/>
              <a:ext cx="738724" cy="634891"/>
            </a:xfrm>
            <a:custGeom>
              <a:avLst/>
              <a:gdLst/>
              <a:ahLst/>
              <a:cxnLst/>
              <a:rect l="l" t="t" r="r" b="b"/>
              <a:pathLst>
                <a:path w="738724" h="634891">
                  <a:moveTo>
                    <a:pt x="0" y="0"/>
                  </a:moveTo>
                  <a:lnTo>
                    <a:pt x="738724" y="0"/>
                  </a:lnTo>
                  <a:lnTo>
                    <a:pt x="738724" y="634891"/>
                  </a:lnTo>
                  <a:lnTo>
                    <a:pt x="0" y="634891"/>
                  </a:lnTo>
                  <a:close/>
                </a:path>
              </a:pathLst>
            </a:custGeom>
            <a:blipFill>
              <a:blip r:embed="rId17"/>
              <a:stretch>
                <a:fillRect t="-8177" b="-8177"/>
              </a:stretch>
            </a:blipFill>
            <a:ln cap="sq">
              <a:noFill/>
              <a:prstDash val="solid"/>
              <a:miter/>
            </a:ln>
          </p:spPr>
        </p:sp>
      </p:grpSp>
      <p:grpSp>
        <p:nvGrpSpPr>
          <p:cNvPr id="22" name="Group 22"/>
          <p:cNvGrpSpPr/>
          <p:nvPr/>
        </p:nvGrpSpPr>
        <p:grpSpPr>
          <a:xfrm>
            <a:off x="11903066" y="3025354"/>
            <a:ext cx="4841708" cy="4161167"/>
            <a:chOff x="0" y="0"/>
            <a:chExt cx="738724" cy="634891"/>
          </a:xfrm>
        </p:grpSpPr>
        <p:sp>
          <p:nvSpPr>
            <p:cNvPr id="23" name="Freeform 23"/>
            <p:cNvSpPr/>
            <p:nvPr/>
          </p:nvSpPr>
          <p:spPr>
            <a:xfrm>
              <a:off x="0" y="0"/>
              <a:ext cx="738724" cy="634891"/>
            </a:xfrm>
            <a:custGeom>
              <a:avLst/>
              <a:gdLst/>
              <a:ahLst/>
              <a:cxnLst/>
              <a:rect l="l" t="t" r="r" b="b"/>
              <a:pathLst>
                <a:path w="738724" h="634891">
                  <a:moveTo>
                    <a:pt x="0" y="0"/>
                  </a:moveTo>
                  <a:lnTo>
                    <a:pt x="738724" y="0"/>
                  </a:lnTo>
                  <a:lnTo>
                    <a:pt x="738724" y="634891"/>
                  </a:lnTo>
                  <a:lnTo>
                    <a:pt x="0" y="634891"/>
                  </a:lnTo>
                  <a:close/>
                </a:path>
              </a:pathLst>
            </a:custGeom>
            <a:blipFill>
              <a:blip r:embed="rId18"/>
              <a:stretch>
                <a:fillRect l="-7775" t="-46912" r="-3758" b="-47507"/>
              </a:stretch>
            </a:blipFill>
            <a:ln cap="sq">
              <a:noFill/>
              <a:prstDash val="solid"/>
              <a:miter/>
            </a:ln>
          </p:spPr>
        </p:sp>
      </p:grpSp>
      <p:sp>
        <p:nvSpPr>
          <p:cNvPr id="24" name="TextBox 24"/>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사진 앨범형 레이아웃</a:t>
            </a:r>
          </a:p>
        </p:txBody>
      </p:sp>
      <p:sp>
        <p:nvSpPr>
          <p:cNvPr id="25" name="TextBox 25"/>
          <p:cNvSpPr txBox="1"/>
          <p:nvPr/>
        </p:nvSpPr>
        <p:spPr>
          <a:xfrm>
            <a:off x="8625878"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7" name="TextBox 27"/>
          <p:cNvSpPr txBox="1"/>
          <p:nvPr/>
        </p:nvSpPr>
        <p:spPr>
          <a:xfrm>
            <a:off x="1664378" y="8322581"/>
            <a:ext cx="4603091" cy="803866"/>
          </a:xfrm>
          <a:prstGeom prst="rect">
            <a:avLst/>
          </a:prstGeom>
        </p:spPr>
        <p:txBody>
          <a:bodyPr lIns="0" tIns="0" rIns="0" bIns="0" rtlCol="0" anchor="t">
            <a:normAutofit/>
          </a:bodyPr>
          <a:lstStyle/>
          <a:p>
            <a:pPr marL="0" lvl="0" indent="0" algn="ctr">
              <a:lnSpc>
                <a:spcPts val="3225"/>
              </a:lnSpc>
            </a:pPr>
            <a:r>
              <a:rPr lang="en-US" sz="2150" u="none" strike="noStrike" spc="-75">
                <a:solidFill>
                  <a:srgbClr val="222222">
                    <a:alpha val="80000"/>
                  </a:srgbClr>
                </a:solidFill>
                <a:latin typeface="JASO Sans"/>
                <a:ea typeface="JASO Sans"/>
                <a:cs typeface="JASO Sans"/>
                <a:sym typeface="JASO Sans"/>
              </a:rPr>
              <a:t>하나의 슬라이드에 여러 이미지를 나열하여 </a:t>
            </a:r>
          </a:p>
          <a:p>
            <a:pPr marL="0" lvl="0" indent="0" algn="ctr">
              <a:lnSpc>
                <a:spcPts val="3225"/>
              </a:lnSpc>
            </a:pPr>
            <a:r>
              <a:rPr lang="en-US" sz="2150" u="none" strike="noStrike" spc="-75">
                <a:solidFill>
                  <a:srgbClr val="222222">
                    <a:alpha val="80000"/>
                  </a:srgbClr>
                </a:solidFill>
                <a:latin typeface="JASO Sans"/>
                <a:ea typeface="JASO Sans"/>
                <a:cs typeface="JASO Sans"/>
                <a:sym typeface="JASO Sans"/>
              </a:rPr>
              <a:t> 한눈에 보여줄 수 있는 레이아웃입니다.</a:t>
            </a:r>
          </a:p>
        </p:txBody>
      </p:sp>
      <p:sp>
        <p:nvSpPr>
          <p:cNvPr id="28" name="TextBox 28"/>
          <p:cNvSpPr txBox="1"/>
          <p:nvPr/>
        </p:nvSpPr>
        <p:spPr>
          <a:xfrm>
            <a:off x="6850029" y="8322581"/>
            <a:ext cx="4603091" cy="803866"/>
          </a:xfrm>
          <a:prstGeom prst="rect">
            <a:avLst/>
          </a:prstGeom>
        </p:spPr>
        <p:txBody>
          <a:bodyPr lIns="0" tIns="0" rIns="0" bIns="0" rtlCol="0" anchor="t">
            <a:normAutofit/>
          </a:bodyPr>
          <a:lstStyle/>
          <a:p>
            <a:pPr marL="0" lvl="0" indent="0" algn="ctr">
              <a:lnSpc>
                <a:spcPts val="3225"/>
              </a:lnSpc>
              <a:spcBef>
                <a:spcPct val="0"/>
              </a:spcBef>
            </a:pPr>
            <a:r>
              <a:rPr lang="en-US" sz="2150" u="none" strike="noStrike" spc="-75">
                <a:solidFill>
                  <a:srgbClr val="222222">
                    <a:alpha val="80000"/>
                  </a:srgbClr>
                </a:solidFill>
                <a:latin typeface="JASO Sans"/>
                <a:ea typeface="JASO Sans"/>
                <a:cs typeface="JASO Sans"/>
                <a:sym typeface="JASO Sans"/>
              </a:rPr>
              <a:t>세 개의 박스가 좌우로 균등하게 배치되어 있어,  흐름 설명에 적합한 레이아웃입니다.</a:t>
            </a:r>
          </a:p>
        </p:txBody>
      </p:sp>
      <p:sp>
        <p:nvSpPr>
          <p:cNvPr id="29" name="TextBox 29"/>
          <p:cNvSpPr txBox="1"/>
          <p:nvPr/>
        </p:nvSpPr>
        <p:spPr>
          <a:xfrm>
            <a:off x="12022374" y="8322581"/>
            <a:ext cx="4603091" cy="803866"/>
          </a:xfrm>
          <a:prstGeom prst="rect">
            <a:avLst/>
          </a:prstGeom>
        </p:spPr>
        <p:txBody>
          <a:bodyPr lIns="0" tIns="0" rIns="0" bIns="0" rtlCol="0" anchor="t">
            <a:normAutofit/>
          </a:bodyPr>
          <a:lstStyle/>
          <a:p>
            <a:pPr marL="0" lvl="0" indent="0" algn="ctr">
              <a:lnSpc>
                <a:spcPts val="3225"/>
              </a:lnSpc>
              <a:spcBef>
                <a:spcPct val="0"/>
              </a:spcBef>
            </a:pPr>
            <a:r>
              <a:rPr lang="en-US" sz="2150" u="none" strike="noStrike" spc="-75">
                <a:solidFill>
                  <a:srgbClr val="222222">
                    <a:alpha val="80000"/>
                  </a:srgbClr>
                </a:solidFill>
                <a:latin typeface="JASO Sans"/>
                <a:ea typeface="JASO Sans"/>
                <a:cs typeface="JASO Sans"/>
                <a:sym typeface="JASO Sans"/>
              </a:rPr>
              <a:t>사진 아래에 제목과 함께 짧은 설명을 추가해, 텍스트 정보를 조화롭게 전달합니다.</a:t>
            </a:r>
          </a:p>
        </p:txBody>
      </p:sp>
      <p:sp>
        <p:nvSpPr>
          <p:cNvPr id="30" name="TextBox 30"/>
          <p:cNvSpPr txBox="1"/>
          <p:nvPr/>
        </p:nvSpPr>
        <p:spPr>
          <a:xfrm>
            <a:off x="1626615" y="7613194"/>
            <a:ext cx="4678617" cy="504803"/>
          </a:xfrm>
          <a:prstGeom prst="rect">
            <a:avLst/>
          </a:prstGeom>
        </p:spPr>
        <p:txBody>
          <a:bodyPr lIns="0" tIns="0" rIns="0" bIns="0" rtlCol="0" anchor="t">
            <a:normAutofit fontScale="92500"/>
          </a:bodyPr>
          <a:lstStyle/>
          <a:p>
            <a:pPr algn="ctr">
              <a:lnSpc>
                <a:spcPts val="4023"/>
              </a:lnSpc>
            </a:pPr>
            <a:r>
              <a:rPr lang="en-US" sz="3352" b="1" spc="-117">
                <a:solidFill>
                  <a:srgbClr val="222222"/>
                </a:solidFill>
                <a:latin typeface="JASO Sans Bold"/>
                <a:ea typeface="JASO Sans Bold"/>
                <a:cs typeface="JASO Sans Bold"/>
                <a:sym typeface="JASO Sans Bold"/>
              </a:rPr>
              <a:t>이미지 강조형 정보 배열</a:t>
            </a:r>
          </a:p>
        </p:txBody>
      </p:sp>
      <p:sp>
        <p:nvSpPr>
          <p:cNvPr id="31" name="TextBox 31"/>
          <p:cNvSpPr txBox="1"/>
          <p:nvPr/>
        </p:nvSpPr>
        <p:spPr>
          <a:xfrm>
            <a:off x="6774701" y="7613194"/>
            <a:ext cx="4678617" cy="504803"/>
          </a:xfrm>
          <a:prstGeom prst="rect">
            <a:avLst/>
          </a:prstGeom>
        </p:spPr>
        <p:txBody>
          <a:bodyPr lIns="0" tIns="0" rIns="0" bIns="0" rtlCol="0" anchor="t">
            <a:normAutofit fontScale="92500"/>
          </a:bodyPr>
          <a:lstStyle/>
          <a:p>
            <a:pPr algn="ctr">
              <a:lnSpc>
                <a:spcPts val="4023"/>
              </a:lnSpc>
            </a:pPr>
            <a:r>
              <a:rPr lang="en-US" sz="3352" b="1" spc="-117">
                <a:solidFill>
                  <a:srgbClr val="222222"/>
                </a:solidFill>
                <a:latin typeface="JASO Sans Bold"/>
                <a:ea typeface="JASO Sans Bold"/>
                <a:cs typeface="JASO Sans Bold"/>
                <a:sym typeface="JASO Sans Bold"/>
              </a:rPr>
              <a:t>병렬 구조 정보 나열</a:t>
            </a:r>
          </a:p>
        </p:txBody>
      </p:sp>
      <p:sp>
        <p:nvSpPr>
          <p:cNvPr id="32" name="TextBox 32"/>
          <p:cNvSpPr txBox="1"/>
          <p:nvPr/>
        </p:nvSpPr>
        <p:spPr>
          <a:xfrm>
            <a:off x="11895710" y="7613194"/>
            <a:ext cx="4678617" cy="504803"/>
          </a:xfrm>
          <a:prstGeom prst="rect">
            <a:avLst/>
          </a:prstGeom>
        </p:spPr>
        <p:txBody>
          <a:bodyPr lIns="0" tIns="0" rIns="0" bIns="0" rtlCol="0" anchor="t">
            <a:normAutofit fontScale="92500"/>
          </a:bodyPr>
          <a:lstStyle/>
          <a:p>
            <a:pPr algn="ctr">
              <a:lnSpc>
                <a:spcPts val="4023"/>
              </a:lnSpc>
            </a:pPr>
            <a:r>
              <a:rPr lang="en-US" sz="3352" b="1" spc="-117">
                <a:solidFill>
                  <a:srgbClr val="222222"/>
                </a:solidFill>
                <a:latin typeface="JASO Sans Bold"/>
                <a:ea typeface="JASO Sans Bold"/>
                <a:cs typeface="JASO Sans Bold"/>
                <a:sym typeface="JASO Sans Bold"/>
              </a:rPr>
              <a:t>설명 중심 캡션 구성</a:t>
            </a:r>
          </a:p>
        </p:txBody>
      </p:sp>
      <p:sp>
        <p:nvSpPr>
          <p:cNvPr id="33" name="TextBox 19">
            <a:extLst>
              <a:ext uri="{FF2B5EF4-FFF2-40B4-BE49-F238E27FC236}">
                <a16:creationId xmlns:a16="http://schemas.microsoft.com/office/drawing/2014/main" id="{BF34A410-B9CF-408E-A6DB-53E5A0A18D3F}"/>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4장의 카드가 있는 페이지</a:t>
            </a:r>
          </a:p>
        </p:txBody>
      </p:sp>
      <p:sp>
        <p:nvSpPr>
          <p:cNvPr id="18" name="TextBox 18"/>
          <p:cNvSpPr txBox="1"/>
          <p:nvPr/>
        </p:nvSpPr>
        <p:spPr>
          <a:xfrm>
            <a:off x="9927706"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grpSp>
        <p:nvGrpSpPr>
          <p:cNvPr id="20" name="Group 20"/>
          <p:cNvGrpSpPr/>
          <p:nvPr/>
        </p:nvGrpSpPr>
        <p:grpSpPr>
          <a:xfrm>
            <a:off x="1543226" y="3025354"/>
            <a:ext cx="7499679" cy="2963618"/>
            <a:chOff x="0" y="0"/>
            <a:chExt cx="2356506" cy="931211"/>
          </a:xfrm>
        </p:grpSpPr>
        <p:sp>
          <p:nvSpPr>
            <p:cNvPr id="21" name="Freeform 21"/>
            <p:cNvSpPr/>
            <p:nvPr/>
          </p:nvSpPr>
          <p:spPr>
            <a:xfrm>
              <a:off x="0" y="0"/>
              <a:ext cx="2356506" cy="931211"/>
            </a:xfrm>
            <a:custGeom>
              <a:avLst/>
              <a:gdLst/>
              <a:ahLst/>
              <a:cxnLst/>
              <a:rect l="l" t="t" r="r" b="b"/>
              <a:pathLst>
                <a:path w="2356506" h="931211">
                  <a:moveTo>
                    <a:pt x="0" y="0"/>
                  </a:moveTo>
                  <a:lnTo>
                    <a:pt x="2356506" y="0"/>
                  </a:lnTo>
                  <a:lnTo>
                    <a:pt x="2356506" y="931211"/>
                  </a:lnTo>
                  <a:lnTo>
                    <a:pt x="0" y="931211"/>
                  </a:lnTo>
                  <a:close/>
                </a:path>
              </a:pathLst>
            </a:custGeom>
            <a:solidFill>
              <a:srgbClr val="E3E3E3"/>
            </a:solidFill>
            <a:ln cap="sq">
              <a:noFill/>
              <a:prstDash val="solid"/>
              <a:miter/>
            </a:ln>
          </p:spPr>
        </p:sp>
        <p:sp>
          <p:nvSpPr>
            <p:cNvPr id="22" name="TextBox 22"/>
            <p:cNvSpPr txBox="1"/>
            <p:nvPr/>
          </p:nvSpPr>
          <p:spPr>
            <a:xfrm>
              <a:off x="0" y="-28575"/>
              <a:ext cx="2356506" cy="959786"/>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3" name="Group 23"/>
          <p:cNvGrpSpPr/>
          <p:nvPr/>
        </p:nvGrpSpPr>
        <p:grpSpPr>
          <a:xfrm>
            <a:off x="9243252" y="3025354"/>
            <a:ext cx="7499679" cy="2963618"/>
            <a:chOff x="0" y="0"/>
            <a:chExt cx="2356506" cy="931211"/>
          </a:xfrm>
        </p:grpSpPr>
        <p:sp>
          <p:nvSpPr>
            <p:cNvPr id="24" name="Freeform 24"/>
            <p:cNvSpPr/>
            <p:nvPr/>
          </p:nvSpPr>
          <p:spPr>
            <a:xfrm>
              <a:off x="0" y="0"/>
              <a:ext cx="2356506" cy="931211"/>
            </a:xfrm>
            <a:custGeom>
              <a:avLst/>
              <a:gdLst/>
              <a:ahLst/>
              <a:cxnLst/>
              <a:rect l="l" t="t" r="r" b="b"/>
              <a:pathLst>
                <a:path w="2356506" h="931211">
                  <a:moveTo>
                    <a:pt x="0" y="0"/>
                  </a:moveTo>
                  <a:lnTo>
                    <a:pt x="2356506" y="0"/>
                  </a:lnTo>
                  <a:lnTo>
                    <a:pt x="2356506" y="931211"/>
                  </a:lnTo>
                  <a:lnTo>
                    <a:pt x="0" y="931211"/>
                  </a:lnTo>
                  <a:close/>
                </a:path>
              </a:pathLst>
            </a:custGeom>
            <a:solidFill>
              <a:srgbClr val="EEDFDE"/>
            </a:solidFill>
            <a:ln cap="sq">
              <a:noFill/>
              <a:prstDash val="solid"/>
              <a:miter/>
            </a:ln>
          </p:spPr>
        </p:sp>
        <p:sp>
          <p:nvSpPr>
            <p:cNvPr id="25" name="TextBox 25"/>
            <p:cNvSpPr txBox="1"/>
            <p:nvPr/>
          </p:nvSpPr>
          <p:spPr>
            <a:xfrm>
              <a:off x="0" y="-28575"/>
              <a:ext cx="2356506" cy="959786"/>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6" name="Group 26"/>
          <p:cNvGrpSpPr/>
          <p:nvPr/>
        </p:nvGrpSpPr>
        <p:grpSpPr>
          <a:xfrm>
            <a:off x="1543226" y="6200929"/>
            <a:ext cx="7499679" cy="2963618"/>
            <a:chOff x="0" y="0"/>
            <a:chExt cx="2356506" cy="931211"/>
          </a:xfrm>
        </p:grpSpPr>
        <p:sp>
          <p:nvSpPr>
            <p:cNvPr id="27" name="Freeform 27"/>
            <p:cNvSpPr/>
            <p:nvPr/>
          </p:nvSpPr>
          <p:spPr>
            <a:xfrm>
              <a:off x="0" y="0"/>
              <a:ext cx="2356506" cy="931211"/>
            </a:xfrm>
            <a:custGeom>
              <a:avLst/>
              <a:gdLst/>
              <a:ahLst/>
              <a:cxnLst/>
              <a:rect l="l" t="t" r="r" b="b"/>
              <a:pathLst>
                <a:path w="2356506" h="931211">
                  <a:moveTo>
                    <a:pt x="0" y="0"/>
                  </a:moveTo>
                  <a:lnTo>
                    <a:pt x="2356506" y="0"/>
                  </a:lnTo>
                  <a:lnTo>
                    <a:pt x="2356506" y="931211"/>
                  </a:lnTo>
                  <a:lnTo>
                    <a:pt x="0" y="931211"/>
                  </a:lnTo>
                  <a:close/>
                </a:path>
              </a:pathLst>
            </a:custGeom>
            <a:solidFill>
              <a:srgbClr val="EEDFDE"/>
            </a:solidFill>
            <a:ln cap="sq">
              <a:noFill/>
              <a:prstDash val="solid"/>
              <a:miter/>
            </a:ln>
          </p:spPr>
        </p:sp>
        <p:sp>
          <p:nvSpPr>
            <p:cNvPr id="28" name="TextBox 28"/>
            <p:cNvSpPr txBox="1"/>
            <p:nvPr/>
          </p:nvSpPr>
          <p:spPr>
            <a:xfrm>
              <a:off x="0" y="-28575"/>
              <a:ext cx="2356506" cy="959786"/>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grpSp>
        <p:nvGrpSpPr>
          <p:cNvPr id="29" name="Group 29"/>
          <p:cNvGrpSpPr/>
          <p:nvPr/>
        </p:nvGrpSpPr>
        <p:grpSpPr>
          <a:xfrm>
            <a:off x="9243252" y="6200929"/>
            <a:ext cx="7499679" cy="2963618"/>
            <a:chOff x="0" y="0"/>
            <a:chExt cx="2356506" cy="931211"/>
          </a:xfrm>
        </p:grpSpPr>
        <p:sp>
          <p:nvSpPr>
            <p:cNvPr id="30" name="Freeform 30"/>
            <p:cNvSpPr/>
            <p:nvPr/>
          </p:nvSpPr>
          <p:spPr>
            <a:xfrm>
              <a:off x="0" y="0"/>
              <a:ext cx="2356506" cy="931211"/>
            </a:xfrm>
            <a:custGeom>
              <a:avLst/>
              <a:gdLst/>
              <a:ahLst/>
              <a:cxnLst/>
              <a:rect l="l" t="t" r="r" b="b"/>
              <a:pathLst>
                <a:path w="2356506" h="931211">
                  <a:moveTo>
                    <a:pt x="0" y="0"/>
                  </a:moveTo>
                  <a:lnTo>
                    <a:pt x="2356506" y="0"/>
                  </a:lnTo>
                  <a:lnTo>
                    <a:pt x="2356506" y="931211"/>
                  </a:lnTo>
                  <a:lnTo>
                    <a:pt x="0" y="931211"/>
                  </a:lnTo>
                  <a:close/>
                </a:path>
              </a:pathLst>
            </a:custGeom>
            <a:solidFill>
              <a:srgbClr val="E3E3E3"/>
            </a:solidFill>
            <a:ln cap="sq">
              <a:noFill/>
              <a:prstDash val="solid"/>
              <a:miter/>
            </a:ln>
          </p:spPr>
        </p:sp>
        <p:sp>
          <p:nvSpPr>
            <p:cNvPr id="31" name="TextBox 31"/>
            <p:cNvSpPr txBox="1"/>
            <p:nvPr/>
          </p:nvSpPr>
          <p:spPr>
            <a:xfrm>
              <a:off x="0" y="-28575"/>
              <a:ext cx="2356506" cy="959786"/>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32" name="TextBox 32"/>
          <p:cNvSpPr txBox="1"/>
          <p:nvPr/>
        </p:nvSpPr>
        <p:spPr>
          <a:xfrm>
            <a:off x="4311506" y="3607459"/>
            <a:ext cx="3670481" cy="523875"/>
          </a:xfrm>
          <a:prstGeom prst="rect">
            <a:avLst/>
          </a:prstGeom>
        </p:spPr>
        <p:txBody>
          <a:bodyPr lIns="0" tIns="0" rIns="0" bIns="0" rtlCol="0" anchor="t">
            <a:normAutofit/>
          </a:bodyPr>
          <a:lstStyle/>
          <a:p>
            <a:pPr marL="0" lvl="0" indent="0" algn="l">
              <a:lnSpc>
                <a:spcPts val="4143"/>
              </a:lnSpc>
              <a:spcBef>
                <a:spcPct val="0"/>
              </a:spcBef>
            </a:pPr>
            <a:r>
              <a:rPr lang="en-US" sz="3452" b="1" u="none" strike="noStrike" spc="-120">
                <a:solidFill>
                  <a:srgbClr val="222222"/>
                </a:solidFill>
                <a:latin typeface="JASO Sans Bold"/>
                <a:ea typeface="JASO Sans Bold"/>
                <a:cs typeface="JASO Sans Bold"/>
                <a:sym typeface="JASO Sans Bold"/>
              </a:rPr>
              <a:t>순서형 목록</a:t>
            </a:r>
          </a:p>
        </p:txBody>
      </p:sp>
      <p:sp>
        <p:nvSpPr>
          <p:cNvPr id="33" name="TextBox 33"/>
          <p:cNvSpPr txBox="1"/>
          <p:nvPr/>
        </p:nvSpPr>
        <p:spPr>
          <a:xfrm>
            <a:off x="12011532" y="3607459"/>
            <a:ext cx="3670481" cy="523875"/>
          </a:xfrm>
          <a:prstGeom prst="rect">
            <a:avLst/>
          </a:prstGeom>
        </p:spPr>
        <p:txBody>
          <a:bodyPr lIns="0" tIns="0" rIns="0" bIns="0" rtlCol="0" anchor="t">
            <a:normAutofit/>
          </a:bodyPr>
          <a:lstStyle/>
          <a:p>
            <a:pPr marL="0" lvl="0" indent="0" algn="l">
              <a:lnSpc>
                <a:spcPts val="4143"/>
              </a:lnSpc>
              <a:spcBef>
                <a:spcPct val="0"/>
              </a:spcBef>
            </a:pPr>
            <a:r>
              <a:rPr lang="en-US" sz="3452" b="1" spc="-120">
                <a:solidFill>
                  <a:srgbClr val="222222"/>
                </a:solidFill>
                <a:latin typeface="JASO Sans Bold"/>
                <a:ea typeface="JASO Sans Bold"/>
                <a:cs typeface="JASO Sans Bold"/>
                <a:sym typeface="JASO Sans Bold"/>
              </a:rPr>
              <a:t>비</a:t>
            </a:r>
            <a:r>
              <a:rPr lang="en-US" sz="3452" b="1" u="none" strike="noStrike" spc="-120">
                <a:solidFill>
                  <a:srgbClr val="222222"/>
                </a:solidFill>
                <a:latin typeface="JASO Sans Bold"/>
                <a:ea typeface="JASO Sans Bold"/>
                <a:cs typeface="JASO Sans Bold"/>
                <a:sym typeface="JASO Sans Bold"/>
              </a:rPr>
              <a:t>순서형 목록</a:t>
            </a:r>
          </a:p>
        </p:txBody>
      </p:sp>
      <p:sp>
        <p:nvSpPr>
          <p:cNvPr id="34" name="TextBox 34"/>
          <p:cNvSpPr txBox="1"/>
          <p:nvPr/>
        </p:nvSpPr>
        <p:spPr>
          <a:xfrm>
            <a:off x="4311506" y="6783034"/>
            <a:ext cx="3670481" cy="523875"/>
          </a:xfrm>
          <a:prstGeom prst="rect">
            <a:avLst/>
          </a:prstGeom>
        </p:spPr>
        <p:txBody>
          <a:bodyPr lIns="0" tIns="0" rIns="0" bIns="0" rtlCol="0" anchor="t">
            <a:normAutofit/>
          </a:bodyPr>
          <a:lstStyle/>
          <a:p>
            <a:pPr marL="0" lvl="0" indent="0" algn="l">
              <a:lnSpc>
                <a:spcPts val="4143"/>
              </a:lnSpc>
              <a:spcBef>
                <a:spcPct val="0"/>
              </a:spcBef>
            </a:pPr>
            <a:r>
              <a:rPr lang="en-US" sz="3452" b="1" spc="-120">
                <a:solidFill>
                  <a:srgbClr val="222222"/>
                </a:solidFill>
                <a:latin typeface="JASO Sans Bold"/>
                <a:ea typeface="JASO Sans Bold"/>
                <a:cs typeface="JASO Sans Bold"/>
                <a:sym typeface="JASO Sans Bold"/>
              </a:rPr>
              <a:t>아이콘 활용</a:t>
            </a:r>
            <a:r>
              <a:rPr lang="en-US" sz="3452" b="1" u="none" strike="noStrike" spc="-120">
                <a:solidFill>
                  <a:srgbClr val="222222"/>
                </a:solidFill>
                <a:latin typeface="JASO Sans Bold"/>
                <a:ea typeface="JASO Sans Bold"/>
                <a:cs typeface="JASO Sans Bold"/>
                <a:sym typeface="JASO Sans Bold"/>
              </a:rPr>
              <a:t> 목록</a:t>
            </a:r>
          </a:p>
        </p:txBody>
      </p:sp>
      <p:sp>
        <p:nvSpPr>
          <p:cNvPr id="35" name="TextBox 35"/>
          <p:cNvSpPr txBox="1"/>
          <p:nvPr/>
        </p:nvSpPr>
        <p:spPr>
          <a:xfrm>
            <a:off x="12011532" y="6783034"/>
            <a:ext cx="3670481" cy="523875"/>
          </a:xfrm>
          <a:prstGeom prst="rect">
            <a:avLst/>
          </a:prstGeom>
        </p:spPr>
        <p:txBody>
          <a:bodyPr lIns="0" tIns="0" rIns="0" bIns="0" rtlCol="0" anchor="t">
            <a:normAutofit/>
          </a:bodyPr>
          <a:lstStyle/>
          <a:p>
            <a:pPr marL="0" lvl="0" indent="0" algn="l">
              <a:lnSpc>
                <a:spcPts val="4143"/>
              </a:lnSpc>
              <a:spcBef>
                <a:spcPct val="0"/>
              </a:spcBef>
            </a:pPr>
            <a:r>
              <a:rPr lang="en-US" sz="3452" b="1" spc="-120">
                <a:solidFill>
                  <a:srgbClr val="222222"/>
                </a:solidFill>
                <a:latin typeface="JASO Sans Bold"/>
                <a:ea typeface="JASO Sans Bold"/>
                <a:cs typeface="JASO Sans Bold"/>
                <a:sym typeface="JASO Sans Bold"/>
              </a:rPr>
              <a:t>구분</a:t>
            </a:r>
            <a:r>
              <a:rPr lang="en-US" sz="3452" b="1" u="none" strike="noStrike" spc="-120">
                <a:solidFill>
                  <a:srgbClr val="222222"/>
                </a:solidFill>
                <a:latin typeface="JASO Sans Bold"/>
                <a:ea typeface="JASO Sans Bold"/>
                <a:cs typeface="JASO Sans Bold"/>
                <a:sym typeface="JASO Sans Bold"/>
              </a:rPr>
              <a:t>형 컬럼 목록</a:t>
            </a:r>
          </a:p>
        </p:txBody>
      </p:sp>
      <p:sp>
        <p:nvSpPr>
          <p:cNvPr id="36" name="TextBox 36"/>
          <p:cNvSpPr txBox="1"/>
          <p:nvPr/>
        </p:nvSpPr>
        <p:spPr>
          <a:xfrm>
            <a:off x="4311506" y="4270851"/>
            <a:ext cx="4117043" cy="1136015"/>
          </a:xfrm>
          <a:prstGeom prst="rect">
            <a:avLst/>
          </a:prstGeom>
        </p:spPr>
        <p:txBody>
          <a:bodyPr lIns="0" tIns="0" rIns="0" bIns="0" rtlCol="0" anchor="t">
            <a:normAutofit/>
          </a:bodyPr>
          <a:lstStyle/>
          <a:p>
            <a:pPr marL="0" lvl="0" indent="0" algn="l">
              <a:lnSpc>
                <a:spcPts val="3009"/>
              </a:lnSpc>
            </a:pPr>
            <a:r>
              <a:rPr lang="en-US" sz="2149" u="none" strike="noStrike" spc="-75">
                <a:solidFill>
                  <a:srgbClr val="222222">
                    <a:alpha val="54902"/>
                  </a:srgbClr>
                </a:solidFill>
                <a:latin typeface="JASO Sans"/>
                <a:ea typeface="JASO Sans"/>
                <a:cs typeface="JASO Sans"/>
                <a:sym typeface="JASO Sans"/>
              </a:rPr>
              <a:t>단계적인 흐름을 설명할 때 효과적인 방식으로, 프로세스 등을 명확히 전달할 수 있습니다.</a:t>
            </a:r>
          </a:p>
        </p:txBody>
      </p:sp>
      <p:sp>
        <p:nvSpPr>
          <p:cNvPr id="37" name="TextBox 37"/>
          <p:cNvSpPr txBox="1"/>
          <p:nvPr/>
        </p:nvSpPr>
        <p:spPr>
          <a:xfrm>
            <a:off x="12011532" y="4270851"/>
            <a:ext cx="4117043" cy="1517015"/>
          </a:xfrm>
          <a:prstGeom prst="rect">
            <a:avLst/>
          </a:prstGeom>
        </p:spPr>
        <p:txBody>
          <a:bodyPr lIns="0" tIns="0" rIns="0" bIns="0" rtlCol="0" anchor="t">
            <a:normAutofit/>
          </a:bodyPr>
          <a:lstStyle/>
          <a:p>
            <a:pPr marL="0" lvl="0" indent="0" algn="l">
              <a:lnSpc>
                <a:spcPts val="3009"/>
              </a:lnSpc>
            </a:pPr>
            <a:r>
              <a:rPr lang="en-US" sz="2149" spc="-75">
                <a:solidFill>
                  <a:srgbClr val="222222">
                    <a:alpha val="54902"/>
                  </a:srgbClr>
                </a:solidFill>
                <a:latin typeface="JASO Sans"/>
                <a:ea typeface="JASO Sans"/>
                <a:cs typeface="JASO Sans"/>
                <a:sym typeface="JASO Sans"/>
              </a:rPr>
              <a:t>순서와 관</a:t>
            </a:r>
            <a:r>
              <a:rPr lang="en-US" sz="2149" u="none" strike="noStrike" spc="-75">
                <a:solidFill>
                  <a:srgbClr val="222222">
                    <a:alpha val="54902"/>
                  </a:srgbClr>
                </a:solidFill>
                <a:latin typeface="JASO Sans"/>
                <a:ea typeface="JASO Sans"/>
                <a:cs typeface="JASO Sans"/>
                <a:sym typeface="JASO Sans"/>
              </a:rPr>
              <a:t>계없이 중요한 항목들을 나열할 때 적합하며, 간결한 정보 전달에 </a:t>
            </a:r>
          </a:p>
          <a:p>
            <a:pPr marL="0" lvl="0" indent="0" algn="l">
              <a:lnSpc>
                <a:spcPts val="3009"/>
              </a:lnSpc>
            </a:pPr>
            <a:r>
              <a:rPr lang="en-US" sz="2149" u="none" strike="noStrike" spc="-75">
                <a:solidFill>
                  <a:srgbClr val="222222">
                    <a:alpha val="54902"/>
                  </a:srgbClr>
                </a:solidFill>
                <a:latin typeface="JASO Sans"/>
                <a:ea typeface="JASO Sans"/>
                <a:cs typeface="JASO Sans"/>
                <a:sym typeface="JASO Sans"/>
              </a:rPr>
              <a:t>용이한 구성입니다.</a:t>
            </a:r>
          </a:p>
          <a:p>
            <a:pPr marL="0" lvl="0" indent="0" algn="l">
              <a:lnSpc>
                <a:spcPts val="3009"/>
              </a:lnSpc>
            </a:pPr>
            <a:endParaRPr lang="en-US" sz="2149" u="none" strike="noStrike" spc="-75">
              <a:solidFill>
                <a:srgbClr val="222222">
                  <a:alpha val="54902"/>
                </a:srgbClr>
              </a:solidFill>
              <a:latin typeface="JASO Sans"/>
              <a:ea typeface="JASO Sans"/>
              <a:cs typeface="JASO Sans"/>
              <a:sym typeface="JASO Sans"/>
            </a:endParaRPr>
          </a:p>
        </p:txBody>
      </p:sp>
      <p:sp>
        <p:nvSpPr>
          <p:cNvPr id="38" name="TextBox 38"/>
          <p:cNvSpPr txBox="1"/>
          <p:nvPr/>
        </p:nvSpPr>
        <p:spPr>
          <a:xfrm>
            <a:off x="4311506" y="7446427"/>
            <a:ext cx="4117043" cy="1517015"/>
          </a:xfrm>
          <a:prstGeom prst="rect">
            <a:avLst/>
          </a:prstGeom>
        </p:spPr>
        <p:txBody>
          <a:bodyPr lIns="0" tIns="0" rIns="0" bIns="0" rtlCol="0" anchor="t">
            <a:normAutofit/>
          </a:bodyPr>
          <a:lstStyle/>
          <a:p>
            <a:pPr marL="0" lvl="0" indent="0" algn="l">
              <a:lnSpc>
                <a:spcPts val="3009"/>
              </a:lnSpc>
            </a:pPr>
            <a:r>
              <a:rPr lang="en-US" sz="2149" spc="-75">
                <a:solidFill>
                  <a:srgbClr val="222222">
                    <a:alpha val="54902"/>
                  </a:srgbClr>
                </a:solidFill>
                <a:latin typeface="JASO Sans"/>
                <a:ea typeface="JASO Sans"/>
                <a:cs typeface="JASO Sans"/>
                <a:sym typeface="JASO Sans"/>
              </a:rPr>
              <a:t>시각</a:t>
            </a:r>
            <a:r>
              <a:rPr lang="en-US" sz="2149" u="none" strike="noStrike" spc="-75">
                <a:solidFill>
                  <a:srgbClr val="222222">
                    <a:alpha val="54902"/>
                  </a:srgbClr>
                </a:solidFill>
                <a:latin typeface="JASO Sans"/>
                <a:ea typeface="JASO Sans"/>
                <a:cs typeface="JASO Sans"/>
                <a:sym typeface="JASO Sans"/>
              </a:rPr>
              <a:t>적인 흥미를 더하기 위해 각 항목 </a:t>
            </a:r>
          </a:p>
          <a:p>
            <a:pPr marL="0" lvl="0" indent="0" algn="l">
              <a:lnSpc>
                <a:spcPts val="3009"/>
              </a:lnSpc>
            </a:pPr>
            <a:r>
              <a:rPr lang="en-US" sz="2149" u="none" strike="noStrike" spc="-75">
                <a:solidFill>
                  <a:srgbClr val="222222">
                    <a:alpha val="54902"/>
                  </a:srgbClr>
                </a:solidFill>
                <a:latin typeface="JASO Sans"/>
                <a:ea typeface="JASO Sans"/>
                <a:cs typeface="JASO Sans"/>
                <a:sym typeface="JASO Sans"/>
              </a:rPr>
              <a:t>앞에 관련 아이콘을 배치하여 주목도를 높이는 방식입니다.</a:t>
            </a:r>
          </a:p>
          <a:p>
            <a:pPr marL="0" lvl="0" indent="0" algn="l">
              <a:lnSpc>
                <a:spcPts val="3009"/>
              </a:lnSpc>
            </a:pPr>
            <a:endParaRPr lang="en-US" sz="2149" u="none" strike="noStrike" spc="-75">
              <a:solidFill>
                <a:srgbClr val="222222">
                  <a:alpha val="54902"/>
                </a:srgbClr>
              </a:solidFill>
              <a:latin typeface="JASO Sans"/>
              <a:ea typeface="JASO Sans"/>
              <a:cs typeface="JASO Sans"/>
              <a:sym typeface="JASO Sans"/>
            </a:endParaRPr>
          </a:p>
        </p:txBody>
      </p:sp>
      <p:sp>
        <p:nvSpPr>
          <p:cNvPr id="39" name="TextBox 39"/>
          <p:cNvSpPr txBox="1"/>
          <p:nvPr/>
        </p:nvSpPr>
        <p:spPr>
          <a:xfrm>
            <a:off x="12011532" y="7446427"/>
            <a:ext cx="4117043" cy="1136015"/>
          </a:xfrm>
          <a:prstGeom prst="rect">
            <a:avLst/>
          </a:prstGeom>
        </p:spPr>
        <p:txBody>
          <a:bodyPr lIns="0" tIns="0" rIns="0" bIns="0" rtlCol="0" anchor="t">
            <a:normAutofit/>
          </a:bodyPr>
          <a:lstStyle/>
          <a:p>
            <a:pPr marL="0" lvl="0" indent="0" algn="l">
              <a:lnSpc>
                <a:spcPts val="3009"/>
              </a:lnSpc>
            </a:pPr>
            <a:r>
              <a:rPr lang="en-US" sz="2149" spc="-75">
                <a:solidFill>
                  <a:srgbClr val="222222">
                    <a:alpha val="54902"/>
                  </a:srgbClr>
                </a:solidFill>
                <a:latin typeface="JASO Sans"/>
                <a:ea typeface="JASO Sans"/>
                <a:cs typeface="JASO Sans"/>
                <a:sym typeface="JASO Sans"/>
              </a:rPr>
              <a:t>많은</a:t>
            </a:r>
            <a:r>
              <a:rPr lang="en-US" sz="2149" u="none" strike="noStrike" spc="-75">
                <a:solidFill>
                  <a:srgbClr val="222222">
                    <a:alpha val="54902"/>
                  </a:srgbClr>
                </a:solidFill>
                <a:latin typeface="JASO Sans"/>
                <a:ea typeface="JASO Sans"/>
                <a:cs typeface="JASO Sans"/>
                <a:sym typeface="JASO Sans"/>
              </a:rPr>
              <a:t> 항목을 효율적으로 배치할 수 있도록 두 개의 열로 나눠 구성하며, 공간 활용이 뛰어납니다.</a:t>
            </a:r>
          </a:p>
        </p:txBody>
      </p:sp>
      <p:sp>
        <p:nvSpPr>
          <p:cNvPr id="40" name="Freeform 40"/>
          <p:cNvSpPr/>
          <p:nvPr/>
        </p:nvSpPr>
        <p:spPr>
          <a:xfrm>
            <a:off x="2458196" y="3911026"/>
            <a:ext cx="1081785" cy="1138721"/>
          </a:xfrm>
          <a:custGeom>
            <a:avLst/>
            <a:gdLst/>
            <a:ahLst/>
            <a:cxnLst/>
            <a:rect l="l" t="t" r="r" b="b"/>
            <a:pathLst>
              <a:path w="1081785" h="1138721">
                <a:moveTo>
                  <a:pt x="0" y="0"/>
                </a:moveTo>
                <a:lnTo>
                  <a:pt x="1081785" y="0"/>
                </a:lnTo>
                <a:lnTo>
                  <a:pt x="1081785" y="1138721"/>
                </a:lnTo>
                <a:lnTo>
                  <a:pt x="0" y="113872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1" name="Freeform 41"/>
          <p:cNvSpPr/>
          <p:nvPr/>
        </p:nvSpPr>
        <p:spPr>
          <a:xfrm>
            <a:off x="10046772" y="3945403"/>
            <a:ext cx="1258785" cy="1069967"/>
          </a:xfrm>
          <a:custGeom>
            <a:avLst/>
            <a:gdLst/>
            <a:ahLst/>
            <a:cxnLst/>
            <a:rect l="l" t="t" r="r" b="b"/>
            <a:pathLst>
              <a:path w="1258785" h="1069967">
                <a:moveTo>
                  <a:pt x="0" y="0"/>
                </a:moveTo>
                <a:lnTo>
                  <a:pt x="1258785" y="0"/>
                </a:lnTo>
                <a:lnTo>
                  <a:pt x="1258785" y="1069967"/>
                </a:lnTo>
                <a:lnTo>
                  <a:pt x="0" y="1069967"/>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42" name="Freeform 42"/>
          <p:cNvSpPr/>
          <p:nvPr/>
        </p:nvSpPr>
        <p:spPr>
          <a:xfrm>
            <a:off x="2429426" y="7112799"/>
            <a:ext cx="1237317" cy="1139878"/>
          </a:xfrm>
          <a:custGeom>
            <a:avLst/>
            <a:gdLst/>
            <a:ahLst/>
            <a:cxnLst/>
            <a:rect l="l" t="t" r="r" b="b"/>
            <a:pathLst>
              <a:path w="1237317" h="1139878">
                <a:moveTo>
                  <a:pt x="0" y="0"/>
                </a:moveTo>
                <a:lnTo>
                  <a:pt x="1237317" y="0"/>
                </a:lnTo>
                <a:lnTo>
                  <a:pt x="1237317" y="1139878"/>
                </a:lnTo>
                <a:lnTo>
                  <a:pt x="0" y="113987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43" name="Freeform 43"/>
          <p:cNvSpPr/>
          <p:nvPr/>
        </p:nvSpPr>
        <p:spPr>
          <a:xfrm>
            <a:off x="10210841" y="7136134"/>
            <a:ext cx="1125042" cy="970349"/>
          </a:xfrm>
          <a:custGeom>
            <a:avLst/>
            <a:gdLst/>
            <a:ahLst/>
            <a:cxnLst/>
            <a:rect l="l" t="t" r="r" b="b"/>
            <a:pathLst>
              <a:path w="1125042" h="970349">
                <a:moveTo>
                  <a:pt x="0" y="0"/>
                </a:moveTo>
                <a:lnTo>
                  <a:pt x="1125042" y="0"/>
                </a:lnTo>
                <a:lnTo>
                  <a:pt x="1125042" y="970349"/>
                </a:lnTo>
                <a:lnTo>
                  <a:pt x="0" y="97034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44" name="TextBox 19">
            <a:extLst>
              <a:ext uri="{FF2B5EF4-FFF2-40B4-BE49-F238E27FC236}">
                <a16:creationId xmlns:a16="http://schemas.microsoft.com/office/drawing/2014/main" id="{037B54DC-6E4C-47A1-AB96-CA5669753A59}"/>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타임라인이 있는 페이지</a:t>
            </a:r>
          </a:p>
        </p:txBody>
      </p:sp>
      <p:sp>
        <p:nvSpPr>
          <p:cNvPr id="18" name="TextBox 18"/>
          <p:cNvSpPr txBox="1"/>
          <p:nvPr/>
        </p:nvSpPr>
        <p:spPr>
          <a:xfrm>
            <a:off x="9243252"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0" name="AutoShape 20"/>
          <p:cNvSpPr/>
          <p:nvPr/>
        </p:nvSpPr>
        <p:spPr>
          <a:xfrm>
            <a:off x="1546912" y="6047272"/>
            <a:ext cx="15197862" cy="0"/>
          </a:xfrm>
          <a:prstGeom prst="line">
            <a:avLst/>
          </a:prstGeom>
          <a:ln w="19050" cap="flat">
            <a:solidFill>
              <a:srgbClr val="333333">
                <a:alpha val="19608"/>
              </a:srgbClr>
            </a:solidFill>
            <a:prstDash val="solid"/>
            <a:headEnd type="none" w="sm" len="sm"/>
            <a:tailEnd type="none" w="sm" len="sm"/>
          </a:ln>
        </p:spPr>
      </p:sp>
      <p:sp>
        <p:nvSpPr>
          <p:cNvPr id="21" name="Freeform 21"/>
          <p:cNvSpPr/>
          <p:nvPr/>
        </p:nvSpPr>
        <p:spPr>
          <a:xfrm rot="5400000">
            <a:off x="3160971" y="5501922"/>
            <a:ext cx="1090701" cy="1090701"/>
          </a:xfrm>
          <a:custGeom>
            <a:avLst/>
            <a:gdLst/>
            <a:ahLst/>
            <a:cxnLst/>
            <a:rect l="l" t="t" r="r" b="b"/>
            <a:pathLst>
              <a:path w="1090701" h="1090701">
                <a:moveTo>
                  <a:pt x="0" y="0"/>
                </a:moveTo>
                <a:lnTo>
                  <a:pt x="1090700" y="0"/>
                </a:lnTo>
                <a:lnTo>
                  <a:pt x="1090700" y="1090700"/>
                </a:lnTo>
                <a:lnTo>
                  <a:pt x="0" y="10907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2" name="Freeform 22"/>
          <p:cNvSpPr/>
          <p:nvPr/>
        </p:nvSpPr>
        <p:spPr>
          <a:xfrm rot="5400000">
            <a:off x="10427049" y="5501922"/>
            <a:ext cx="1090701" cy="1090701"/>
          </a:xfrm>
          <a:custGeom>
            <a:avLst/>
            <a:gdLst/>
            <a:ahLst/>
            <a:cxnLst/>
            <a:rect l="l" t="t" r="r" b="b"/>
            <a:pathLst>
              <a:path w="1090701" h="1090701">
                <a:moveTo>
                  <a:pt x="0" y="0"/>
                </a:moveTo>
                <a:lnTo>
                  <a:pt x="1090701" y="0"/>
                </a:lnTo>
                <a:lnTo>
                  <a:pt x="1090701" y="1090700"/>
                </a:lnTo>
                <a:lnTo>
                  <a:pt x="0" y="1090700"/>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sp>
        <p:nvSpPr>
          <p:cNvPr id="23" name="Freeform 23"/>
          <p:cNvSpPr/>
          <p:nvPr/>
        </p:nvSpPr>
        <p:spPr>
          <a:xfrm rot="-5400000">
            <a:off x="6793174" y="5501922"/>
            <a:ext cx="1090701" cy="1090701"/>
          </a:xfrm>
          <a:custGeom>
            <a:avLst/>
            <a:gdLst/>
            <a:ahLst/>
            <a:cxnLst/>
            <a:rect l="l" t="t" r="r" b="b"/>
            <a:pathLst>
              <a:path w="1090701" h="1090701">
                <a:moveTo>
                  <a:pt x="0" y="0"/>
                </a:moveTo>
                <a:lnTo>
                  <a:pt x="1090700" y="0"/>
                </a:lnTo>
                <a:lnTo>
                  <a:pt x="1090700" y="1090700"/>
                </a:lnTo>
                <a:lnTo>
                  <a:pt x="0" y="10907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4" name="TextBox 24"/>
          <p:cNvSpPr txBox="1"/>
          <p:nvPr/>
        </p:nvSpPr>
        <p:spPr>
          <a:xfrm>
            <a:off x="3526570" y="5831024"/>
            <a:ext cx="359503" cy="375347"/>
          </a:xfrm>
          <a:prstGeom prst="rect">
            <a:avLst/>
          </a:prstGeom>
        </p:spPr>
        <p:txBody>
          <a:bodyPr lIns="0" tIns="0" rIns="0" bIns="0" rtlCol="0" anchor="t">
            <a:normAutofit/>
          </a:bodyPr>
          <a:lstStyle/>
          <a:p>
            <a:pPr algn="ctr">
              <a:lnSpc>
                <a:spcPts val="2939"/>
              </a:lnSpc>
              <a:spcBef>
                <a:spcPct val="0"/>
              </a:spcBef>
            </a:pPr>
            <a:r>
              <a:rPr lang="en-US" sz="2099" b="1">
                <a:solidFill>
                  <a:srgbClr val="F5F4F4"/>
                </a:solidFill>
                <a:latin typeface="Poppins Bold"/>
                <a:ea typeface="Poppins Bold"/>
                <a:cs typeface="Poppins Bold"/>
                <a:sym typeface="Poppins Bold"/>
              </a:rPr>
              <a:t>01</a:t>
            </a:r>
          </a:p>
        </p:txBody>
      </p:sp>
      <p:sp>
        <p:nvSpPr>
          <p:cNvPr id="25" name="TextBox 25"/>
          <p:cNvSpPr txBox="1"/>
          <p:nvPr/>
        </p:nvSpPr>
        <p:spPr>
          <a:xfrm>
            <a:off x="1731872" y="3152987"/>
            <a:ext cx="3948898" cy="1129753"/>
          </a:xfrm>
          <a:prstGeom prst="rect">
            <a:avLst/>
          </a:prstGeom>
        </p:spPr>
        <p:txBody>
          <a:bodyPr lIns="0" tIns="0" rIns="0" bIns="0" rtlCol="0" anchor="t">
            <a:normAutofit fontScale="92500"/>
          </a:bodyPr>
          <a:lstStyle/>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프로젝트 계획</a:t>
            </a:r>
          </a:p>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및 준비</a:t>
            </a:r>
          </a:p>
        </p:txBody>
      </p:sp>
      <p:sp>
        <p:nvSpPr>
          <p:cNvPr id="26" name="TextBox 26"/>
          <p:cNvSpPr txBox="1"/>
          <p:nvPr/>
        </p:nvSpPr>
        <p:spPr>
          <a:xfrm>
            <a:off x="1915175" y="4346857"/>
            <a:ext cx="3582293" cy="755015"/>
          </a:xfrm>
          <a:prstGeom prst="rect">
            <a:avLst/>
          </a:prstGeom>
        </p:spPr>
        <p:txBody>
          <a:bodyPr lIns="0" tIns="0" rIns="0" bIns="0" rtlCol="0" anchor="t">
            <a:normAutofit/>
          </a:bodyPr>
          <a:lstStyle/>
          <a:p>
            <a:pPr marL="0" lvl="0" indent="0" algn="ctr">
              <a:lnSpc>
                <a:spcPts val="3009"/>
              </a:lnSpc>
              <a:spcBef>
                <a:spcPct val="0"/>
              </a:spcBef>
            </a:pPr>
            <a:r>
              <a:rPr lang="en-US" sz="2149" u="none" strike="noStrike" spc="-75">
                <a:solidFill>
                  <a:srgbClr val="222222">
                    <a:alpha val="54902"/>
                  </a:srgbClr>
                </a:solidFill>
                <a:latin typeface="JASO Sans"/>
                <a:ea typeface="JASO Sans"/>
                <a:cs typeface="JASO Sans"/>
                <a:sym typeface="JASO Sans"/>
              </a:rPr>
              <a:t>프로젝트의 전반적인 계획과 준비 작업을 수행하는 단계입니다. </a:t>
            </a:r>
          </a:p>
        </p:txBody>
      </p:sp>
      <p:sp>
        <p:nvSpPr>
          <p:cNvPr id="27" name="TextBox 27"/>
          <p:cNvSpPr txBox="1"/>
          <p:nvPr/>
        </p:nvSpPr>
        <p:spPr>
          <a:xfrm>
            <a:off x="7158773" y="5831024"/>
            <a:ext cx="359503" cy="375347"/>
          </a:xfrm>
          <a:prstGeom prst="rect">
            <a:avLst/>
          </a:prstGeom>
        </p:spPr>
        <p:txBody>
          <a:bodyPr lIns="0" tIns="0" rIns="0" bIns="0" rtlCol="0" anchor="t">
            <a:normAutofit/>
          </a:bodyPr>
          <a:lstStyle/>
          <a:p>
            <a:pPr algn="ctr">
              <a:lnSpc>
                <a:spcPts val="2939"/>
              </a:lnSpc>
              <a:spcBef>
                <a:spcPct val="0"/>
              </a:spcBef>
            </a:pPr>
            <a:r>
              <a:rPr lang="en-US" sz="2099" b="1">
                <a:solidFill>
                  <a:srgbClr val="F5F4F4"/>
                </a:solidFill>
                <a:latin typeface="Poppins Bold"/>
                <a:ea typeface="Poppins Bold"/>
                <a:cs typeface="Poppins Bold"/>
                <a:sym typeface="Poppins Bold"/>
              </a:rPr>
              <a:t>02</a:t>
            </a:r>
          </a:p>
        </p:txBody>
      </p:sp>
      <p:sp>
        <p:nvSpPr>
          <p:cNvPr id="28" name="TextBox 28"/>
          <p:cNvSpPr txBox="1"/>
          <p:nvPr/>
        </p:nvSpPr>
        <p:spPr>
          <a:xfrm>
            <a:off x="5364075" y="6992672"/>
            <a:ext cx="3948898" cy="1129753"/>
          </a:xfrm>
          <a:prstGeom prst="rect">
            <a:avLst/>
          </a:prstGeom>
        </p:spPr>
        <p:txBody>
          <a:bodyPr lIns="0" tIns="0" rIns="0" bIns="0" rtlCol="0" anchor="t">
            <a:normAutofit fontScale="92500"/>
          </a:bodyPr>
          <a:lstStyle/>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콘텐츠 개발 및</a:t>
            </a:r>
          </a:p>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디자인</a:t>
            </a:r>
          </a:p>
        </p:txBody>
      </p:sp>
      <p:sp>
        <p:nvSpPr>
          <p:cNvPr id="29" name="TextBox 29"/>
          <p:cNvSpPr txBox="1"/>
          <p:nvPr/>
        </p:nvSpPr>
        <p:spPr>
          <a:xfrm>
            <a:off x="10790976" y="5831024"/>
            <a:ext cx="359503" cy="375347"/>
          </a:xfrm>
          <a:prstGeom prst="rect">
            <a:avLst/>
          </a:prstGeom>
        </p:spPr>
        <p:txBody>
          <a:bodyPr lIns="0" tIns="0" rIns="0" bIns="0" rtlCol="0" anchor="t">
            <a:normAutofit/>
          </a:bodyPr>
          <a:lstStyle/>
          <a:p>
            <a:pPr algn="ctr">
              <a:lnSpc>
                <a:spcPts val="2939"/>
              </a:lnSpc>
              <a:spcBef>
                <a:spcPct val="0"/>
              </a:spcBef>
            </a:pPr>
            <a:r>
              <a:rPr lang="en-US" sz="2099" b="1">
                <a:solidFill>
                  <a:srgbClr val="F5F4F4"/>
                </a:solidFill>
                <a:latin typeface="Poppins Bold"/>
                <a:ea typeface="Poppins Bold"/>
                <a:cs typeface="Poppins Bold"/>
                <a:sym typeface="Poppins Bold"/>
              </a:rPr>
              <a:t>03</a:t>
            </a:r>
          </a:p>
        </p:txBody>
      </p:sp>
      <p:sp>
        <p:nvSpPr>
          <p:cNvPr id="30" name="TextBox 30"/>
          <p:cNvSpPr txBox="1"/>
          <p:nvPr/>
        </p:nvSpPr>
        <p:spPr>
          <a:xfrm>
            <a:off x="8996278" y="3152987"/>
            <a:ext cx="3948898" cy="1129753"/>
          </a:xfrm>
          <a:prstGeom prst="rect">
            <a:avLst/>
          </a:prstGeom>
        </p:spPr>
        <p:txBody>
          <a:bodyPr lIns="0" tIns="0" rIns="0" bIns="0" rtlCol="0" anchor="t">
            <a:normAutofit fontScale="92500"/>
          </a:bodyPr>
          <a:lstStyle/>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실행 및</a:t>
            </a:r>
          </a:p>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배포 작업</a:t>
            </a:r>
          </a:p>
        </p:txBody>
      </p:sp>
      <p:sp>
        <p:nvSpPr>
          <p:cNvPr id="31" name="TextBox 31"/>
          <p:cNvSpPr txBox="1"/>
          <p:nvPr/>
        </p:nvSpPr>
        <p:spPr>
          <a:xfrm>
            <a:off x="9165127" y="4346857"/>
            <a:ext cx="3611200" cy="755015"/>
          </a:xfrm>
          <a:prstGeom prst="rect">
            <a:avLst/>
          </a:prstGeom>
        </p:spPr>
        <p:txBody>
          <a:bodyPr lIns="0" tIns="0" rIns="0" bIns="0" rtlCol="0" anchor="t">
            <a:normAutofit/>
          </a:bodyPr>
          <a:lstStyle/>
          <a:p>
            <a:pPr marL="0" lvl="0" indent="0" algn="ctr">
              <a:lnSpc>
                <a:spcPts val="3009"/>
              </a:lnSpc>
              <a:spcBef>
                <a:spcPct val="0"/>
              </a:spcBef>
            </a:pPr>
            <a:r>
              <a:rPr lang="en-US" sz="2149" u="none" strike="noStrike" spc="-75">
                <a:solidFill>
                  <a:srgbClr val="222222">
                    <a:alpha val="54902"/>
                  </a:srgbClr>
                </a:solidFill>
                <a:latin typeface="JASO Sans"/>
                <a:ea typeface="JASO Sans"/>
                <a:cs typeface="JASO Sans"/>
                <a:sym typeface="JASO Sans"/>
              </a:rPr>
              <a:t>실시간으로 성과를 모니터링하고 필요할 경우 수정을 진행합니다.</a:t>
            </a:r>
          </a:p>
        </p:txBody>
      </p:sp>
      <p:sp>
        <p:nvSpPr>
          <p:cNvPr id="32" name="TextBox 32"/>
          <p:cNvSpPr txBox="1"/>
          <p:nvPr/>
        </p:nvSpPr>
        <p:spPr>
          <a:xfrm>
            <a:off x="12628481" y="6992672"/>
            <a:ext cx="3948898" cy="1129753"/>
          </a:xfrm>
          <a:prstGeom prst="rect">
            <a:avLst/>
          </a:prstGeom>
        </p:spPr>
        <p:txBody>
          <a:bodyPr lIns="0" tIns="0" rIns="0" bIns="0" rtlCol="0" anchor="t">
            <a:normAutofit fontScale="92500"/>
          </a:bodyPr>
          <a:lstStyle/>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최종 평가 및</a:t>
            </a:r>
          </a:p>
          <a:p>
            <a:pPr marL="0" lvl="0" indent="0" algn="ctr">
              <a:lnSpc>
                <a:spcPts val="4485"/>
              </a:lnSpc>
              <a:spcBef>
                <a:spcPct val="0"/>
              </a:spcBef>
            </a:pPr>
            <a:r>
              <a:rPr lang="en-US" sz="3900" b="1" u="none" strike="noStrike" spc="-85">
                <a:solidFill>
                  <a:srgbClr val="333333"/>
                </a:solidFill>
                <a:latin typeface="JASO Sans Bold"/>
                <a:ea typeface="JASO Sans Bold"/>
                <a:cs typeface="JASO Sans Bold"/>
                <a:sym typeface="JASO Sans Bold"/>
              </a:rPr>
              <a:t>피드백</a:t>
            </a:r>
          </a:p>
        </p:txBody>
      </p:sp>
      <p:sp>
        <p:nvSpPr>
          <p:cNvPr id="33" name="Freeform 33"/>
          <p:cNvSpPr/>
          <p:nvPr/>
        </p:nvSpPr>
        <p:spPr>
          <a:xfrm rot="-5400000">
            <a:off x="14059252" y="5501922"/>
            <a:ext cx="1090701" cy="1090701"/>
          </a:xfrm>
          <a:custGeom>
            <a:avLst/>
            <a:gdLst/>
            <a:ahLst/>
            <a:cxnLst/>
            <a:rect l="l" t="t" r="r" b="b"/>
            <a:pathLst>
              <a:path w="1090701" h="1090701">
                <a:moveTo>
                  <a:pt x="0" y="0"/>
                </a:moveTo>
                <a:lnTo>
                  <a:pt x="1090701" y="0"/>
                </a:lnTo>
                <a:lnTo>
                  <a:pt x="1090701" y="1090700"/>
                </a:lnTo>
                <a:lnTo>
                  <a:pt x="0" y="1090700"/>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sp>
      <p:sp>
        <p:nvSpPr>
          <p:cNvPr id="34" name="TextBox 34"/>
          <p:cNvSpPr txBox="1"/>
          <p:nvPr/>
        </p:nvSpPr>
        <p:spPr>
          <a:xfrm>
            <a:off x="14423179" y="5831024"/>
            <a:ext cx="359503" cy="375347"/>
          </a:xfrm>
          <a:prstGeom prst="rect">
            <a:avLst/>
          </a:prstGeom>
        </p:spPr>
        <p:txBody>
          <a:bodyPr lIns="0" tIns="0" rIns="0" bIns="0" rtlCol="0" anchor="t">
            <a:normAutofit/>
          </a:bodyPr>
          <a:lstStyle/>
          <a:p>
            <a:pPr algn="ctr">
              <a:lnSpc>
                <a:spcPts val="2939"/>
              </a:lnSpc>
              <a:spcBef>
                <a:spcPct val="0"/>
              </a:spcBef>
            </a:pPr>
            <a:r>
              <a:rPr lang="en-US" sz="2099" b="1">
                <a:solidFill>
                  <a:srgbClr val="F5F4F4"/>
                </a:solidFill>
                <a:latin typeface="Poppins Bold"/>
                <a:ea typeface="Poppins Bold"/>
                <a:cs typeface="Poppins Bold"/>
                <a:sym typeface="Poppins Bold"/>
              </a:rPr>
              <a:t>04</a:t>
            </a:r>
          </a:p>
        </p:txBody>
      </p:sp>
      <p:sp>
        <p:nvSpPr>
          <p:cNvPr id="36" name="TextBox 19">
            <a:extLst>
              <a:ext uri="{FF2B5EF4-FFF2-40B4-BE49-F238E27FC236}">
                <a16:creationId xmlns:a16="http://schemas.microsoft.com/office/drawing/2014/main" id="{BE291C3E-CC1A-4752-8A04-E325C892A73B}"/>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txBody>
            <a:bodyPr>
              <a:normAutofit/>
            </a:bodyPr>
            <a:lstStyle/>
            <a:p>
              <a:endParaRPr lang="ko-KR" altLang="en-US"/>
            </a:p>
          </p:txBody>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txBody>
          <a:bodyPr>
            <a:normAutofit fontScale="25000" lnSpcReduction="20000"/>
          </a:bodyPr>
          <a:lstStyle/>
          <a:p>
            <a:endParaRPr lang="ko-KR" altLang="en-US"/>
          </a:p>
        </p:txBody>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그래프가 있는 페이지</a:t>
            </a:r>
          </a:p>
        </p:txBody>
      </p:sp>
      <p:sp>
        <p:nvSpPr>
          <p:cNvPr id="18" name="TextBox 18"/>
          <p:cNvSpPr txBox="1"/>
          <p:nvPr/>
        </p:nvSpPr>
        <p:spPr>
          <a:xfrm>
            <a:off x="8599337"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grpSp>
        <p:nvGrpSpPr>
          <p:cNvPr id="20" name="Group 20"/>
          <p:cNvGrpSpPr/>
          <p:nvPr/>
        </p:nvGrpSpPr>
        <p:grpSpPr>
          <a:xfrm>
            <a:off x="1545069" y="7036349"/>
            <a:ext cx="7175246" cy="2128198"/>
            <a:chOff x="0" y="0"/>
            <a:chExt cx="1867194" cy="553815"/>
          </a:xfrm>
        </p:grpSpPr>
        <p:sp>
          <p:nvSpPr>
            <p:cNvPr id="21" name="Freeform 21"/>
            <p:cNvSpPr/>
            <p:nvPr/>
          </p:nvSpPr>
          <p:spPr>
            <a:xfrm>
              <a:off x="0" y="0"/>
              <a:ext cx="1867194" cy="553815"/>
            </a:xfrm>
            <a:custGeom>
              <a:avLst/>
              <a:gdLst/>
              <a:ahLst/>
              <a:cxnLst/>
              <a:rect l="l" t="t" r="r" b="b"/>
              <a:pathLst>
                <a:path w="1867194" h="553815">
                  <a:moveTo>
                    <a:pt x="0" y="0"/>
                  </a:moveTo>
                  <a:lnTo>
                    <a:pt x="1867194" y="0"/>
                  </a:lnTo>
                  <a:lnTo>
                    <a:pt x="1867194" y="553815"/>
                  </a:lnTo>
                  <a:lnTo>
                    <a:pt x="0" y="553815"/>
                  </a:lnTo>
                  <a:close/>
                </a:path>
              </a:pathLst>
            </a:custGeom>
            <a:solidFill>
              <a:srgbClr val="ECECEC"/>
            </a:solidFill>
            <a:ln cap="sq">
              <a:noFill/>
              <a:prstDash val="solid"/>
              <a:miter/>
            </a:ln>
          </p:spPr>
          <p:txBody>
            <a:bodyPr>
              <a:normAutofit/>
            </a:bodyPr>
            <a:lstStyle/>
            <a:p>
              <a:endParaRPr lang="ko-KR" altLang="en-US"/>
            </a:p>
          </p:txBody>
        </p:sp>
        <p:sp>
          <p:nvSpPr>
            <p:cNvPr id="22" name="TextBox 22"/>
            <p:cNvSpPr txBox="1"/>
            <p:nvPr/>
          </p:nvSpPr>
          <p:spPr>
            <a:xfrm>
              <a:off x="0" y="-28575"/>
              <a:ext cx="1867194" cy="582390"/>
            </a:xfrm>
            <a:prstGeom prst="rect">
              <a:avLst/>
            </a:prstGeom>
          </p:spPr>
          <p:txBody>
            <a:bodyPr lIns="50800" tIns="50800" rIns="50800" bIns="50800" rtlCol="0" anchor="ctr">
              <a:normAutofit/>
            </a:bodyPr>
            <a:lstStyle/>
            <a:p>
              <a:pPr marL="0" lvl="0" indent="0" algn="ctr">
                <a:lnSpc>
                  <a:spcPts val="2659"/>
                </a:lnSpc>
                <a:spcBef>
                  <a:spcPct val="0"/>
                </a:spcBef>
              </a:pPr>
              <a:endParaRPr/>
            </a:p>
          </p:txBody>
        </p:sp>
      </p:grpSp>
      <p:sp>
        <p:nvSpPr>
          <p:cNvPr id="23" name="TextBox 23"/>
          <p:cNvSpPr txBox="1"/>
          <p:nvPr/>
        </p:nvSpPr>
        <p:spPr>
          <a:xfrm>
            <a:off x="1545069" y="4800919"/>
            <a:ext cx="6776031" cy="1806804"/>
          </a:xfrm>
          <a:prstGeom prst="rect">
            <a:avLst/>
          </a:prstGeom>
        </p:spPr>
        <p:txBody>
          <a:bodyPr lIns="0" tIns="0" rIns="0" bIns="0" rtlCol="0" anchor="t">
            <a:normAutofit/>
          </a:bodyPr>
          <a:lstStyle/>
          <a:p>
            <a:pPr marL="0" lvl="0" indent="0" algn="l">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그래프 구성 레이아웃은 수치 데이터를 시각적으로 표현하여 직관적이고 명확한 정보 전달을 도와줍니다. </a:t>
            </a:r>
          </a:p>
          <a:p>
            <a:pPr marL="0" lvl="0" indent="0" algn="l">
              <a:lnSpc>
                <a:spcPts val="3622"/>
              </a:lnSpc>
              <a:spcBef>
                <a:spcPct val="0"/>
              </a:spcBef>
            </a:pPr>
            <a:r>
              <a:rPr lang="en-US" sz="2250" u="none" strike="noStrike" spc="-78">
                <a:solidFill>
                  <a:srgbClr val="222222">
                    <a:alpha val="80000"/>
                  </a:srgbClr>
                </a:solidFill>
                <a:latin typeface="JASO Sans"/>
                <a:ea typeface="JASO Sans"/>
                <a:cs typeface="JASO Sans"/>
                <a:sym typeface="JASO Sans"/>
              </a:rPr>
              <a:t>막대 그래프, 원형 그래프, 선 그래프 등 데이터 특성에 맞게 그래프를 선택하고 데이터를 정확하고 명확하게 표현합니다.</a:t>
            </a:r>
          </a:p>
        </p:txBody>
      </p:sp>
      <p:pic>
        <p:nvPicPr>
          <p:cNvPr id="24" name="Picture 24"/>
          <p:cNvPicPr>
            <a:picLocks noChangeAspect="1"/>
          </p:cNvPicPr>
          <p:nvPr/>
        </p:nvPicPr>
        <p:blipFill>
          <a:blip r:embed="rId16"/>
          <a:stretch>
            <a:fillRect/>
          </a:stretch>
        </p:blipFill>
        <p:spPr>
          <a:xfrm>
            <a:off x="8466271" y="2247277"/>
            <a:ext cx="9336919" cy="7958314"/>
          </a:xfrm>
          <a:prstGeom prst="rect">
            <a:avLst/>
          </a:prstGeom>
        </p:spPr>
      </p:pic>
      <p:sp>
        <p:nvSpPr>
          <p:cNvPr id="25" name="TextBox 25"/>
          <p:cNvSpPr txBox="1"/>
          <p:nvPr/>
        </p:nvSpPr>
        <p:spPr>
          <a:xfrm>
            <a:off x="1545069" y="3053929"/>
            <a:ext cx="7921367" cy="1489666"/>
          </a:xfrm>
          <a:prstGeom prst="rect">
            <a:avLst/>
          </a:prstGeom>
        </p:spPr>
        <p:txBody>
          <a:bodyPr lIns="0" tIns="0" rIns="0" bIns="0" rtlCol="0" anchor="t">
            <a:normAutofit fontScale="92500"/>
          </a:bodyPr>
          <a:lstStyle/>
          <a:p>
            <a:pPr marL="0" lvl="0" indent="0" algn="l">
              <a:lnSpc>
                <a:spcPts val="5865"/>
              </a:lnSpc>
              <a:spcBef>
                <a:spcPct val="0"/>
              </a:spcBef>
            </a:pPr>
            <a:r>
              <a:rPr lang="en-US" sz="5100" b="1" u="none" strike="noStrike" spc="-112">
                <a:solidFill>
                  <a:srgbClr val="333333"/>
                </a:solidFill>
                <a:latin typeface="JASO Sans Bold"/>
                <a:ea typeface="JASO Sans Bold"/>
                <a:cs typeface="JASO Sans Bold"/>
                <a:sym typeface="JASO Sans Bold"/>
              </a:rPr>
              <a:t>데이터를 효과적으로</a:t>
            </a:r>
          </a:p>
          <a:p>
            <a:pPr marL="0" lvl="0" indent="0" algn="l">
              <a:lnSpc>
                <a:spcPts val="5865"/>
              </a:lnSpc>
              <a:spcBef>
                <a:spcPct val="0"/>
              </a:spcBef>
            </a:pPr>
            <a:r>
              <a:rPr lang="en-US" sz="5100" b="1" u="none" strike="noStrike" spc="-112">
                <a:solidFill>
                  <a:srgbClr val="333333"/>
                </a:solidFill>
                <a:latin typeface="JASO Sans Bold"/>
                <a:ea typeface="JASO Sans Bold"/>
                <a:cs typeface="JASO Sans Bold"/>
                <a:sym typeface="JASO Sans Bold"/>
              </a:rPr>
              <a:t>보여주는 그래프</a:t>
            </a:r>
          </a:p>
        </p:txBody>
      </p:sp>
      <p:sp>
        <p:nvSpPr>
          <p:cNvPr id="26" name="TextBox 26"/>
          <p:cNvSpPr txBox="1"/>
          <p:nvPr/>
        </p:nvSpPr>
        <p:spPr>
          <a:xfrm>
            <a:off x="2386899" y="7303102"/>
            <a:ext cx="5603405" cy="1451817"/>
          </a:xfrm>
          <a:prstGeom prst="rect">
            <a:avLst/>
          </a:prstGeom>
        </p:spPr>
        <p:txBody>
          <a:bodyPr lIns="0" tIns="0" rIns="0" bIns="0" rtlCol="0" anchor="t">
            <a:normAutofit/>
          </a:bodyPr>
          <a:lstStyle/>
          <a:p>
            <a:pPr algn="l">
              <a:lnSpc>
                <a:spcPts val="3928"/>
              </a:lnSpc>
            </a:pPr>
            <a:r>
              <a:rPr lang="en-US" sz="2111" spc="-63">
                <a:solidFill>
                  <a:srgbClr val="222222"/>
                </a:solidFill>
                <a:latin typeface="JASO Sans"/>
                <a:ea typeface="JASO Sans"/>
                <a:cs typeface="JASO Sans"/>
                <a:sym typeface="JASO Sans"/>
              </a:rPr>
              <a:t>데이터의 특성에 맞는 그래프 유형 선택 </a:t>
            </a:r>
          </a:p>
          <a:p>
            <a:pPr algn="l">
              <a:lnSpc>
                <a:spcPts val="3928"/>
              </a:lnSpc>
            </a:pPr>
            <a:r>
              <a:rPr lang="en-US" sz="2111" spc="-63">
                <a:solidFill>
                  <a:srgbClr val="222222"/>
                </a:solidFill>
                <a:latin typeface="JASO Sans"/>
                <a:ea typeface="JASO Sans"/>
                <a:cs typeface="JASO Sans"/>
                <a:sym typeface="JASO Sans"/>
              </a:rPr>
              <a:t>범례, 색상 등을 활용한 가독성 높은 시각화 구성</a:t>
            </a:r>
          </a:p>
          <a:p>
            <a:pPr algn="l">
              <a:lnSpc>
                <a:spcPts val="3928"/>
              </a:lnSpc>
            </a:pPr>
            <a:r>
              <a:rPr lang="en-US" sz="2111" spc="-63">
                <a:solidFill>
                  <a:srgbClr val="222222"/>
                </a:solidFill>
                <a:latin typeface="JASO Sans"/>
                <a:ea typeface="JASO Sans"/>
                <a:cs typeface="JASO Sans"/>
                <a:sym typeface="JASO Sans"/>
              </a:rPr>
              <a:t>불필요한 장식 제거로 핵심 데이터에 집중</a:t>
            </a:r>
          </a:p>
        </p:txBody>
      </p:sp>
      <p:sp>
        <p:nvSpPr>
          <p:cNvPr id="27" name="Freeform 27"/>
          <p:cNvSpPr/>
          <p:nvPr/>
        </p:nvSpPr>
        <p:spPr>
          <a:xfrm>
            <a:off x="2044290" y="7548486"/>
            <a:ext cx="196988" cy="150203"/>
          </a:xfrm>
          <a:custGeom>
            <a:avLst/>
            <a:gdLst/>
            <a:ahLst/>
            <a:cxnLst/>
            <a:rect l="l" t="t" r="r" b="b"/>
            <a:pathLst>
              <a:path w="196988" h="150203">
                <a:moveTo>
                  <a:pt x="0" y="0"/>
                </a:moveTo>
                <a:lnTo>
                  <a:pt x="196988" y="0"/>
                </a:lnTo>
                <a:lnTo>
                  <a:pt x="196988" y="150203"/>
                </a:lnTo>
                <a:lnTo>
                  <a:pt x="0" y="15020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normAutofit fontScale="25000" lnSpcReduction="20000"/>
          </a:bodyPr>
          <a:lstStyle/>
          <a:p>
            <a:endParaRPr lang="ko-KR" altLang="en-US"/>
          </a:p>
        </p:txBody>
      </p:sp>
      <p:sp>
        <p:nvSpPr>
          <p:cNvPr id="28" name="Freeform 28"/>
          <p:cNvSpPr/>
          <p:nvPr/>
        </p:nvSpPr>
        <p:spPr>
          <a:xfrm>
            <a:off x="2044290" y="8025346"/>
            <a:ext cx="196988" cy="150203"/>
          </a:xfrm>
          <a:custGeom>
            <a:avLst/>
            <a:gdLst/>
            <a:ahLst/>
            <a:cxnLst/>
            <a:rect l="l" t="t" r="r" b="b"/>
            <a:pathLst>
              <a:path w="196988" h="150203">
                <a:moveTo>
                  <a:pt x="0" y="0"/>
                </a:moveTo>
                <a:lnTo>
                  <a:pt x="196988" y="0"/>
                </a:lnTo>
                <a:lnTo>
                  <a:pt x="196988" y="150204"/>
                </a:lnTo>
                <a:lnTo>
                  <a:pt x="0" y="150204"/>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normAutofit fontScale="25000" lnSpcReduction="20000"/>
          </a:bodyPr>
          <a:lstStyle/>
          <a:p>
            <a:endParaRPr lang="ko-KR" altLang="en-US"/>
          </a:p>
        </p:txBody>
      </p:sp>
      <p:sp>
        <p:nvSpPr>
          <p:cNvPr id="29" name="Freeform 29"/>
          <p:cNvSpPr/>
          <p:nvPr/>
        </p:nvSpPr>
        <p:spPr>
          <a:xfrm>
            <a:off x="2044290" y="8518450"/>
            <a:ext cx="196988" cy="150203"/>
          </a:xfrm>
          <a:custGeom>
            <a:avLst/>
            <a:gdLst/>
            <a:ahLst/>
            <a:cxnLst/>
            <a:rect l="l" t="t" r="r" b="b"/>
            <a:pathLst>
              <a:path w="196988" h="150203">
                <a:moveTo>
                  <a:pt x="0" y="0"/>
                </a:moveTo>
                <a:lnTo>
                  <a:pt x="196988" y="0"/>
                </a:lnTo>
                <a:lnTo>
                  <a:pt x="196988" y="150203"/>
                </a:lnTo>
                <a:lnTo>
                  <a:pt x="0" y="15020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normAutofit fontScale="25000" lnSpcReduction="20000"/>
          </a:bodyPr>
          <a:lstStyle/>
          <a:p>
            <a:endParaRPr lang="ko-KR" altLang="en-US"/>
          </a:p>
        </p:txBody>
      </p:sp>
      <p:sp>
        <p:nvSpPr>
          <p:cNvPr id="30" name="TextBox 19">
            <a:extLst>
              <a:ext uri="{FF2B5EF4-FFF2-40B4-BE49-F238E27FC236}">
                <a16:creationId xmlns:a16="http://schemas.microsoft.com/office/drawing/2014/main" id="{ED072949-B773-4627-81C9-D2C54FF2545E}"/>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타이틀과 설명글이 있는 페이지</a:t>
            </a:r>
          </a:p>
        </p:txBody>
      </p:sp>
      <p:sp>
        <p:nvSpPr>
          <p:cNvPr id="18" name="TextBox 18"/>
          <p:cNvSpPr txBox="1"/>
          <p:nvPr/>
        </p:nvSpPr>
        <p:spPr>
          <a:xfrm>
            <a:off x="11440961" y="1358870"/>
            <a:ext cx="6293520" cy="228644"/>
          </a:xfrm>
          <a:prstGeom prst="rect">
            <a:avLst/>
          </a:prstGeom>
        </p:spPr>
        <p:txBody>
          <a:bodyPr lIns="0" tIns="0" rIns="0" bIns="0" rtlCol="0" anchor="t">
            <a:sp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grpSp>
        <p:nvGrpSpPr>
          <p:cNvPr id="20" name="Group 20"/>
          <p:cNvGrpSpPr/>
          <p:nvPr/>
        </p:nvGrpSpPr>
        <p:grpSpPr>
          <a:xfrm>
            <a:off x="1546912" y="6733589"/>
            <a:ext cx="4874813" cy="2429461"/>
            <a:chOff x="0" y="0"/>
            <a:chExt cx="1254954" cy="625432"/>
          </a:xfrm>
        </p:grpSpPr>
        <p:sp>
          <p:nvSpPr>
            <p:cNvPr id="21" name="Freeform 21"/>
            <p:cNvSpPr/>
            <p:nvPr/>
          </p:nvSpPr>
          <p:spPr>
            <a:xfrm>
              <a:off x="0" y="0"/>
              <a:ext cx="1254954" cy="625432"/>
            </a:xfrm>
            <a:custGeom>
              <a:avLst/>
              <a:gdLst/>
              <a:ahLst/>
              <a:cxnLst/>
              <a:rect l="l" t="t" r="r" b="b"/>
              <a:pathLst>
                <a:path w="1254954" h="625432">
                  <a:moveTo>
                    <a:pt x="0" y="0"/>
                  </a:moveTo>
                  <a:lnTo>
                    <a:pt x="1254954" y="0"/>
                  </a:lnTo>
                  <a:lnTo>
                    <a:pt x="1254954" y="625432"/>
                  </a:lnTo>
                  <a:lnTo>
                    <a:pt x="0" y="625432"/>
                  </a:lnTo>
                  <a:close/>
                </a:path>
              </a:pathLst>
            </a:custGeom>
            <a:ln w="19050" cap="sq">
              <a:solidFill>
                <a:srgbClr val="B35555"/>
              </a:solidFill>
              <a:prstDash val="solid"/>
              <a:miter/>
            </a:ln>
          </p:spPr>
        </p:sp>
        <p:sp>
          <p:nvSpPr>
            <p:cNvPr id="22" name="TextBox 22"/>
            <p:cNvSpPr txBox="1"/>
            <p:nvPr/>
          </p:nvSpPr>
          <p:spPr>
            <a:xfrm>
              <a:off x="0" y="28575"/>
              <a:ext cx="1254954" cy="596857"/>
            </a:xfrm>
            <a:prstGeom prst="rect">
              <a:avLst/>
            </a:prstGeom>
          </p:spPr>
          <p:txBody>
            <a:bodyPr lIns="50800" tIns="50800" rIns="50800" bIns="50800" rtlCol="0" anchor="ctr">
              <a:normAutofit/>
            </a:bodyPr>
            <a:lstStyle/>
            <a:p>
              <a:pPr algn="ctr">
                <a:lnSpc>
                  <a:spcPts val="2743"/>
                </a:lnSpc>
              </a:pPr>
              <a:endParaRPr/>
            </a:p>
          </p:txBody>
        </p:sp>
      </p:grpSp>
      <p:grpSp>
        <p:nvGrpSpPr>
          <p:cNvPr id="23" name="Group 23"/>
          <p:cNvGrpSpPr/>
          <p:nvPr/>
        </p:nvGrpSpPr>
        <p:grpSpPr>
          <a:xfrm>
            <a:off x="6707515" y="6733589"/>
            <a:ext cx="4874813" cy="2429461"/>
            <a:chOff x="0" y="0"/>
            <a:chExt cx="1254954" cy="625432"/>
          </a:xfrm>
        </p:grpSpPr>
        <p:sp>
          <p:nvSpPr>
            <p:cNvPr id="24" name="Freeform 24"/>
            <p:cNvSpPr/>
            <p:nvPr/>
          </p:nvSpPr>
          <p:spPr>
            <a:xfrm>
              <a:off x="0" y="0"/>
              <a:ext cx="1254954" cy="625432"/>
            </a:xfrm>
            <a:custGeom>
              <a:avLst/>
              <a:gdLst/>
              <a:ahLst/>
              <a:cxnLst/>
              <a:rect l="l" t="t" r="r" b="b"/>
              <a:pathLst>
                <a:path w="1254954" h="625432">
                  <a:moveTo>
                    <a:pt x="0" y="0"/>
                  </a:moveTo>
                  <a:lnTo>
                    <a:pt x="1254954" y="0"/>
                  </a:lnTo>
                  <a:lnTo>
                    <a:pt x="1254954" y="625432"/>
                  </a:lnTo>
                  <a:lnTo>
                    <a:pt x="0" y="625432"/>
                  </a:lnTo>
                  <a:close/>
                </a:path>
              </a:pathLst>
            </a:custGeom>
            <a:ln w="19050" cap="sq">
              <a:solidFill>
                <a:srgbClr val="B35555"/>
              </a:solidFill>
              <a:prstDash val="solid"/>
              <a:miter/>
            </a:ln>
          </p:spPr>
        </p:sp>
        <p:sp>
          <p:nvSpPr>
            <p:cNvPr id="25" name="TextBox 25"/>
            <p:cNvSpPr txBox="1"/>
            <p:nvPr/>
          </p:nvSpPr>
          <p:spPr>
            <a:xfrm>
              <a:off x="0" y="28575"/>
              <a:ext cx="1254954" cy="596857"/>
            </a:xfrm>
            <a:prstGeom prst="rect">
              <a:avLst/>
            </a:prstGeom>
          </p:spPr>
          <p:txBody>
            <a:bodyPr lIns="50800" tIns="50800" rIns="50800" bIns="50800" rtlCol="0" anchor="ctr">
              <a:normAutofit/>
            </a:bodyPr>
            <a:lstStyle/>
            <a:p>
              <a:pPr algn="ctr">
                <a:lnSpc>
                  <a:spcPts val="2743"/>
                </a:lnSpc>
              </a:pPr>
              <a:endParaRPr/>
            </a:p>
          </p:txBody>
        </p:sp>
      </p:grpSp>
      <p:grpSp>
        <p:nvGrpSpPr>
          <p:cNvPr id="26" name="Group 26"/>
          <p:cNvGrpSpPr/>
          <p:nvPr/>
        </p:nvGrpSpPr>
        <p:grpSpPr>
          <a:xfrm>
            <a:off x="11868118" y="6733589"/>
            <a:ext cx="4874813" cy="2429461"/>
            <a:chOff x="0" y="0"/>
            <a:chExt cx="1254954" cy="625432"/>
          </a:xfrm>
        </p:grpSpPr>
        <p:sp>
          <p:nvSpPr>
            <p:cNvPr id="27" name="Freeform 27"/>
            <p:cNvSpPr/>
            <p:nvPr/>
          </p:nvSpPr>
          <p:spPr>
            <a:xfrm>
              <a:off x="0" y="0"/>
              <a:ext cx="1254954" cy="625432"/>
            </a:xfrm>
            <a:custGeom>
              <a:avLst/>
              <a:gdLst/>
              <a:ahLst/>
              <a:cxnLst/>
              <a:rect l="l" t="t" r="r" b="b"/>
              <a:pathLst>
                <a:path w="1254954" h="625432">
                  <a:moveTo>
                    <a:pt x="0" y="0"/>
                  </a:moveTo>
                  <a:lnTo>
                    <a:pt x="1254954" y="0"/>
                  </a:lnTo>
                  <a:lnTo>
                    <a:pt x="1254954" y="625432"/>
                  </a:lnTo>
                  <a:lnTo>
                    <a:pt x="0" y="625432"/>
                  </a:lnTo>
                  <a:close/>
                </a:path>
              </a:pathLst>
            </a:custGeom>
            <a:ln w="19050" cap="sq">
              <a:solidFill>
                <a:srgbClr val="B35555"/>
              </a:solidFill>
              <a:prstDash val="solid"/>
              <a:miter/>
            </a:ln>
          </p:spPr>
        </p:sp>
        <p:sp>
          <p:nvSpPr>
            <p:cNvPr id="28" name="TextBox 28"/>
            <p:cNvSpPr txBox="1"/>
            <p:nvPr/>
          </p:nvSpPr>
          <p:spPr>
            <a:xfrm>
              <a:off x="0" y="28575"/>
              <a:ext cx="1254954" cy="596857"/>
            </a:xfrm>
            <a:prstGeom prst="rect">
              <a:avLst/>
            </a:prstGeom>
          </p:spPr>
          <p:txBody>
            <a:bodyPr lIns="50800" tIns="50800" rIns="50800" bIns="50800" rtlCol="0" anchor="ctr">
              <a:normAutofit/>
            </a:bodyPr>
            <a:lstStyle/>
            <a:p>
              <a:pPr algn="ctr">
                <a:lnSpc>
                  <a:spcPts val="2743"/>
                </a:lnSpc>
              </a:pPr>
              <a:endParaRPr/>
            </a:p>
          </p:txBody>
        </p:sp>
      </p:grpSp>
      <p:grpSp>
        <p:nvGrpSpPr>
          <p:cNvPr id="29" name="Group 29"/>
          <p:cNvGrpSpPr/>
          <p:nvPr/>
        </p:nvGrpSpPr>
        <p:grpSpPr>
          <a:xfrm>
            <a:off x="1546912" y="6733589"/>
            <a:ext cx="4874813" cy="805343"/>
            <a:chOff x="0" y="0"/>
            <a:chExt cx="1254954" cy="207325"/>
          </a:xfrm>
        </p:grpSpPr>
        <p:sp>
          <p:nvSpPr>
            <p:cNvPr id="30" name="Freeform 30"/>
            <p:cNvSpPr/>
            <p:nvPr/>
          </p:nvSpPr>
          <p:spPr>
            <a:xfrm>
              <a:off x="0" y="0"/>
              <a:ext cx="1254954" cy="207325"/>
            </a:xfrm>
            <a:custGeom>
              <a:avLst/>
              <a:gdLst/>
              <a:ahLst/>
              <a:cxnLst/>
              <a:rect l="l" t="t" r="r" b="b"/>
              <a:pathLst>
                <a:path w="1254954" h="207325">
                  <a:moveTo>
                    <a:pt x="0" y="0"/>
                  </a:moveTo>
                  <a:lnTo>
                    <a:pt x="1254954" y="0"/>
                  </a:lnTo>
                  <a:lnTo>
                    <a:pt x="1254954" y="207325"/>
                  </a:lnTo>
                  <a:lnTo>
                    <a:pt x="0" y="207325"/>
                  </a:lnTo>
                  <a:close/>
                </a:path>
              </a:pathLst>
            </a:custGeom>
            <a:solidFill>
              <a:srgbClr val="B35555"/>
            </a:solidFill>
            <a:ln w="19050" cap="sq">
              <a:solidFill>
                <a:srgbClr val="B35555"/>
              </a:solidFill>
              <a:prstDash val="solid"/>
              <a:miter/>
            </a:ln>
          </p:spPr>
        </p:sp>
        <p:sp>
          <p:nvSpPr>
            <p:cNvPr id="31" name="TextBox 31"/>
            <p:cNvSpPr txBox="1"/>
            <p:nvPr/>
          </p:nvSpPr>
          <p:spPr>
            <a:xfrm>
              <a:off x="0" y="28575"/>
              <a:ext cx="1254954" cy="178750"/>
            </a:xfrm>
            <a:prstGeom prst="rect">
              <a:avLst/>
            </a:prstGeom>
          </p:spPr>
          <p:txBody>
            <a:bodyPr lIns="50800" tIns="50800" rIns="50800" bIns="50800" rtlCol="0" anchor="ctr">
              <a:normAutofit/>
            </a:bodyPr>
            <a:lstStyle/>
            <a:p>
              <a:pPr marL="0" lvl="0" indent="0" algn="ctr">
                <a:lnSpc>
                  <a:spcPts val="2743"/>
                </a:lnSpc>
                <a:spcBef>
                  <a:spcPct val="0"/>
                </a:spcBef>
              </a:pPr>
              <a:endParaRPr/>
            </a:p>
          </p:txBody>
        </p:sp>
      </p:grpSp>
      <p:grpSp>
        <p:nvGrpSpPr>
          <p:cNvPr id="32" name="Group 32"/>
          <p:cNvGrpSpPr/>
          <p:nvPr/>
        </p:nvGrpSpPr>
        <p:grpSpPr>
          <a:xfrm>
            <a:off x="6707515" y="6733589"/>
            <a:ext cx="4874813" cy="805343"/>
            <a:chOff x="0" y="0"/>
            <a:chExt cx="1254954" cy="207325"/>
          </a:xfrm>
        </p:grpSpPr>
        <p:sp>
          <p:nvSpPr>
            <p:cNvPr id="33" name="Freeform 33"/>
            <p:cNvSpPr/>
            <p:nvPr/>
          </p:nvSpPr>
          <p:spPr>
            <a:xfrm>
              <a:off x="0" y="0"/>
              <a:ext cx="1254954" cy="207325"/>
            </a:xfrm>
            <a:custGeom>
              <a:avLst/>
              <a:gdLst/>
              <a:ahLst/>
              <a:cxnLst/>
              <a:rect l="l" t="t" r="r" b="b"/>
              <a:pathLst>
                <a:path w="1254954" h="207325">
                  <a:moveTo>
                    <a:pt x="0" y="0"/>
                  </a:moveTo>
                  <a:lnTo>
                    <a:pt x="1254954" y="0"/>
                  </a:lnTo>
                  <a:lnTo>
                    <a:pt x="1254954" y="207325"/>
                  </a:lnTo>
                  <a:lnTo>
                    <a:pt x="0" y="207325"/>
                  </a:lnTo>
                  <a:close/>
                </a:path>
              </a:pathLst>
            </a:custGeom>
            <a:solidFill>
              <a:srgbClr val="B35555"/>
            </a:solidFill>
            <a:ln w="19050" cap="sq">
              <a:solidFill>
                <a:srgbClr val="B35555"/>
              </a:solidFill>
              <a:prstDash val="solid"/>
              <a:miter/>
            </a:ln>
          </p:spPr>
        </p:sp>
        <p:sp>
          <p:nvSpPr>
            <p:cNvPr id="34" name="TextBox 34"/>
            <p:cNvSpPr txBox="1"/>
            <p:nvPr/>
          </p:nvSpPr>
          <p:spPr>
            <a:xfrm>
              <a:off x="0" y="28575"/>
              <a:ext cx="1254954" cy="178750"/>
            </a:xfrm>
            <a:prstGeom prst="rect">
              <a:avLst/>
            </a:prstGeom>
          </p:spPr>
          <p:txBody>
            <a:bodyPr lIns="50800" tIns="50800" rIns="50800" bIns="50800" rtlCol="0" anchor="ctr">
              <a:normAutofit/>
            </a:bodyPr>
            <a:lstStyle/>
            <a:p>
              <a:pPr marL="0" lvl="0" indent="0" algn="ctr">
                <a:lnSpc>
                  <a:spcPts val="2743"/>
                </a:lnSpc>
                <a:spcBef>
                  <a:spcPct val="0"/>
                </a:spcBef>
              </a:pPr>
              <a:endParaRPr/>
            </a:p>
          </p:txBody>
        </p:sp>
      </p:grpSp>
      <p:grpSp>
        <p:nvGrpSpPr>
          <p:cNvPr id="35" name="Group 35"/>
          <p:cNvGrpSpPr/>
          <p:nvPr/>
        </p:nvGrpSpPr>
        <p:grpSpPr>
          <a:xfrm>
            <a:off x="11868118" y="6733589"/>
            <a:ext cx="4874813" cy="805343"/>
            <a:chOff x="0" y="0"/>
            <a:chExt cx="1254954" cy="207325"/>
          </a:xfrm>
        </p:grpSpPr>
        <p:sp>
          <p:nvSpPr>
            <p:cNvPr id="36" name="Freeform 36"/>
            <p:cNvSpPr/>
            <p:nvPr/>
          </p:nvSpPr>
          <p:spPr>
            <a:xfrm>
              <a:off x="0" y="0"/>
              <a:ext cx="1254954" cy="207325"/>
            </a:xfrm>
            <a:custGeom>
              <a:avLst/>
              <a:gdLst/>
              <a:ahLst/>
              <a:cxnLst/>
              <a:rect l="l" t="t" r="r" b="b"/>
              <a:pathLst>
                <a:path w="1254954" h="207325">
                  <a:moveTo>
                    <a:pt x="0" y="0"/>
                  </a:moveTo>
                  <a:lnTo>
                    <a:pt x="1254954" y="0"/>
                  </a:lnTo>
                  <a:lnTo>
                    <a:pt x="1254954" y="207325"/>
                  </a:lnTo>
                  <a:lnTo>
                    <a:pt x="0" y="207325"/>
                  </a:lnTo>
                  <a:close/>
                </a:path>
              </a:pathLst>
            </a:custGeom>
            <a:solidFill>
              <a:srgbClr val="B35555"/>
            </a:solidFill>
            <a:ln w="19050" cap="sq">
              <a:solidFill>
                <a:srgbClr val="B35555"/>
              </a:solidFill>
              <a:prstDash val="solid"/>
              <a:miter/>
            </a:ln>
          </p:spPr>
        </p:sp>
        <p:sp>
          <p:nvSpPr>
            <p:cNvPr id="37" name="TextBox 37"/>
            <p:cNvSpPr txBox="1"/>
            <p:nvPr/>
          </p:nvSpPr>
          <p:spPr>
            <a:xfrm>
              <a:off x="0" y="28575"/>
              <a:ext cx="1254954" cy="178750"/>
            </a:xfrm>
            <a:prstGeom prst="rect">
              <a:avLst/>
            </a:prstGeom>
          </p:spPr>
          <p:txBody>
            <a:bodyPr lIns="50800" tIns="50800" rIns="50800" bIns="50800" rtlCol="0" anchor="ctr">
              <a:normAutofit/>
            </a:bodyPr>
            <a:lstStyle/>
            <a:p>
              <a:pPr marL="0" lvl="0" indent="0" algn="ctr">
                <a:lnSpc>
                  <a:spcPts val="2743"/>
                </a:lnSpc>
                <a:spcBef>
                  <a:spcPct val="0"/>
                </a:spcBef>
              </a:pPr>
              <a:endParaRPr/>
            </a:p>
          </p:txBody>
        </p:sp>
      </p:grpSp>
      <p:sp>
        <p:nvSpPr>
          <p:cNvPr id="38" name="TextBox 38"/>
          <p:cNvSpPr txBox="1"/>
          <p:nvPr/>
        </p:nvSpPr>
        <p:spPr>
          <a:xfrm>
            <a:off x="1546912" y="3689374"/>
            <a:ext cx="15196018" cy="1810187"/>
          </a:xfrm>
          <a:prstGeom prst="rect">
            <a:avLst/>
          </a:prstGeom>
        </p:spPr>
        <p:txBody>
          <a:bodyPr lIns="0" tIns="0" rIns="0" bIns="0" rtlCol="0" anchor="t">
            <a:normAutofit/>
          </a:bodyPr>
          <a:lstStyle/>
          <a:p>
            <a:pPr marL="0" lvl="0" indent="0" algn="l">
              <a:lnSpc>
                <a:spcPts val="3622"/>
              </a:lnSpc>
              <a:spcBef>
                <a:spcPct val="0"/>
              </a:spcBef>
            </a:pPr>
            <a:r>
              <a:rPr lang="en-US" sz="2249" u="none" strike="noStrike" spc="-78">
                <a:solidFill>
                  <a:srgbClr val="222222">
                    <a:alpha val="80000"/>
                  </a:srgbClr>
                </a:solidFill>
                <a:latin typeface="JASO Sans"/>
                <a:ea typeface="JASO Sans"/>
                <a:cs typeface="JASO Sans"/>
                <a:sym typeface="JASO Sans"/>
              </a:rPr>
              <a:t>소비자층은 주로 20대에서 40대까지의 연령층이 주도하고 있으며, 이들은 디지털 기기에 익숙하고, 온라인 리뷰와 소셜 미디어를 통해 제품 정보를 얻는 경향이 있습니다. 또한, 환경 보호와 윤리적 소비에 대한 관심이 높아짐에 따라 친환경 제품에 대한 수요도 증가하고 있습니다. 소비자들의 이러한 트렌드는 기업들에게 새로운 기회를 제공하며, 지속 가능한 제품 개발과 마케팅 전략 수립에 중요한 인사이트를 제공합니다.</a:t>
            </a:r>
          </a:p>
        </p:txBody>
      </p:sp>
      <p:sp>
        <p:nvSpPr>
          <p:cNvPr id="39" name="TextBox 39"/>
          <p:cNvSpPr txBox="1"/>
          <p:nvPr/>
        </p:nvSpPr>
        <p:spPr>
          <a:xfrm>
            <a:off x="1930822" y="3055684"/>
            <a:ext cx="3609442" cy="465833"/>
          </a:xfrm>
          <a:prstGeom prst="rect">
            <a:avLst/>
          </a:prstGeom>
        </p:spPr>
        <p:txBody>
          <a:bodyPr lIns="0" tIns="0" rIns="0" bIns="0" rtlCol="0" anchor="t">
            <a:normAutofit/>
          </a:bodyPr>
          <a:lstStyle/>
          <a:p>
            <a:pPr algn="l">
              <a:lnSpc>
                <a:spcPts val="3555"/>
              </a:lnSpc>
            </a:pPr>
            <a:r>
              <a:rPr lang="en-US" sz="3703" b="1" spc="-74">
                <a:solidFill>
                  <a:srgbClr val="333333"/>
                </a:solidFill>
                <a:latin typeface="JASO Sans Bold"/>
                <a:ea typeface="JASO Sans Bold"/>
                <a:cs typeface="JASO Sans Bold"/>
                <a:sym typeface="JASO Sans Bold"/>
              </a:rPr>
              <a:t>소비자 분석</a:t>
            </a:r>
          </a:p>
        </p:txBody>
      </p:sp>
      <p:sp>
        <p:nvSpPr>
          <p:cNvPr id="40" name="TextBox 40"/>
          <p:cNvSpPr txBox="1"/>
          <p:nvPr/>
        </p:nvSpPr>
        <p:spPr>
          <a:xfrm>
            <a:off x="1930822" y="5920555"/>
            <a:ext cx="3609442" cy="465833"/>
          </a:xfrm>
          <a:prstGeom prst="rect">
            <a:avLst/>
          </a:prstGeom>
        </p:spPr>
        <p:txBody>
          <a:bodyPr lIns="0" tIns="0" rIns="0" bIns="0" rtlCol="0" anchor="t">
            <a:normAutofit/>
          </a:bodyPr>
          <a:lstStyle/>
          <a:p>
            <a:pPr algn="l">
              <a:lnSpc>
                <a:spcPts val="3555"/>
              </a:lnSpc>
            </a:pPr>
            <a:r>
              <a:rPr lang="en-US" sz="3703" b="1" spc="-74">
                <a:solidFill>
                  <a:srgbClr val="333333"/>
                </a:solidFill>
                <a:latin typeface="JASO Sans Bold"/>
                <a:ea typeface="JASO Sans Bold"/>
                <a:cs typeface="JASO Sans Bold"/>
                <a:sym typeface="JASO Sans Bold"/>
              </a:rPr>
              <a:t>경쟁사 분석</a:t>
            </a:r>
          </a:p>
        </p:txBody>
      </p:sp>
      <p:sp>
        <p:nvSpPr>
          <p:cNvPr id="41" name="TextBox 41"/>
          <p:cNvSpPr txBox="1"/>
          <p:nvPr/>
        </p:nvSpPr>
        <p:spPr>
          <a:xfrm>
            <a:off x="2773121" y="6861138"/>
            <a:ext cx="2422395" cy="467593"/>
          </a:xfrm>
          <a:prstGeom prst="rect">
            <a:avLst/>
          </a:prstGeom>
        </p:spPr>
        <p:txBody>
          <a:bodyPr lIns="0" tIns="0" rIns="0" bIns="0" rtlCol="0" anchor="t">
            <a:normAutofit/>
          </a:bodyPr>
          <a:lstStyle/>
          <a:p>
            <a:pPr algn="ctr">
              <a:lnSpc>
                <a:spcPts val="3808"/>
              </a:lnSpc>
            </a:pPr>
            <a:r>
              <a:rPr lang="en-US" sz="2608" b="1" spc="-52">
                <a:solidFill>
                  <a:srgbClr val="F5F4F4"/>
                </a:solidFill>
                <a:latin typeface="JASO Sans Bold"/>
                <a:ea typeface="JASO Sans Bold"/>
                <a:cs typeface="JASO Sans Bold"/>
                <a:sym typeface="JASO Sans Bold"/>
              </a:rPr>
              <a:t>경쟁사 A</a:t>
            </a:r>
          </a:p>
        </p:txBody>
      </p:sp>
      <p:sp>
        <p:nvSpPr>
          <p:cNvPr id="42" name="TextBox 42"/>
          <p:cNvSpPr txBox="1"/>
          <p:nvPr/>
        </p:nvSpPr>
        <p:spPr>
          <a:xfrm>
            <a:off x="7933724" y="6861138"/>
            <a:ext cx="2422395" cy="467593"/>
          </a:xfrm>
          <a:prstGeom prst="rect">
            <a:avLst/>
          </a:prstGeom>
        </p:spPr>
        <p:txBody>
          <a:bodyPr lIns="0" tIns="0" rIns="0" bIns="0" rtlCol="0" anchor="t">
            <a:normAutofit/>
          </a:bodyPr>
          <a:lstStyle/>
          <a:p>
            <a:pPr algn="ctr">
              <a:lnSpc>
                <a:spcPts val="3808"/>
              </a:lnSpc>
            </a:pPr>
            <a:r>
              <a:rPr lang="en-US" sz="2608" b="1" spc="-52">
                <a:solidFill>
                  <a:srgbClr val="F5F4F4"/>
                </a:solidFill>
                <a:latin typeface="JASO Sans Bold"/>
                <a:ea typeface="JASO Sans Bold"/>
                <a:cs typeface="JASO Sans Bold"/>
                <a:sym typeface="JASO Sans Bold"/>
              </a:rPr>
              <a:t>경쟁사 B</a:t>
            </a:r>
          </a:p>
        </p:txBody>
      </p:sp>
      <p:sp>
        <p:nvSpPr>
          <p:cNvPr id="43" name="TextBox 43"/>
          <p:cNvSpPr txBox="1"/>
          <p:nvPr/>
        </p:nvSpPr>
        <p:spPr>
          <a:xfrm>
            <a:off x="13094327" y="6861138"/>
            <a:ext cx="2422395" cy="467593"/>
          </a:xfrm>
          <a:prstGeom prst="rect">
            <a:avLst/>
          </a:prstGeom>
        </p:spPr>
        <p:txBody>
          <a:bodyPr lIns="0" tIns="0" rIns="0" bIns="0" rtlCol="0" anchor="t">
            <a:normAutofit/>
          </a:bodyPr>
          <a:lstStyle/>
          <a:p>
            <a:pPr algn="ctr">
              <a:lnSpc>
                <a:spcPts val="3808"/>
              </a:lnSpc>
            </a:pPr>
            <a:r>
              <a:rPr lang="en-US" sz="2608" b="1" spc="-52">
                <a:solidFill>
                  <a:srgbClr val="F5F4F4"/>
                </a:solidFill>
                <a:latin typeface="JASO Sans Bold"/>
                <a:ea typeface="JASO Sans Bold"/>
                <a:cs typeface="JASO Sans Bold"/>
                <a:sym typeface="JASO Sans Bold"/>
              </a:rPr>
              <a:t>경쟁사 C</a:t>
            </a:r>
          </a:p>
        </p:txBody>
      </p:sp>
      <p:sp>
        <p:nvSpPr>
          <p:cNvPr id="44" name="TextBox 44"/>
          <p:cNvSpPr txBox="1"/>
          <p:nvPr/>
        </p:nvSpPr>
        <p:spPr>
          <a:xfrm>
            <a:off x="1921302" y="7881315"/>
            <a:ext cx="4087055" cy="741319"/>
          </a:xfrm>
          <a:prstGeom prst="rect">
            <a:avLst/>
          </a:prstGeom>
        </p:spPr>
        <p:txBody>
          <a:bodyPr lIns="0" tIns="0" rIns="0" bIns="0" rtlCol="0" anchor="t">
            <a:normAutofit/>
          </a:bodyPr>
          <a:lstStyle/>
          <a:p>
            <a:pPr algn="ctr">
              <a:lnSpc>
                <a:spcPts val="2992"/>
              </a:lnSpc>
            </a:pPr>
            <a:r>
              <a:rPr lang="en-US" sz="1994" spc="-39">
                <a:solidFill>
                  <a:srgbClr val="333333">
                    <a:alpha val="69804"/>
                  </a:srgbClr>
                </a:solidFill>
                <a:latin typeface="JASO Sans"/>
                <a:ea typeface="JASO Sans"/>
                <a:cs typeface="JASO Sans"/>
                <a:sym typeface="JASO Sans"/>
              </a:rPr>
              <a:t>품질 높은 제품과 혁신적인 기술을 통해 시장 점유율을 유지하고 있습니다.</a:t>
            </a:r>
          </a:p>
        </p:txBody>
      </p:sp>
      <p:sp>
        <p:nvSpPr>
          <p:cNvPr id="45" name="TextBox 45"/>
          <p:cNvSpPr txBox="1"/>
          <p:nvPr/>
        </p:nvSpPr>
        <p:spPr>
          <a:xfrm>
            <a:off x="7081905" y="7881315"/>
            <a:ext cx="4087055" cy="1121407"/>
          </a:xfrm>
          <a:prstGeom prst="rect">
            <a:avLst/>
          </a:prstGeom>
        </p:spPr>
        <p:txBody>
          <a:bodyPr lIns="0" tIns="0" rIns="0" bIns="0" rtlCol="0" anchor="t">
            <a:normAutofit/>
          </a:bodyPr>
          <a:lstStyle/>
          <a:p>
            <a:pPr algn="ctr">
              <a:lnSpc>
                <a:spcPts val="2992"/>
              </a:lnSpc>
            </a:pPr>
            <a:r>
              <a:rPr lang="en-US" sz="1994" spc="-39">
                <a:solidFill>
                  <a:srgbClr val="333333">
                    <a:alpha val="69804"/>
                  </a:srgbClr>
                </a:solidFill>
                <a:latin typeface="JASO Sans"/>
                <a:ea typeface="JASO Sans"/>
                <a:cs typeface="JASO Sans"/>
                <a:sym typeface="JASO Sans"/>
              </a:rPr>
              <a:t>주로 젊은 층을 타겟으로 한 마케팅</a:t>
            </a:r>
          </a:p>
          <a:p>
            <a:pPr algn="ctr">
              <a:lnSpc>
                <a:spcPts val="2992"/>
              </a:lnSpc>
            </a:pPr>
            <a:r>
              <a:rPr lang="en-US" sz="1994" spc="-39">
                <a:solidFill>
                  <a:srgbClr val="333333">
                    <a:alpha val="69804"/>
                  </a:srgbClr>
                </a:solidFill>
                <a:latin typeface="JASO Sans"/>
                <a:ea typeface="JASO Sans"/>
                <a:cs typeface="JASO Sans"/>
                <a:sym typeface="JASO Sans"/>
              </a:rPr>
              <a:t>전략을 구사하고 있습니다. </a:t>
            </a:r>
          </a:p>
          <a:p>
            <a:pPr algn="ctr">
              <a:lnSpc>
                <a:spcPts val="2992"/>
              </a:lnSpc>
            </a:pPr>
            <a:endParaRPr lang="en-US" sz="1994" spc="-39">
              <a:solidFill>
                <a:srgbClr val="333333">
                  <a:alpha val="69804"/>
                </a:srgbClr>
              </a:solidFill>
              <a:latin typeface="JASO Sans"/>
              <a:ea typeface="JASO Sans"/>
              <a:cs typeface="JASO Sans"/>
              <a:sym typeface="JASO Sans"/>
            </a:endParaRPr>
          </a:p>
        </p:txBody>
      </p:sp>
      <p:sp>
        <p:nvSpPr>
          <p:cNvPr id="46" name="TextBox 46"/>
          <p:cNvSpPr txBox="1"/>
          <p:nvPr/>
        </p:nvSpPr>
        <p:spPr>
          <a:xfrm>
            <a:off x="12242508" y="7881315"/>
            <a:ext cx="4087055" cy="1121407"/>
          </a:xfrm>
          <a:prstGeom prst="rect">
            <a:avLst/>
          </a:prstGeom>
        </p:spPr>
        <p:txBody>
          <a:bodyPr lIns="0" tIns="0" rIns="0" bIns="0" rtlCol="0" anchor="t">
            <a:normAutofit/>
          </a:bodyPr>
          <a:lstStyle/>
          <a:p>
            <a:pPr algn="ctr">
              <a:lnSpc>
                <a:spcPts val="2992"/>
              </a:lnSpc>
            </a:pPr>
            <a:r>
              <a:rPr lang="en-US" sz="1994" spc="-39">
                <a:solidFill>
                  <a:srgbClr val="333333">
                    <a:alpha val="69804"/>
                  </a:srgbClr>
                </a:solidFill>
                <a:latin typeface="JASO Sans"/>
                <a:ea typeface="JASO Sans"/>
                <a:cs typeface="JASO Sans"/>
                <a:sym typeface="JASO Sans"/>
              </a:rPr>
              <a:t>프리미엄 제품 라인으로 시장에서</a:t>
            </a:r>
          </a:p>
          <a:p>
            <a:pPr algn="ctr">
              <a:lnSpc>
                <a:spcPts val="2992"/>
              </a:lnSpc>
            </a:pPr>
            <a:r>
              <a:rPr lang="en-US" sz="1994" spc="-39">
                <a:solidFill>
                  <a:srgbClr val="333333">
                    <a:alpha val="69804"/>
                  </a:srgbClr>
                </a:solidFill>
                <a:latin typeface="JASO Sans"/>
                <a:ea typeface="JASO Sans"/>
                <a:cs typeface="JASO Sans"/>
                <a:sym typeface="JASO Sans"/>
              </a:rPr>
              <a:t>독보적인 위치를 차지하고 있습니다.</a:t>
            </a:r>
          </a:p>
          <a:p>
            <a:pPr algn="ctr">
              <a:lnSpc>
                <a:spcPts val="2992"/>
              </a:lnSpc>
            </a:pPr>
            <a:endParaRPr lang="en-US" sz="1994" spc="-39">
              <a:solidFill>
                <a:srgbClr val="333333">
                  <a:alpha val="69804"/>
                </a:srgbClr>
              </a:solidFill>
              <a:latin typeface="JASO Sans"/>
              <a:ea typeface="JASO Sans"/>
              <a:cs typeface="JASO Sans"/>
              <a:sym typeface="JASO Sans"/>
            </a:endParaRPr>
          </a:p>
        </p:txBody>
      </p:sp>
      <p:sp>
        <p:nvSpPr>
          <p:cNvPr id="47" name="Freeform 47"/>
          <p:cNvSpPr/>
          <p:nvPr/>
        </p:nvSpPr>
        <p:spPr>
          <a:xfrm>
            <a:off x="1546912" y="3104401"/>
            <a:ext cx="273148" cy="273148"/>
          </a:xfrm>
          <a:custGeom>
            <a:avLst/>
            <a:gdLst/>
            <a:ahLst/>
            <a:cxnLst/>
            <a:rect l="l" t="t" r="r" b="b"/>
            <a:pathLst>
              <a:path w="273148" h="273148">
                <a:moveTo>
                  <a:pt x="0" y="0"/>
                </a:moveTo>
                <a:lnTo>
                  <a:pt x="273149" y="0"/>
                </a:lnTo>
                <a:lnTo>
                  <a:pt x="273149" y="273149"/>
                </a:lnTo>
                <a:lnTo>
                  <a:pt x="0" y="27314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8" name="Freeform 48"/>
          <p:cNvSpPr/>
          <p:nvPr/>
        </p:nvSpPr>
        <p:spPr>
          <a:xfrm>
            <a:off x="1546912" y="5969272"/>
            <a:ext cx="273148" cy="273148"/>
          </a:xfrm>
          <a:custGeom>
            <a:avLst/>
            <a:gdLst/>
            <a:ahLst/>
            <a:cxnLst/>
            <a:rect l="l" t="t" r="r" b="b"/>
            <a:pathLst>
              <a:path w="273148" h="273148">
                <a:moveTo>
                  <a:pt x="0" y="0"/>
                </a:moveTo>
                <a:lnTo>
                  <a:pt x="273149" y="0"/>
                </a:lnTo>
                <a:lnTo>
                  <a:pt x="273149" y="273148"/>
                </a:lnTo>
                <a:lnTo>
                  <a:pt x="0" y="27314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49" name="TextBox 19">
            <a:extLst>
              <a:ext uri="{FF2B5EF4-FFF2-40B4-BE49-F238E27FC236}">
                <a16:creationId xmlns:a16="http://schemas.microsoft.com/office/drawing/2014/main" id="{C550D178-EFAA-443A-BE7C-0AEE424A53C3}"/>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15043432" y="485661"/>
            <a:ext cx="2795067" cy="240203"/>
            <a:chOff x="0" y="0"/>
            <a:chExt cx="3726756" cy="320271"/>
          </a:xfrm>
        </p:grpSpPr>
        <p:sp>
          <p:nvSpPr>
            <p:cNvPr id="3" name="Freeform 3"/>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5" name="Freeform 5"/>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6" name="Freeform 6"/>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8" name="Freeform 8"/>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9" name="Freeform 9"/>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grpSp>
        <p:nvGrpSpPr>
          <p:cNvPr id="10" name="Group 10"/>
          <p:cNvGrpSpPr/>
          <p:nvPr/>
        </p:nvGrpSpPr>
        <p:grpSpPr>
          <a:xfrm>
            <a:off x="0" y="10192835"/>
            <a:ext cx="18288000" cy="94165"/>
            <a:chOff x="0" y="0"/>
            <a:chExt cx="3762963" cy="19376"/>
          </a:xfrm>
        </p:grpSpPr>
        <p:sp>
          <p:nvSpPr>
            <p:cNvPr id="11" name="Freeform 11"/>
            <p:cNvSpPr/>
            <p:nvPr/>
          </p:nvSpPr>
          <p:spPr>
            <a:xfrm>
              <a:off x="0" y="0"/>
              <a:ext cx="3762963" cy="19376"/>
            </a:xfrm>
            <a:custGeom>
              <a:avLst/>
              <a:gdLst/>
              <a:ahLst/>
              <a:cxnLst/>
              <a:rect l="l" t="t" r="r" b="b"/>
              <a:pathLst>
                <a:path w="3762963" h="19376">
                  <a:moveTo>
                    <a:pt x="0" y="0"/>
                  </a:moveTo>
                  <a:lnTo>
                    <a:pt x="3762963" y="0"/>
                  </a:lnTo>
                  <a:lnTo>
                    <a:pt x="3762963" y="19376"/>
                  </a:lnTo>
                  <a:lnTo>
                    <a:pt x="0" y="19376"/>
                  </a:lnTo>
                  <a:close/>
                </a:path>
              </a:pathLst>
            </a:custGeom>
            <a:solidFill>
              <a:srgbClr val="B35555"/>
            </a:solidFill>
          </p:spPr>
        </p:sp>
        <p:sp>
          <p:nvSpPr>
            <p:cNvPr id="12" name="TextBox 12"/>
            <p:cNvSpPr txBox="1"/>
            <p:nvPr/>
          </p:nvSpPr>
          <p:spPr>
            <a:xfrm>
              <a:off x="0" y="-47625"/>
              <a:ext cx="3762963" cy="67001"/>
            </a:xfrm>
            <a:prstGeom prst="rect">
              <a:avLst/>
            </a:prstGeom>
          </p:spPr>
          <p:txBody>
            <a:bodyPr lIns="50800" tIns="50800" rIns="50800" bIns="50800" rtlCol="0" anchor="ctr"/>
            <a:lstStyle/>
            <a:p>
              <a:pPr algn="ctr">
                <a:lnSpc>
                  <a:spcPts val="2587"/>
                </a:lnSpc>
              </a:pPr>
              <a:endParaRPr/>
            </a:p>
          </p:txBody>
        </p:sp>
      </p:grpSp>
      <p:grpSp>
        <p:nvGrpSpPr>
          <p:cNvPr id="13" name="Group 13"/>
          <p:cNvGrpSpPr/>
          <p:nvPr/>
        </p:nvGrpSpPr>
        <p:grpSpPr>
          <a:xfrm>
            <a:off x="1049478" y="852837"/>
            <a:ext cx="735448" cy="735448"/>
            <a:chOff x="0" y="0"/>
            <a:chExt cx="191064" cy="191064"/>
          </a:xfrm>
        </p:grpSpPr>
        <p:sp>
          <p:nvSpPr>
            <p:cNvPr id="14" name="Freeform 14"/>
            <p:cNvSpPr/>
            <p:nvPr/>
          </p:nvSpPr>
          <p:spPr>
            <a:xfrm>
              <a:off x="0" y="0"/>
              <a:ext cx="191064" cy="191064"/>
            </a:xfrm>
            <a:custGeom>
              <a:avLst/>
              <a:gdLst/>
              <a:ahLst/>
              <a:cxnLst/>
              <a:rect l="l" t="t" r="r" b="b"/>
              <a:pathLst>
                <a:path w="191064" h="191064">
                  <a:moveTo>
                    <a:pt x="0" y="0"/>
                  </a:moveTo>
                  <a:lnTo>
                    <a:pt x="191064" y="0"/>
                  </a:lnTo>
                  <a:lnTo>
                    <a:pt x="191064" y="191064"/>
                  </a:lnTo>
                  <a:lnTo>
                    <a:pt x="0" y="191064"/>
                  </a:lnTo>
                  <a:close/>
                </a:path>
              </a:pathLst>
            </a:custGeom>
            <a:solidFill>
              <a:srgbClr val="B35555"/>
            </a:solidFill>
            <a:ln cap="sq">
              <a:noFill/>
              <a:prstDash val="solid"/>
              <a:miter/>
            </a:ln>
          </p:spPr>
        </p:sp>
        <p:sp>
          <p:nvSpPr>
            <p:cNvPr id="15" name="TextBox 15"/>
            <p:cNvSpPr txBox="1"/>
            <p:nvPr/>
          </p:nvSpPr>
          <p:spPr>
            <a:xfrm>
              <a:off x="0" y="-28575"/>
              <a:ext cx="191064" cy="219639"/>
            </a:xfrm>
            <a:prstGeom prst="rect">
              <a:avLst/>
            </a:prstGeom>
          </p:spPr>
          <p:txBody>
            <a:bodyPr lIns="50800" tIns="50800" rIns="50800" bIns="50800" rtlCol="0" anchor="ctr">
              <a:normAutofit/>
            </a:bodyPr>
            <a:lstStyle/>
            <a:p>
              <a:pPr marL="0" lvl="0" indent="0" algn="ctr">
                <a:lnSpc>
                  <a:spcPts val="2702"/>
                </a:lnSpc>
                <a:spcBef>
                  <a:spcPct val="0"/>
                </a:spcBef>
              </a:pPr>
              <a:endParaRPr/>
            </a:p>
          </p:txBody>
        </p:sp>
      </p:grpSp>
      <p:sp>
        <p:nvSpPr>
          <p:cNvPr id="16" name="AutoShape 16"/>
          <p:cNvSpPr/>
          <p:nvPr/>
        </p:nvSpPr>
        <p:spPr>
          <a:xfrm flipV="1">
            <a:off x="662837" y="2117428"/>
            <a:ext cx="16962327" cy="0"/>
          </a:xfrm>
          <a:prstGeom prst="line">
            <a:avLst/>
          </a:prstGeom>
          <a:ln w="19050" cap="flat">
            <a:solidFill>
              <a:srgbClr val="363636">
                <a:alpha val="14902"/>
              </a:srgbClr>
            </a:solidFill>
            <a:prstDash val="solid"/>
            <a:headEnd type="none" w="sm" len="sm"/>
            <a:tailEnd type="none" w="sm" len="sm"/>
          </a:ln>
        </p:spPr>
      </p:sp>
      <p:sp>
        <p:nvSpPr>
          <p:cNvPr id="17" name="TextBox 17"/>
          <p:cNvSpPr txBox="1"/>
          <p:nvPr/>
        </p:nvSpPr>
        <p:spPr>
          <a:xfrm>
            <a:off x="2073273" y="872658"/>
            <a:ext cx="10279721" cy="791056"/>
          </a:xfrm>
          <a:prstGeom prst="rect">
            <a:avLst/>
          </a:prstGeom>
        </p:spPr>
        <p:txBody>
          <a:bodyPr lIns="0" tIns="0" rIns="0" bIns="0" rtlCol="0" anchor="t">
            <a:normAutofit/>
          </a:bodyPr>
          <a:lstStyle/>
          <a:p>
            <a:pPr marL="0" lvl="0" indent="0" algn="l">
              <a:lnSpc>
                <a:spcPts val="5969"/>
              </a:lnSpc>
            </a:pPr>
            <a:r>
              <a:rPr lang="en-US" sz="5852" b="1" spc="-117">
                <a:solidFill>
                  <a:srgbClr val="333333"/>
                </a:solidFill>
                <a:latin typeface="JASO Sans Bold"/>
                <a:ea typeface="JASO Sans Bold"/>
                <a:cs typeface="JASO Sans Bold"/>
                <a:sym typeface="JASO Sans Bold"/>
              </a:rPr>
              <a:t>아이콘을 활용한 페이지</a:t>
            </a:r>
          </a:p>
        </p:txBody>
      </p:sp>
      <p:sp>
        <p:nvSpPr>
          <p:cNvPr id="18" name="TextBox 18"/>
          <p:cNvSpPr txBox="1"/>
          <p:nvPr/>
        </p:nvSpPr>
        <p:spPr>
          <a:xfrm>
            <a:off x="9223202" y="1358870"/>
            <a:ext cx="6293520" cy="228644"/>
          </a:xfrm>
          <a:prstGeom prst="rect">
            <a:avLst/>
          </a:prstGeom>
        </p:spPr>
        <p:txBody>
          <a:bodyPr lIns="0" tIns="0" rIns="0" bIns="0" rtlCol="0" anchor="t">
            <a:normAutofit/>
          </a:bodyPr>
          <a:lstStyle/>
          <a:p>
            <a:pPr marL="0" lvl="1" indent="0" algn="l">
              <a:lnSpc>
                <a:spcPts val="1860"/>
              </a:lnSpc>
              <a:spcBef>
                <a:spcPct val="0"/>
              </a:spcBef>
            </a:pPr>
            <a:r>
              <a:rPr lang="en-US" sz="1550" u="none" strike="noStrike" spc="-26">
                <a:solidFill>
                  <a:srgbClr val="222222">
                    <a:alpha val="53725"/>
                  </a:srgbClr>
                </a:solidFill>
                <a:latin typeface="JASO Sans"/>
                <a:ea typeface="JASO Sans"/>
                <a:cs typeface="JASO Sans"/>
                <a:sym typeface="JASO Sans"/>
              </a:rPr>
              <a:t>메인타이틀에 대한 세부 설명을 입력해 주세요.</a:t>
            </a:r>
          </a:p>
        </p:txBody>
      </p:sp>
      <p:sp>
        <p:nvSpPr>
          <p:cNvPr id="20" name="TextBox 20"/>
          <p:cNvSpPr txBox="1"/>
          <p:nvPr/>
        </p:nvSpPr>
        <p:spPr>
          <a:xfrm>
            <a:off x="1717296" y="7335654"/>
            <a:ext cx="4361159" cy="1349626"/>
          </a:xfrm>
          <a:prstGeom prst="rect">
            <a:avLst/>
          </a:prstGeom>
        </p:spPr>
        <p:txBody>
          <a:bodyPr lIns="0" tIns="0" rIns="0" bIns="0" rtlCol="0" anchor="t">
            <a:normAutofit/>
          </a:bodyPr>
          <a:lstStyle/>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고객 관점에서 브랜드의 특징과</a:t>
            </a:r>
          </a:p>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 핵심 메시지를 명확하게 표현하고, 차별화요소를 시작화 합니다.</a:t>
            </a:r>
          </a:p>
        </p:txBody>
      </p:sp>
      <p:sp>
        <p:nvSpPr>
          <p:cNvPr id="21" name="TextBox 21"/>
          <p:cNvSpPr txBox="1"/>
          <p:nvPr/>
        </p:nvSpPr>
        <p:spPr>
          <a:xfrm>
            <a:off x="6963420" y="7335654"/>
            <a:ext cx="4361159" cy="1349626"/>
          </a:xfrm>
          <a:prstGeom prst="rect">
            <a:avLst/>
          </a:prstGeom>
        </p:spPr>
        <p:txBody>
          <a:bodyPr lIns="0" tIns="0" rIns="0" bIns="0" rtlCol="0" anchor="t">
            <a:normAutofit/>
          </a:bodyPr>
          <a:lstStyle/>
          <a:p>
            <a:pPr marL="0" lvl="0" indent="0" algn="ctr">
              <a:lnSpc>
                <a:spcPts val="3622"/>
              </a:lnSpc>
              <a:spcBef>
                <a:spcPct val="0"/>
              </a:spcBef>
            </a:pPr>
            <a:r>
              <a:rPr lang="en-US" sz="2250" spc="-78">
                <a:solidFill>
                  <a:srgbClr val="333333">
                    <a:alpha val="80000"/>
                  </a:srgbClr>
                </a:solidFill>
                <a:latin typeface="JASO Sans"/>
                <a:ea typeface="JASO Sans"/>
                <a:cs typeface="JASO Sans"/>
                <a:sym typeface="JASO Sans"/>
              </a:rPr>
              <a:t>주요</a:t>
            </a:r>
            <a:r>
              <a:rPr lang="en-US" sz="2250" u="none" strike="noStrike" spc="-78">
                <a:solidFill>
                  <a:srgbClr val="333333">
                    <a:alpha val="80000"/>
                  </a:srgbClr>
                </a:solidFill>
                <a:latin typeface="JASO Sans"/>
                <a:ea typeface="JASO Sans"/>
                <a:cs typeface="JASO Sans"/>
                <a:sym typeface="JASO Sans"/>
              </a:rPr>
              <a:t> 기능과 서비스 흐름을</a:t>
            </a:r>
          </a:p>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 아이콘으로 전달하고자 하는 내용을 간단하고 직관적으로 보여줍니다.</a:t>
            </a:r>
          </a:p>
        </p:txBody>
      </p:sp>
      <p:sp>
        <p:nvSpPr>
          <p:cNvPr id="22" name="TextBox 22"/>
          <p:cNvSpPr txBox="1"/>
          <p:nvPr/>
        </p:nvSpPr>
        <p:spPr>
          <a:xfrm>
            <a:off x="12219070" y="7335654"/>
            <a:ext cx="4361159" cy="1349626"/>
          </a:xfrm>
          <a:prstGeom prst="rect">
            <a:avLst/>
          </a:prstGeom>
        </p:spPr>
        <p:txBody>
          <a:bodyPr lIns="0" tIns="0" rIns="0" bIns="0" rtlCol="0" anchor="t">
            <a:normAutofit/>
          </a:bodyPr>
          <a:lstStyle/>
          <a:p>
            <a:pPr marL="0" lvl="0" indent="0" algn="ctr">
              <a:lnSpc>
                <a:spcPts val="3622"/>
              </a:lnSpc>
              <a:spcBef>
                <a:spcPct val="0"/>
              </a:spcBef>
            </a:pPr>
            <a:r>
              <a:rPr lang="en-US" sz="2250" spc="-78">
                <a:solidFill>
                  <a:srgbClr val="333333">
                    <a:alpha val="80000"/>
                  </a:srgbClr>
                </a:solidFill>
                <a:latin typeface="JASO Sans"/>
                <a:ea typeface="JASO Sans"/>
                <a:cs typeface="JASO Sans"/>
                <a:sym typeface="JASO Sans"/>
              </a:rPr>
              <a:t>여러</a:t>
            </a:r>
            <a:r>
              <a:rPr lang="en-US" sz="2250" u="none" strike="noStrike" spc="-78">
                <a:solidFill>
                  <a:srgbClr val="333333">
                    <a:alpha val="80000"/>
                  </a:srgbClr>
                </a:solidFill>
                <a:latin typeface="JASO Sans"/>
                <a:ea typeface="JASO Sans"/>
                <a:cs typeface="JASO Sans"/>
                <a:sym typeface="JASO Sans"/>
              </a:rPr>
              <a:t> 정보를 분류하고 강조해</a:t>
            </a:r>
          </a:p>
          <a:p>
            <a:pPr marL="0" lvl="0" indent="0" algn="ctr">
              <a:lnSpc>
                <a:spcPts val="3622"/>
              </a:lnSpc>
              <a:spcBef>
                <a:spcPct val="0"/>
              </a:spcBef>
            </a:pPr>
            <a:r>
              <a:rPr lang="en-US" sz="2250" u="none" strike="noStrike" spc="-78">
                <a:solidFill>
                  <a:srgbClr val="333333">
                    <a:alpha val="80000"/>
                  </a:srgbClr>
                </a:solidFill>
                <a:latin typeface="JASO Sans"/>
                <a:ea typeface="JASO Sans"/>
                <a:cs typeface="JASO Sans"/>
                <a:sym typeface="JASO Sans"/>
              </a:rPr>
              <a:t> 전달력을 높이는 데 효과적입니다. 어울리는 아이콘을 활용해보세요.</a:t>
            </a:r>
          </a:p>
        </p:txBody>
      </p:sp>
      <p:sp>
        <p:nvSpPr>
          <p:cNvPr id="23" name="TextBox 23"/>
          <p:cNvSpPr txBox="1"/>
          <p:nvPr/>
        </p:nvSpPr>
        <p:spPr>
          <a:xfrm>
            <a:off x="1845660" y="5532577"/>
            <a:ext cx="4104431" cy="1085044"/>
          </a:xfrm>
          <a:prstGeom prst="rect">
            <a:avLst/>
          </a:prstGeom>
        </p:spPr>
        <p:txBody>
          <a:bodyPr lIns="0" tIns="0" rIns="0" bIns="0" rtlCol="0" anchor="t">
            <a:normAutofit/>
          </a:bodyPr>
          <a:lstStyle/>
          <a:p>
            <a:pPr marL="0" lvl="0" indent="0" algn="ctr">
              <a:lnSpc>
                <a:spcPts val="4385"/>
              </a:lnSpc>
            </a:pPr>
            <a:r>
              <a:rPr lang="en-US" sz="3399" b="1" spc="-67">
                <a:solidFill>
                  <a:srgbClr val="333333"/>
                </a:solidFill>
                <a:latin typeface="JASO Sans Bold"/>
                <a:ea typeface="JASO Sans Bold"/>
                <a:cs typeface="JASO Sans Bold"/>
                <a:sym typeface="JASO Sans Bold"/>
              </a:rPr>
              <a:t>브랜드</a:t>
            </a:r>
            <a:r>
              <a:rPr lang="en-US" sz="3399" b="1" u="none" strike="noStrike" spc="-67">
                <a:solidFill>
                  <a:srgbClr val="333333"/>
                </a:solidFill>
                <a:latin typeface="JASO Sans Bold"/>
                <a:ea typeface="JASO Sans Bold"/>
                <a:cs typeface="JASO Sans Bold"/>
                <a:sym typeface="JASO Sans Bold"/>
              </a:rPr>
              <a:t> 핵심 가치 및</a:t>
            </a:r>
          </a:p>
          <a:p>
            <a:pPr marL="0" lvl="0" indent="0" algn="ctr">
              <a:lnSpc>
                <a:spcPts val="4385"/>
              </a:lnSpc>
            </a:pPr>
            <a:r>
              <a:rPr lang="en-US" sz="3399" b="1" u="none" strike="noStrike" spc="-67">
                <a:solidFill>
                  <a:srgbClr val="333333"/>
                </a:solidFill>
                <a:latin typeface="JASO Sans Bold"/>
                <a:ea typeface="JASO Sans Bold"/>
                <a:cs typeface="JASO Sans Bold"/>
                <a:sym typeface="JASO Sans Bold"/>
              </a:rPr>
              <a:t>차별화 요소 시각화</a:t>
            </a:r>
          </a:p>
        </p:txBody>
      </p:sp>
      <p:sp>
        <p:nvSpPr>
          <p:cNvPr id="24" name="TextBox 24"/>
          <p:cNvSpPr txBox="1"/>
          <p:nvPr/>
        </p:nvSpPr>
        <p:spPr>
          <a:xfrm>
            <a:off x="7091784" y="5532577"/>
            <a:ext cx="4104431" cy="1085044"/>
          </a:xfrm>
          <a:prstGeom prst="rect">
            <a:avLst/>
          </a:prstGeom>
        </p:spPr>
        <p:txBody>
          <a:bodyPr lIns="0" tIns="0" rIns="0" bIns="0" rtlCol="0" anchor="t">
            <a:normAutofit/>
          </a:bodyPr>
          <a:lstStyle/>
          <a:p>
            <a:pPr marL="0" lvl="0" indent="0" algn="ctr">
              <a:lnSpc>
                <a:spcPts val="4385"/>
              </a:lnSpc>
            </a:pPr>
            <a:r>
              <a:rPr lang="en-US" sz="3399" b="1" spc="-67">
                <a:solidFill>
                  <a:srgbClr val="333333"/>
                </a:solidFill>
                <a:latin typeface="JASO Sans Bold"/>
                <a:ea typeface="JASO Sans Bold"/>
                <a:cs typeface="JASO Sans Bold"/>
                <a:sym typeface="JASO Sans Bold"/>
              </a:rPr>
              <a:t>서비스</a:t>
            </a:r>
            <a:r>
              <a:rPr lang="en-US" sz="3399" b="1" u="none" strike="noStrike" spc="-67">
                <a:solidFill>
                  <a:srgbClr val="333333"/>
                </a:solidFill>
                <a:latin typeface="JASO Sans Bold"/>
                <a:ea typeface="JASO Sans Bold"/>
                <a:cs typeface="JASO Sans Bold"/>
                <a:sym typeface="JASO Sans Bold"/>
              </a:rPr>
              <a:t> 구조 및 기능</a:t>
            </a:r>
          </a:p>
          <a:p>
            <a:pPr marL="0" lvl="0" indent="0" algn="ctr">
              <a:lnSpc>
                <a:spcPts val="4385"/>
              </a:lnSpc>
            </a:pPr>
            <a:r>
              <a:rPr lang="en-US" sz="3399" b="1" u="none" strike="noStrike" spc="-67">
                <a:solidFill>
                  <a:srgbClr val="333333"/>
                </a:solidFill>
                <a:latin typeface="JASO Sans Bold"/>
                <a:ea typeface="JASO Sans Bold"/>
                <a:cs typeface="JASO Sans Bold"/>
                <a:sym typeface="JASO Sans Bold"/>
              </a:rPr>
              <a:t>전달을 위한 시각 요소</a:t>
            </a:r>
          </a:p>
        </p:txBody>
      </p:sp>
      <p:sp>
        <p:nvSpPr>
          <p:cNvPr id="25" name="TextBox 25"/>
          <p:cNvSpPr txBox="1"/>
          <p:nvPr/>
        </p:nvSpPr>
        <p:spPr>
          <a:xfrm>
            <a:off x="12347433" y="5532577"/>
            <a:ext cx="4104431" cy="1085044"/>
          </a:xfrm>
          <a:prstGeom prst="rect">
            <a:avLst/>
          </a:prstGeom>
        </p:spPr>
        <p:txBody>
          <a:bodyPr lIns="0" tIns="0" rIns="0" bIns="0" rtlCol="0" anchor="t">
            <a:normAutofit/>
          </a:bodyPr>
          <a:lstStyle/>
          <a:p>
            <a:pPr marL="0" lvl="0" indent="0" algn="ctr">
              <a:lnSpc>
                <a:spcPts val="4385"/>
              </a:lnSpc>
            </a:pPr>
            <a:r>
              <a:rPr lang="en-US" sz="3399" b="1" spc="-67">
                <a:solidFill>
                  <a:srgbClr val="333333"/>
                </a:solidFill>
                <a:latin typeface="JASO Sans Bold"/>
                <a:ea typeface="JASO Sans Bold"/>
                <a:cs typeface="JASO Sans Bold"/>
                <a:sym typeface="JASO Sans Bold"/>
              </a:rPr>
              <a:t>복잡한</a:t>
            </a:r>
            <a:r>
              <a:rPr lang="en-US" sz="3399" b="1" u="none" strike="noStrike" spc="-67">
                <a:solidFill>
                  <a:srgbClr val="333333"/>
                </a:solidFill>
                <a:latin typeface="JASO Sans Bold"/>
                <a:ea typeface="JASO Sans Bold"/>
                <a:cs typeface="JASO Sans Bold"/>
                <a:sym typeface="JASO Sans Bold"/>
              </a:rPr>
              <a:t> 정보를 쉽게</a:t>
            </a:r>
          </a:p>
          <a:p>
            <a:pPr marL="0" lvl="0" indent="0" algn="ctr">
              <a:lnSpc>
                <a:spcPts val="4385"/>
              </a:lnSpc>
            </a:pPr>
            <a:r>
              <a:rPr lang="en-US" sz="3399" b="1" u="none" strike="noStrike" spc="-67">
                <a:solidFill>
                  <a:srgbClr val="333333"/>
                </a:solidFill>
                <a:latin typeface="JASO Sans Bold"/>
                <a:ea typeface="JASO Sans Bold"/>
                <a:cs typeface="JASO Sans Bold"/>
                <a:sym typeface="JASO Sans Bold"/>
              </a:rPr>
              <a:t>정리하는 아이콘 활용법</a:t>
            </a:r>
          </a:p>
        </p:txBody>
      </p:sp>
      <p:sp>
        <p:nvSpPr>
          <p:cNvPr id="26" name="Freeform 26"/>
          <p:cNvSpPr/>
          <p:nvPr/>
        </p:nvSpPr>
        <p:spPr>
          <a:xfrm>
            <a:off x="2944444" y="3273027"/>
            <a:ext cx="1906863" cy="1756697"/>
          </a:xfrm>
          <a:custGeom>
            <a:avLst/>
            <a:gdLst/>
            <a:ahLst/>
            <a:cxnLst/>
            <a:rect l="l" t="t" r="r" b="b"/>
            <a:pathLst>
              <a:path w="1906863" h="1756697">
                <a:moveTo>
                  <a:pt x="0" y="0"/>
                </a:moveTo>
                <a:lnTo>
                  <a:pt x="1906863" y="0"/>
                </a:lnTo>
                <a:lnTo>
                  <a:pt x="1906863" y="1756697"/>
                </a:lnTo>
                <a:lnTo>
                  <a:pt x="0" y="175669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7" name="Freeform 27"/>
          <p:cNvSpPr/>
          <p:nvPr/>
        </p:nvSpPr>
        <p:spPr>
          <a:xfrm>
            <a:off x="8176076" y="3401234"/>
            <a:ext cx="1935847" cy="1500282"/>
          </a:xfrm>
          <a:custGeom>
            <a:avLst/>
            <a:gdLst/>
            <a:ahLst/>
            <a:cxnLst/>
            <a:rect l="l" t="t" r="r" b="b"/>
            <a:pathLst>
              <a:path w="1935847" h="1500282">
                <a:moveTo>
                  <a:pt x="0" y="0"/>
                </a:moveTo>
                <a:lnTo>
                  <a:pt x="1935848" y="0"/>
                </a:lnTo>
                <a:lnTo>
                  <a:pt x="1935848" y="1500282"/>
                </a:lnTo>
                <a:lnTo>
                  <a:pt x="0" y="150028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8" name="Freeform 28"/>
          <p:cNvSpPr/>
          <p:nvPr/>
        </p:nvSpPr>
        <p:spPr>
          <a:xfrm>
            <a:off x="13580283" y="3337131"/>
            <a:ext cx="1638732" cy="1628490"/>
          </a:xfrm>
          <a:custGeom>
            <a:avLst/>
            <a:gdLst/>
            <a:ahLst/>
            <a:cxnLst/>
            <a:rect l="l" t="t" r="r" b="b"/>
            <a:pathLst>
              <a:path w="1638732" h="1628490">
                <a:moveTo>
                  <a:pt x="0" y="0"/>
                </a:moveTo>
                <a:lnTo>
                  <a:pt x="1638732" y="0"/>
                </a:lnTo>
                <a:lnTo>
                  <a:pt x="1638732" y="1628489"/>
                </a:lnTo>
                <a:lnTo>
                  <a:pt x="0" y="162848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29" name="Freeform 29"/>
          <p:cNvSpPr/>
          <p:nvPr/>
        </p:nvSpPr>
        <p:spPr>
          <a:xfrm rot="5400000">
            <a:off x="3695588" y="6895241"/>
            <a:ext cx="204589" cy="199986"/>
          </a:xfrm>
          <a:custGeom>
            <a:avLst/>
            <a:gdLst/>
            <a:ahLst/>
            <a:cxnLst/>
            <a:rect l="l" t="t" r="r" b="b"/>
            <a:pathLst>
              <a:path w="204589" h="199986">
                <a:moveTo>
                  <a:pt x="0" y="0"/>
                </a:moveTo>
                <a:lnTo>
                  <a:pt x="204589" y="0"/>
                </a:lnTo>
                <a:lnTo>
                  <a:pt x="204589" y="199986"/>
                </a:lnTo>
                <a:lnTo>
                  <a:pt x="0" y="199986"/>
                </a:lnTo>
                <a:lnTo>
                  <a:pt x="0" y="0"/>
                </a:lnTo>
                <a:close/>
              </a:path>
            </a:pathLst>
          </a:custGeom>
          <a:blipFill>
            <a:blip r:embed="rId22">
              <a:alphaModFix amt="50000"/>
              <a:extLst>
                <a:ext uri="{96DAC541-7B7A-43D3-8B79-37D633B846F1}">
                  <asvg:svgBlip xmlns:asvg="http://schemas.microsoft.com/office/drawing/2016/SVG/main" r:embed="rId23"/>
                </a:ext>
              </a:extLst>
            </a:blip>
            <a:stretch>
              <a:fillRect/>
            </a:stretch>
          </a:blipFill>
        </p:spPr>
      </p:sp>
      <p:sp>
        <p:nvSpPr>
          <p:cNvPr id="30" name="Freeform 30"/>
          <p:cNvSpPr/>
          <p:nvPr/>
        </p:nvSpPr>
        <p:spPr>
          <a:xfrm rot="5400000">
            <a:off x="9041705" y="6895241"/>
            <a:ext cx="204589" cy="199986"/>
          </a:xfrm>
          <a:custGeom>
            <a:avLst/>
            <a:gdLst/>
            <a:ahLst/>
            <a:cxnLst/>
            <a:rect l="l" t="t" r="r" b="b"/>
            <a:pathLst>
              <a:path w="204589" h="199986">
                <a:moveTo>
                  <a:pt x="0" y="0"/>
                </a:moveTo>
                <a:lnTo>
                  <a:pt x="204590" y="0"/>
                </a:lnTo>
                <a:lnTo>
                  <a:pt x="204590" y="199986"/>
                </a:lnTo>
                <a:lnTo>
                  <a:pt x="0" y="199986"/>
                </a:lnTo>
                <a:lnTo>
                  <a:pt x="0" y="0"/>
                </a:lnTo>
                <a:close/>
              </a:path>
            </a:pathLst>
          </a:custGeom>
          <a:blipFill>
            <a:blip r:embed="rId22">
              <a:alphaModFix amt="50000"/>
              <a:extLst>
                <a:ext uri="{96DAC541-7B7A-43D3-8B79-37D633B846F1}">
                  <asvg:svgBlip xmlns:asvg="http://schemas.microsoft.com/office/drawing/2016/SVG/main" r:embed="rId23"/>
                </a:ext>
              </a:extLst>
            </a:blip>
            <a:stretch>
              <a:fillRect/>
            </a:stretch>
          </a:blipFill>
        </p:spPr>
      </p:sp>
      <p:sp>
        <p:nvSpPr>
          <p:cNvPr id="31" name="Freeform 31"/>
          <p:cNvSpPr/>
          <p:nvPr/>
        </p:nvSpPr>
        <p:spPr>
          <a:xfrm rot="5400000">
            <a:off x="14297354" y="6895241"/>
            <a:ext cx="204589" cy="199986"/>
          </a:xfrm>
          <a:custGeom>
            <a:avLst/>
            <a:gdLst/>
            <a:ahLst/>
            <a:cxnLst/>
            <a:rect l="l" t="t" r="r" b="b"/>
            <a:pathLst>
              <a:path w="204589" h="199986">
                <a:moveTo>
                  <a:pt x="0" y="0"/>
                </a:moveTo>
                <a:lnTo>
                  <a:pt x="204590" y="0"/>
                </a:lnTo>
                <a:lnTo>
                  <a:pt x="204590" y="199986"/>
                </a:lnTo>
                <a:lnTo>
                  <a:pt x="0" y="199986"/>
                </a:lnTo>
                <a:lnTo>
                  <a:pt x="0" y="0"/>
                </a:lnTo>
                <a:close/>
              </a:path>
            </a:pathLst>
          </a:custGeom>
          <a:blipFill>
            <a:blip r:embed="rId22">
              <a:alphaModFix amt="50000"/>
              <a:extLst>
                <a:ext uri="{96DAC541-7B7A-43D3-8B79-37D633B846F1}">
                  <asvg:svgBlip xmlns:asvg="http://schemas.microsoft.com/office/drawing/2016/SVG/main" r:embed="rId23"/>
                </a:ext>
              </a:extLst>
            </a:blip>
            <a:stretch>
              <a:fillRect/>
            </a:stretch>
          </a:blipFill>
        </p:spPr>
      </p:sp>
      <p:sp>
        <p:nvSpPr>
          <p:cNvPr id="32" name="TextBox 19">
            <a:extLst>
              <a:ext uri="{FF2B5EF4-FFF2-40B4-BE49-F238E27FC236}">
                <a16:creationId xmlns:a16="http://schemas.microsoft.com/office/drawing/2014/main" id="{6576F930-EAA3-45D1-A02A-C179FC51DEC4}"/>
              </a:ext>
            </a:extLst>
          </p:cNvPr>
          <p:cNvSpPr txBox="1"/>
          <p:nvPr/>
        </p:nvSpPr>
        <p:spPr>
          <a:xfrm>
            <a:off x="1049478" y="852838"/>
            <a:ext cx="735448" cy="734676"/>
          </a:xfrm>
          <a:prstGeom prst="rect">
            <a:avLst/>
          </a:prstGeom>
        </p:spPr>
        <p:txBody>
          <a:bodyPr lIns="0" tIns="0" rIns="0" bIns="0" rtlCol="0" anchor="ctr">
            <a:normAutofit/>
          </a:bodyPr>
          <a:lstStyle/>
          <a:p>
            <a:pPr marL="0" lvl="0" indent="0" algn="ctr">
              <a:lnSpc>
                <a:spcPts val="2336"/>
              </a:lnSpc>
              <a:spcBef>
                <a:spcPct val="0"/>
              </a:spcBef>
            </a:pPr>
            <a:r>
              <a:rPr lang="en-US" sz="2290" spc="-171" dirty="0">
                <a:solidFill>
                  <a:srgbClr val="F5F4F4"/>
                </a:solidFill>
                <a:latin typeface="DIN Next"/>
                <a:ea typeface="DIN Next"/>
                <a:cs typeface="DIN Next"/>
                <a:sym typeface="DIN Next"/>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6F5"/>
        </a:solidFill>
        <a:effectLst/>
      </p:bgPr>
    </p:bg>
    <p:spTree>
      <p:nvGrpSpPr>
        <p:cNvPr id="1" name=""/>
        <p:cNvGrpSpPr/>
        <p:nvPr/>
      </p:nvGrpSpPr>
      <p:grpSpPr>
        <a:xfrm>
          <a:off x="0" y="0"/>
          <a:ext cx="0" cy="0"/>
          <a:chOff x="0" y="0"/>
          <a:chExt cx="0" cy="0"/>
        </a:xfrm>
      </p:grpSpPr>
      <p:grpSp>
        <p:nvGrpSpPr>
          <p:cNvPr id="2" name="Group 2"/>
          <p:cNvGrpSpPr/>
          <p:nvPr/>
        </p:nvGrpSpPr>
        <p:grpSpPr>
          <a:xfrm>
            <a:off x="3883564" y="7175870"/>
            <a:ext cx="10520872" cy="826098"/>
            <a:chOff x="0" y="0"/>
            <a:chExt cx="2164788" cy="169979"/>
          </a:xfrm>
        </p:grpSpPr>
        <p:sp>
          <p:nvSpPr>
            <p:cNvPr id="3" name="Freeform 3"/>
            <p:cNvSpPr/>
            <p:nvPr/>
          </p:nvSpPr>
          <p:spPr>
            <a:xfrm>
              <a:off x="0" y="0"/>
              <a:ext cx="2164788" cy="169979"/>
            </a:xfrm>
            <a:custGeom>
              <a:avLst/>
              <a:gdLst/>
              <a:ahLst/>
              <a:cxnLst/>
              <a:rect l="l" t="t" r="r" b="b"/>
              <a:pathLst>
                <a:path w="2164788" h="169979">
                  <a:moveTo>
                    <a:pt x="0" y="0"/>
                  </a:moveTo>
                  <a:lnTo>
                    <a:pt x="2164788" y="0"/>
                  </a:lnTo>
                  <a:lnTo>
                    <a:pt x="2164788" y="169979"/>
                  </a:lnTo>
                  <a:lnTo>
                    <a:pt x="0" y="169979"/>
                  </a:lnTo>
                  <a:close/>
                </a:path>
              </a:pathLst>
            </a:custGeom>
            <a:solidFill>
              <a:srgbClr val="B35555"/>
            </a:solidFill>
          </p:spPr>
          <p:txBody>
            <a:bodyPr>
              <a:normAutofit/>
            </a:bodyPr>
            <a:lstStyle/>
            <a:p>
              <a:endParaRPr lang="ko-KR" altLang="en-US"/>
            </a:p>
          </p:txBody>
        </p:sp>
        <p:sp>
          <p:nvSpPr>
            <p:cNvPr id="4" name="TextBox 4"/>
            <p:cNvSpPr txBox="1"/>
            <p:nvPr/>
          </p:nvSpPr>
          <p:spPr>
            <a:xfrm>
              <a:off x="0" y="-47625"/>
              <a:ext cx="2164788" cy="217604"/>
            </a:xfrm>
            <a:prstGeom prst="rect">
              <a:avLst/>
            </a:prstGeom>
          </p:spPr>
          <p:txBody>
            <a:bodyPr lIns="50800" tIns="50800" rIns="50800" bIns="50800" rtlCol="0" anchor="ctr">
              <a:normAutofit/>
            </a:bodyPr>
            <a:lstStyle/>
            <a:p>
              <a:pPr algn="ctr">
                <a:lnSpc>
                  <a:spcPts val="2587"/>
                </a:lnSpc>
              </a:pPr>
              <a:endParaRPr/>
            </a:p>
          </p:txBody>
        </p:sp>
      </p:grpSp>
      <p:sp>
        <p:nvSpPr>
          <p:cNvPr id="5" name="TextBox 5"/>
          <p:cNvSpPr txBox="1"/>
          <p:nvPr/>
        </p:nvSpPr>
        <p:spPr>
          <a:xfrm>
            <a:off x="2997194" y="2485057"/>
            <a:ext cx="12293611" cy="1318000"/>
          </a:xfrm>
          <a:prstGeom prst="rect">
            <a:avLst/>
          </a:prstGeom>
        </p:spPr>
        <p:txBody>
          <a:bodyPr lIns="0" tIns="0" rIns="0" bIns="0" rtlCol="0" anchor="t">
            <a:normAutofit/>
          </a:bodyPr>
          <a:lstStyle/>
          <a:p>
            <a:pPr marL="0" lvl="0" indent="0" algn="ctr">
              <a:lnSpc>
                <a:spcPts val="9961"/>
              </a:lnSpc>
            </a:pPr>
            <a:r>
              <a:rPr lang="en-US" sz="9765" spc="-195">
                <a:solidFill>
                  <a:srgbClr val="333333"/>
                </a:solidFill>
                <a:latin typeface="JASO Sans"/>
                <a:ea typeface="JASO Sans"/>
                <a:cs typeface="JASO Sans"/>
                <a:sym typeface="JASO Sans"/>
              </a:rPr>
              <a:t>경청해주셔서</a:t>
            </a:r>
          </a:p>
        </p:txBody>
      </p:sp>
      <p:sp>
        <p:nvSpPr>
          <p:cNvPr id="6" name="TextBox 6"/>
          <p:cNvSpPr txBox="1"/>
          <p:nvPr/>
        </p:nvSpPr>
        <p:spPr>
          <a:xfrm>
            <a:off x="3084552" y="3926882"/>
            <a:ext cx="12293611" cy="1318642"/>
          </a:xfrm>
          <a:prstGeom prst="rect">
            <a:avLst/>
          </a:prstGeom>
        </p:spPr>
        <p:txBody>
          <a:bodyPr lIns="0" tIns="0" rIns="0" bIns="0" rtlCol="0" anchor="t">
            <a:normAutofit/>
          </a:bodyPr>
          <a:lstStyle/>
          <a:p>
            <a:pPr marL="0" lvl="0" indent="0" algn="ctr">
              <a:lnSpc>
                <a:spcPts val="9961"/>
              </a:lnSpc>
            </a:pPr>
            <a:r>
              <a:rPr lang="en-US" sz="9765" b="1" spc="-195">
                <a:solidFill>
                  <a:srgbClr val="B35555"/>
                </a:solidFill>
                <a:latin typeface="JASO Sans Bold"/>
                <a:ea typeface="JASO Sans Bold"/>
                <a:cs typeface="JASO Sans Bold"/>
                <a:sym typeface="JASO Sans Bold"/>
              </a:rPr>
              <a:t>감사합니다.</a:t>
            </a:r>
          </a:p>
        </p:txBody>
      </p:sp>
      <p:sp>
        <p:nvSpPr>
          <p:cNvPr id="7" name="TextBox 7"/>
          <p:cNvSpPr txBox="1"/>
          <p:nvPr/>
        </p:nvSpPr>
        <p:spPr>
          <a:xfrm>
            <a:off x="3883564" y="5902013"/>
            <a:ext cx="10520872" cy="298977"/>
          </a:xfrm>
          <a:prstGeom prst="rect">
            <a:avLst/>
          </a:prstGeom>
        </p:spPr>
        <p:txBody>
          <a:bodyPr lIns="0" tIns="0" rIns="0" bIns="0" rtlCol="0" anchor="t">
            <a:normAutofit/>
          </a:bodyPr>
          <a:lstStyle/>
          <a:p>
            <a:pPr algn="ctr">
              <a:lnSpc>
                <a:spcPts val="2587"/>
              </a:lnSpc>
            </a:pPr>
            <a:r>
              <a:rPr lang="en-US" sz="1679" spc="-16" dirty="0" err="1">
                <a:solidFill>
                  <a:srgbClr val="333333">
                    <a:alpha val="45882"/>
                  </a:srgbClr>
                </a:solidFill>
                <a:latin typeface="JASO Sans"/>
                <a:ea typeface="JASO Sans"/>
                <a:cs typeface="JASO Sans"/>
                <a:sym typeface="JASO Sans"/>
              </a:rPr>
              <a:t>실무에</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바로</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적용할</a:t>
            </a:r>
            <a:r>
              <a:rPr lang="en-US" sz="1679" spc="-16" dirty="0">
                <a:solidFill>
                  <a:srgbClr val="333333">
                    <a:alpha val="45882"/>
                  </a:srgbClr>
                </a:solidFill>
                <a:latin typeface="JASO Sans"/>
                <a:ea typeface="JASO Sans"/>
                <a:cs typeface="JASO Sans"/>
                <a:sym typeface="JASO Sans"/>
              </a:rPr>
              <a:t> 수 </a:t>
            </a:r>
            <a:r>
              <a:rPr lang="en-US" sz="1679" spc="-16" dirty="0" err="1">
                <a:solidFill>
                  <a:srgbClr val="333333">
                    <a:alpha val="45882"/>
                  </a:srgbClr>
                </a:solidFill>
                <a:latin typeface="JASO Sans"/>
                <a:ea typeface="JASO Sans"/>
                <a:cs typeface="JASO Sans"/>
                <a:sym typeface="JASO Sans"/>
              </a:rPr>
              <a:t>있는</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슬라이드</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구성법을</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소개하며</a:t>
            </a:r>
            <a:r>
              <a:rPr lang="en-US" sz="1679" spc="-16" dirty="0">
                <a:solidFill>
                  <a:srgbClr val="333333">
                    <a:alpha val="45882"/>
                  </a:srgbClr>
                </a:solidFill>
                <a:latin typeface="JASO Sans"/>
                <a:ea typeface="JASO Sans"/>
                <a:cs typeface="JASO Sans"/>
                <a:sym typeface="JASO Sans"/>
              </a:rPr>
              <a:t>, 각 </a:t>
            </a:r>
            <a:r>
              <a:rPr lang="en-US" sz="1679" spc="-16" dirty="0" err="1">
                <a:solidFill>
                  <a:srgbClr val="333333">
                    <a:alpha val="45882"/>
                  </a:srgbClr>
                </a:solidFill>
                <a:latin typeface="JASO Sans"/>
                <a:ea typeface="JASO Sans"/>
                <a:cs typeface="JASO Sans"/>
                <a:sym typeface="JASO Sans"/>
              </a:rPr>
              <a:t>슬라이드는</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실제</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시각적</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배치를</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예시로</a:t>
            </a:r>
            <a:r>
              <a:rPr lang="en-US" sz="1679" spc="-16" dirty="0">
                <a:solidFill>
                  <a:srgbClr val="333333">
                    <a:alpha val="45882"/>
                  </a:srgbClr>
                </a:solidFill>
                <a:latin typeface="JASO Sans"/>
                <a:ea typeface="JASO Sans"/>
                <a:cs typeface="JASO Sans"/>
                <a:sym typeface="JASO Sans"/>
              </a:rPr>
              <a:t> </a:t>
            </a:r>
            <a:r>
              <a:rPr lang="en-US" sz="1679" spc="-16" dirty="0" err="1">
                <a:solidFill>
                  <a:srgbClr val="333333">
                    <a:alpha val="45882"/>
                  </a:srgbClr>
                </a:solidFill>
                <a:latin typeface="JASO Sans"/>
                <a:ea typeface="JASO Sans"/>
                <a:cs typeface="JASO Sans"/>
                <a:sym typeface="JASO Sans"/>
              </a:rPr>
              <a:t>보여줍니다</a:t>
            </a:r>
            <a:r>
              <a:rPr lang="en-US" sz="1679" spc="-16" dirty="0">
                <a:solidFill>
                  <a:srgbClr val="333333">
                    <a:alpha val="45882"/>
                  </a:srgbClr>
                </a:solidFill>
                <a:latin typeface="JASO Sans"/>
                <a:ea typeface="JASO Sans"/>
                <a:cs typeface="JASO Sans"/>
                <a:sym typeface="JASO Sans"/>
              </a:rPr>
              <a:t>. </a:t>
            </a:r>
          </a:p>
        </p:txBody>
      </p:sp>
      <p:sp>
        <p:nvSpPr>
          <p:cNvPr id="8" name="TextBox 8"/>
          <p:cNvSpPr txBox="1"/>
          <p:nvPr/>
        </p:nvSpPr>
        <p:spPr>
          <a:xfrm>
            <a:off x="5500010" y="5427293"/>
            <a:ext cx="7287980" cy="350895"/>
          </a:xfrm>
          <a:prstGeom prst="rect">
            <a:avLst/>
          </a:prstGeom>
        </p:spPr>
        <p:txBody>
          <a:bodyPr lIns="0" tIns="0" rIns="0" bIns="0" rtlCol="0" anchor="t">
            <a:normAutofit/>
          </a:bodyPr>
          <a:lstStyle/>
          <a:p>
            <a:pPr algn="ctr">
              <a:lnSpc>
                <a:spcPts val="2825"/>
              </a:lnSpc>
            </a:pPr>
            <a:r>
              <a:rPr lang="en-US" sz="2156" b="1" spc="-88" dirty="0" err="1">
                <a:solidFill>
                  <a:srgbClr val="333333">
                    <a:alpha val="93725"/>
                  </a:srgbClr>
                </a:solidFill>
                <a:latin typeface="JASO Sans Bold"/>
                <a:ea typeface="JASO Sans Bold"/>
                <a:cs typeface="JASO Sans Bold"/>
                <a:sym typeface="JASO Sans Bold"/>
              </a:rPr>
              <a:t>쉽게</a:t>
            </a:r>
            <a:r>
              <a:rPr lang="en-US" sz="2156" b="1" spc="-88" dirty="0">
                <a:solidFill>
                  <a:srgbClr val="333333">
                    <a:alpha val="93725"/>
                  </a:srgbClr>
                </a:solidFill>
                <a:latin typeface="JASO Sans Bold"/>
                <a:ea typeface="JASO Sans Bold"/>
                <a:cs typeface="JASO Sans Bold"/>
                <a:sym typeface="JASO Sans Bold"/>
              </a:rPr>
              <a:t> </a:t>
            </a:r>
            <a:r>
              <a:rPr lang="en-US" sz="2156" b="1" spc="-88" dirty="0" err="1">
                <a:solidFill>
                  <a:srgbClr val="333333">
                    <a:alpha val="93725"/>
                  </a:srgbClr>
                </a:solidFill>
                <a:latin typeface="JASO Sans Bold"/>
                <a:ea typeface="JASO Sans Bold"/>
                <a:cs typeface="JASO Sans Bold"/>
                <a:sym typeface="JASO Sans Bold"/>
              </a:rPr>
              <a:t>따라</a:t>
            </a:r>
            <a:r>
              <a:rPr lang="en-US" sz="2156" b="1" spc="-88" dirty="0">
                <a:solidFill>
                  <a:srgbClr val="333333">
                    <a:alpha val="93725"/>
                  </a:srgbClr>
                </a:solidFill>
                <a:latin typeface="JASO Sans Bold"/>
                <a:ea typeface="JASO Sans Bold"/>
                <a:cs typeface="JASO Sans Bold"/>
                <a:sym typeface="JASO Sans Bold"/>
              </a:rPr>
              <a:t> 할 수 </a:t>
            </a:r>
            <a:r>
              <a:rPr lang="en-US" sz="2156" b="1" spc="-88" dirty="0" err="1">
                <a:solidFill>
                  <a:srgbClr val="333333">
                    <a:alpha val="93725"/>
                  </a:srgbClr>
                </a:solidFill>
                <a:latin typeface="JASO Sans Bold"/>
                <a:ea typeface="JASO Sans Bold"/>
                <a:cs typeface="JASO Sans Bold"/>
                <a:sym typeface="JASO Sans Bold"/>
              </a:rPr>
              <a:t>있는</a:t>
            </a:r>
            <a:r>
              <a:rPr lang="en-US" sz="2156" b="1" spc="-88" dirty="0">
                <a:solidFill>
                  <a:srgbClr val="333333">
                    <a:alpha val="93725"/>
                  </a:srgbClr>
                </a:solidFill>
                <a:latin typeface="JASO Sans Bold"/>
                <a:ea typeface="JASO Sans Bold"/>
                <a:cs typeface="JASO Sans Bold"/>
                <a:sym typeface="JASO Sans Bold"/>
              </a:rPr>
              <a:t> </a:t>
            </a:r>
            <a:r>
              <a:rPr lang="en-US" sz="2156" b="1" spc="-88">
                <a:solidFill>
                  <a:srgbClr val="333333">
                    <a:alpha val="93725"/>
                  </a:srgbClr>
                </a:solidFill>
                <a:latin typeface="JASO Sans Bold"/>
                <a:ea typeface="JASO Sans Bold"/>
                <a:cs typeface="JASO Sans Bold"/>
                <a:sym typeface="JASO Sans Bold"/>
              </a:rPr>
              <a:t>다양한 </a:t>
            </a:r>
            <a:r>
              <a:rPr lang="en-US" sz="2156" b="1" spc="-88" dirty="0" err="1">
                <a:solidFill>
                  <a:srgbClr val="333333">
                    <a:alpha val="93725"/>
                  </a:srgbClr>
                </a:solidFill>
                <a:latin typeface="JASO Sans Bold"/>
                <a:ea typeface="JASO Sans Bold"/>
                <a:cs typeface="JASO Sans Bold"/>
                <a:sym typeface="JASO Sans Bold"/>
              </a:rPr>
              <a:t>레이아웃</a:t>
            </a:r>
            <a:r>
              <a:rPr lang="en-US" sz="2156" b="1" spc="-88" dirty="0">
                <a:solidFill>
                  <a:srgbClr val="333333">
                    <a:alpha val="93725"/>
                  </a:srgbClr>
                </a:solidFill>
                <a:latin typeface="JASO Sans Bold"/>
                <a:ea typeface="JASO Sans Bold"/>
                <a:cs typeface="JASO Sans Bold"/>
                <a:sym typeface="JASO Sans Bold"/>
              </a:rPr>
              <a:t> </a:t>
            </a:r>
            <a:r>
              <a:rPr lang="en-US" sz="2156" b="1" spc="-88" dirty="0" err="1">
                <a:solidFill>
                  <a:srgbClr val="333333">
                    <a:alpha val="93725"/>
                  </a:srgbClr>
                </a:solidFill>
                <a:latin typeface="JASO Sans Bold"/>
                <a:ea typeface="JASO Sans Bold"/>
                <a:cs typeface="JASO Sans Bold"/>
                <a:sym typeface="JASO Sans Bold"/>
              </a:rPr>
              <a:t>가이드</a:t>
            </a:r>
            <a:endParaRPr lang="en-US" sz="2156" b="1" spc="-88" dirty="0">
              <a:solidFill>
                <a:srgbClr val="333333">
                  <a:alpha val="93725"/>
                </a:srgbClr>
              </a:solidFill>
              <a:latin typeface="JASO Sans Bold"/>
              <a:ea typeface="JASO Sans Bold"/>
              <a:cs typeface="JASO Sans Bold"/>
              <a:sym typeface="JASO Sans Bold"/>
            </a:endParaRPr>
          </a:p>
        </p:txBody>
      </p:sp>
      <p:sp>
        <p:nvSpPr>
          <p:cNvPr id="9" name="TextBox 9"/>
          <p:cNvSpPr txBox="1"/>
          <p:nvPr/>
        </p:nvSpPr>
        <p:spPr>
          <a:xfrm>
            <a:off x="4849201" y="7425302"/>
            <a:ext cx="1843297" cy="289135"/>
          </a:xfrm>
          <a:prstGeom prst="rect">
            <a:avLst/>
          </a:prstGeom>
        </p:spPr>
        <p:txBody>
          <a:bodyPr lIns="0" tIns="0" rIns="0" bIns="0" rtlCol="0" anchor="t">
            <a:normAutofit/>
          </a:bodyPr>
          <a:lstStyle/>
          <a:p>
            <a:pPr algn="ctr">
              <a:lnSpc>
                <a:spcPts val="2358"/>
              </a:lnSpc>
            </a:pPr>
            <a:r>
              <a:rPr lang="en-US" sz="1800" spc="-36">
                <a:solidFill>
                  <a:srgbClr val="F5F4F4"/>
                </a:solidFill>
                <a:latin typeface="JASO Sans Light"/>
                <a:ea typeface="JASO Sans Light"/>
                <a:cs typeface="JASO Sans Light"/>
                <a:sym typeface="JASO Sans Light"/>
              </a:rPr>
              <a:t>마케팅 1팀 이수진</a:t>
            </a:r>
          </a:p>
        </p:txBody>
      </p:sp>
      <p:sp>
        <p:nvSpPr>
          <p:cNvPr id="10" name="TextBox 10"/>
          <p:cNvSpPr txBox="1"/>
          <p:nvPr/>
        </p:nvSpPr>
        <p:spPr>
          <a:xfrm>
            <a:off x="8223984" y="7425302"/>
            <a:ext cx="1843297" cy="289135"/>
          </a:xfrm>
          <a:prstGeom prst="rect">
            <a:avLst/>
          </a:prstGeom>
        </p:spPr>
        <p:txBody>
          <a:bodyPr lIns="0" tIns="0" rIns="0" bIns="0" rtlCol="0" anchor="t">
            <a:normAutofit/>
          </a:bodyPr>
          <a:lstStyle/>
          <a:p>
            <a:pPr algn="ctr">
              <a:lnSpc>
                <a:spcPts val="2358"/>
              </a:lnSpc>
            </a:pPr>
            <a:r>
              <a:rPr lang="en-US" sz="1800" spc="-36">
                <a:solidFill>
                  <a:srgbClr val="F5F4F4"/>
                </a:solidFill>
                <a:latin typeface="JASO Sans Light"/>
                <a:ea typeface="JASO Sans Light"/>
                <a:cs typeface="JASO Sans Light"/>
                <a:sym typeface="JASO Sans Light"/>
              </a:rPr>
              <a:t>2060.06.29</a:t>
            </a:r>
          </a:p>
        </p:txBody>
      </p:sp>
      <p:sp>
        <p:nvSpPr>
          <p:cNvPr id="11" name="TextBox 11"/>
          <p:cNvSpPr txBox="1"/>
          <p:nvPr/>
        </p:nvSpPr>
        <p:spPr>
          <a:xfrm>
            <a:off x="11015035" y="7521970"/>
            <a:ext cx="3038051" cy="162473"/>
          </a:xfrm>
          <a:prstGeom prst="rect">
            <a:avLst/>
          </a:prstGeom>
        </p:spPr>
        <p:txBody>
          <a:bodyPr lIns="0" tIns="0" rIns="0" bIns="0" rtlCol="0" anchor="t">
            <a:normAutofit fontScale="92500"/>
          </a:bodyPr>
          <a:lstStyle/>
          <a:p>
            <a:pPr algn="ctr">
              <a:lnSpc>
                <a:spcPts val="1187"/>
              </a:lnSpc>
            </a:pPr>
            <a:r>
              <a:rPr lang="en-US" sz="1430" spc="42">
                <a:solidFill>
                  <a:srgbClr val="F5F4F4"/>
                </a:solidFill>
                <a:latin typeface="Poppins Light"/>
                <a:ea typeface="Poppins Light"/>
                <a:cs typeface="Poppins Light"/>
                <a:sym typeface="Poppins Light"/>
              </a:rPr>
              <a:t>hello@reallygreatsite.com</a:t>
            </a:r>
          </a:p>
        </p:txBody>
      </p:sp>
      <p:sp>
        <p:nvSpPr>
          <p:cNvPr id="12" name="AutoShape 12"/>
          <p:cNvSpPr/>
          <p:nvPr/>
        </p:nvSpPr>
        <p:spPr>
          <a:xfrm flipV="1">
            <a:off x="7485796" y="7398014"/>
            <a:ext cx="0" cy="381811"/>
          </a:xfrm>
          <a:prstGeom prst="line">
            <a:avLst/>
          </a:prstGeom>
          <a:ln w="9525" cap="rnd">
            <a:solidFill>
              <a:srgbClr val="F5F4F4">
                <a:alpha val="49804"/>
              </a:srgbClr>
            </a:solidFill>
            <a:prstDash val="solid"/>
            <a:headEnd type="none" w="sm" len="sm"/>
            <a:tailEnd type="none" w="sm" len="sm"/>
          </a:ln>
        </p:spPr>
        <p:txBody>
          <a:bodyPr>
            <a:normAutofit fontScale="25000" lnSpcReduction="20000"/>
          </a:bodyPr>
          <a:lstStyle/>
          <a:p>
            <a:endParaRPr lang="ko-KR" altLang="en-US"/>
          </a:p>
        </p:txBody>
      </p:sp>
      <p:sp>
        <p:nvSpPr>
          <p:cNvPr id="13" name="AutoShape 13"/>
          <p:cNvSpPr/>
          <p:nvPr/>
        </p:nvSpPr>
        <p:spPr>
          <a:xfrm flipV="1">
            <a:off x="10803816" y="7398014"/>
            <a:ext cx="0" cy="381811"/>
          </a:xfrm>
          <a:prstGeom prst="line">
            <a:avLst/>
          </a:prstGeom>
          <a:ln w="9525" cap="rnd">
            <a:solidFill>
              <a:srgbClr val="F5F4F4">
                <a:alpha val="49804"/>
              </a:srgbClr>
            </a:solidFill>
            <a:prstDash val="solid"/>
            <a:headEnd type="none" w="sm" len="sm"/>
            <a:tailEnd type="none" w="sm" len="sm"/>
          </a:ln>
        </p:spPr>
        <p:txBody>
          <a:bodyPr>
            <a:normAutofit fontScale="25000" lnSpcReduction="20000"/>
          </a:bodyPr>
          <a:lstStyle/>
          <a:p>
            <a:endParaRPr lang="ko-KR" altLang="en-US"/>
          </a:p>
        </p:txBody>
      </p:sp>
      <p:grpSp>
        <p:nvGrpSpPr>
          <p:cNvPr id="14" name="Group 14"/>
          <p:cNvGrpSpPr/>
          <p:nvPr/>
        </p:nvGrpSpPr>
        <p:grpSpPr>
          <a:xfrm>
            <a:off x="15043432" y="485661"/>
            <a:ext cx="2795067" cy="240203"/>
            <a:chOff x="0" y="0"/>
            <a:chExt cx="3726756" cy="320271"/>
          </a:xfrm>
        </p:grpSpPr>
        <p:sp>
          <p:nvSpPr>
            <p:cNvPr id="15" name="Freeform 15"/>
            <p:cNvSpPr/>
            <p:nvPr/>
          </p:nvSpPr>
          <p:spPr>
            <a:xfrm>
              <a:off x="1679974" y="2970"/>
              <a:ext cx="225532" cy="314331"/>
            </a:xfrm>
            <a:custGeom>
              <a:avLst/>
              <a:gdLst/>
              <a:ahLst/>
              <a:cxnLst/>
              <a:rect l="l" t="t" r="r" b="b"/>
              <a:pathLst>
                <a:path w="225532" h="314331">
                  <a:moveTo>
                    <a:pt x="0" y="0"/>
                  </a:moveTo>
                  <a:lnTo>
                    <a:pt x="225532" y="0"/>
                  </a:lnTo>
                  <a:lnTo>
                    <a:pt x="225532" y="314331"/>
                  </a:lnTo>
                  <a:lnTo>
                    <a:pt x="0" y="314331"/>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a:ln cap="sq">
              <a:noFill/>
              <a:prstDash val="solid"/>
              <a:miter/>
            </a:ln>
          </p:spPr>
        </p:sp>
        <p:sp>
          <p:nvSpPr>
            <p:cNvPr id="16" name="Freeform 16"/>
            <p:cNvSpPr/>
            <p:nvPr/>
          </p:nvSpPr>
          <p:spPr>
            <a:xfrm>
              <a:off x="1106158" y="11191"/>
              <a:ext cx="287090" cy="297888"/>
            </a:xfrm>
            <a:custGeom>
              <a:avLst/>
              <a:gdLst/>
              <a:ahLst/>
              <a:cxnLst/>
              <a:rect l="l" t="t" r="r" b="b"/>
              <a:pathLst>
                <a:path w="287090" h="297888">
                  <a:moveTo>
                    <a:pt x="0" y="0"/>
                  </a:moveTo>
                  <a:lnTo>
                    <a:pt x="287090" y="0"/>
                  </a:lnTo>
                  <a:lnTo>
                    <a:pt x="287090" y="297888"/>
                  </a:lnTo>
                  <a:lnTo>
                    <a:pt x="0" y="29788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a:ln cap="sq">
              <a:noFill/>
              <a:prstDash val="solid"/>
              <a:miter/>
            </a:ln>
          </p:spPr>
        </p:sp>
        <p:sp>
          <p:nvSpPr>
            <p:cNvPr id="17" name="Freeform 17"/>
            <p:cNvSpPr/>
            <p:nvPr/>
          </p:nvSpPr>
          <p:spPr>
            <a:xfrm>
              <a:off x="2172206" y="0"/>
              <a:ext cx="321880" cy="320271"/>
            </a:xfrm>
            <a:custGeom>
              <a:avLst/>
              <a:gdLst/>
              <a:ahLst/>
              <a:cxnLst/>
              <a:rect l="l" t="t" r="r" b="b"/>
              <a:pathLst>
                <a:path w="321880" h="320271">
                  <a:moveTo>
                    <a:pt x="0" y="0"/>
                  </a:moveTo>
                  <a:lnTo>
                    <a:pt x="321880" y="0"/>
                  </a:lnTo>
                  <a:lnTo>
                    <a:pt x="321880" y="320271"/>
                  </a:lnTo>
                  <a:lnTo>
                    <a:pt x="0" y="320271"/>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a:ln cap="sq">
              <a:noFill/>
              <a:prstDash val="solid"/>
              <a:miter/>
            </a:ln>
          </p:spPr>
        </p:sp>
        <p:sp>
          <p:nvSpPr>
            <p:cNvPr id="18" name="Freeform 18"/>
            <p:cNvSpPr/>
            <p:nvPr/>
          </p:nvSpPr>
          <p:spPr>
            <a:xfrm>
              <a:off x="2755412" y="0"/>
              <a:ext cx="320271" cy="320271"/>
            </a:xfrm>
            <a:custGeom>
              <a:avLst/>
              <a:gdLst/>
              <a:ahLst/>
              <a:cxnLst/>
              <a:rect l="l" t="t" r="r" b="b"/>
              <a:pathLst>
                <a:path w="320271" h="320271">
                  <a:moveTo>
                    <a:pt x="0" y="0"/>
                  </a:moveTo>
                  <a:lnTo>
                    <a:pt x="320271" y="0"/>
                  </a:lnTo>
                  <a:lnTo>
                    <a:pt x="320271" y="320271"/>
                  </a:lnTo>
                  <a:lnTo>
                    <a:pt x="0" y="320271"/>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a:ln cap="sq">
              <a:noFill/>
              <a:prstDash val="solid"/>
              <a:miter/>
            </a:ln>
          </p:spPr>
        </p:sp>
        <p:sp>
          <p:nvSpPr>
            <p:cNvPr id="19" name="Freeform 19"/>
            <p:cNvSpPr/>
            <p:nvPr/>
          </p:nvSpPr>
          <p:spPr>
            <a:xfrm rot="-5400000">
              <a:off x="3465879" y="-52825"/>
              <a:ext cx="95832" cy="425921"/>
            </a:xfrm>
            <a:custGeom>
              <a:avLst/>
              <a:gdLst/>
              <a:ahLst/>
              <a:cxnLst/>
              <a:rect l="l" t="t" r="r" b="b"/>
              <a:pathLst>
                <a:path w="95832" h="425921">
                  <a:moveTo>
                    <a:pt x="0" y="0"/>
                  </a:moveTo>
                  <a:lnTo>
                    <a:pt x="95832" y="0"/>
                  </a:lnTo>
                  <a:lnTo>
                    <a:pt x="95832" y="425921"/>
                  </a:lnTo>
                  <a:lnTo>
                    <a:pt x="0" y="425921"/>
                  </a:lnTo>
                  <a:lnTo>
                    <a:pt x="0" y="0"/>
                  </a:lnTo>
                  <a:close/>
                </a:path>
              </a:pathLst>
            </a:custGeom>
            <a:blipFill>
              <a:blip r:embed="rId10">
                <a:alphaModFix amt="30000"/>
                <a:extLst>
                  <a:ext uri="{96DAC541-7B7A-43D3-8B79-37D633B846F1}">
                    <asvg:svgBlip xmlns:asvg="http://schemas.microsoft.com/office/drawing/2016/SVG/main" r:embed="rId11"/>
                  </a:ext>
                </a:extLst>
              </a:blip>
              <a:stretch>
                <a:fillRect/>
              </a:stretch>
            </a:blipFill>
            <a:ln cap="sq">
              <a:noFill/>
              <a:prstDash val="solid"/>
              <a:miter/>
            </a:ln>
          </p:spPr>
        </p:sp>
        <p:sp>
          <p:nvSpPr>
            <p:cNvPr id="20" name="Freeform 20"/>
            <p:cNvSpPr/>
            <p:nvPr/>
          </p:nvSpPr>
          <p:spPr>
            <a:xfrm>
              <a:off x="0" y="14822"/>
              <a:ext cx="283522" cy="287839"/>
            </a:xfrm>
            <a:custGeom>
              <a:avLst/>
              <a:gdLst/>
              <a:ahLst/>
              <a:cxnLst/>
              <a:rect l="l" t="t" r="r" b="b"/>
              <a:pathLst>
                <a:path w="283522" h="287839">
                  <a:moveTo>
                    <a:pt x="0" y="0"/>
                  </a:moveTo>
                  <a:lnTo>
                    <a:pt x="283522" y="0"/>
                  </a:lnTo>
                  <a:lnTo>
                    <a:pt x="283522" y="287839"/>
                  </a:lnTo>
                  <a:lnTo>
                    <a:pt x="0" y="287839"/>
                  </a:lnTo>
                  <a:lnTo>
                    <a:pt x="0" y="0"/>
                  </a:lnTo>
                  <a:close/>
                </a:path>
              </a:pathLst>
            </a:custGeom>
            <a:blipFill>
              <a:blip r:embed="rId12">
                <a:alphaModFix amt="30000"/>
                <a:extLst>
                  <a:ext uri="{96DAC541-7B7A-43D3-8B79-37D633B846F1}">
                    <asvg:svgBlip xmlns:asvg="http://schemas.microsoft.com/office/drawing/2016/SVG/main" r:embed="rId13"/>
                  </a:ext>
                </a:extLst>
              </a:blip>
              <a:stretch>
                <a:fillRect/>
              </a:stretch>
            </a:blipFill>
          </p:spPr>
        </p:sp>
        <p:sp>
          <p:nvSpPr>
            <p:cNvPr id="21" name="Freeform 21"/>
            <p:cNvSpPr/>
            <p:nvPr/>
          </p:nvSpPr>
          <p:spPr>
            <a:xfrm>
              <a:off x="537522" y="2970"/>
              <a:ext cx="314636" cy="299691"/>
            </a:xfrm>
            <a:custGeom>
              <a:avLst/>
              <a:gdLst/>
              <a:ahLst/>
              <a:cxnLst/>
              <a:rect l="l" t="t" r="r" b="b"/>
              <a:pathLst>
                <a:path w="314636" h="299691">
                  <a:moveTo>
                    <a:pt x="0" y="0"/>
                  </a:moveTo>
                  <a:lnTo>
                    <a:pt x="314636" y="0"/>
                  </a:lnTo>
                  <a:lnTo>
                    <a:pt x="314636" y="299691"/>
                  </a:lnTo>
                  <a:lnTo>
                    <a:pt x="0" y="299691"/>
                  </a:lnTo>
                  <a:lnTo>
                    <a:pt x="0" y="0"/>
                  </a:lnTo>
                  <a:close/>
                </a:path>
              </a:pathLst>
            </a:custGeom>
            <a:blipFill>
              <a:blip r:embed="rId14">
                <a:alphaModFix amt="30000"/>
                <a:extLst>
                  <a:ext uri="{96DAC541-7B7A-43D3-8B79-37D633B846F1}">
                    <asvg:svgBlip xmlns:asvg="http://schemas.microsoft.com/office/drawing/2016/SVG/main" r:embed="rId15"/>
                  </a:ext>
                </a:extLst>
              </a:blip>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1149</Words>
  <Application>Microsoft Office PowerPoint</Application>
  <PresentationFormat>사용자 지정</PresentationFormat>
  <Paragraphs>176</Paragraphs>
  <Slides>15</Slides>
  <Notes>0</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15</vt:i4>
      </vt:variant>
    </vt:vector>
  </HeadingPairs>
  <TitlesOfParts>
    <vt:vector size="26" baseType="lpstr">
      <vt:lpstr>Poppins Semi-Bold</vt:lpstr>
      <vt:lpstr>JASO Sans</vt:lpstr>
      <vt:lpstr>Poppins Light</vt:lpstr>
      <vt:lpstr>Arial</vt:lpstr>
      <vt:lpstr>JASO Sans Heavy</vt:lpstr>
      <vt:lpstr>DIN Next</vt:lpstr>
      <vt:lpstr>Calibri</vt:lpstr>
      <vt:lpstr>Poppins Bold</vt:lpstr>
      <vt:lpstr>JASO Sans Light</vt:lpstr>
      <vt:lpstr>JASO Sans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빨간색과 아이보리 깔끔한 비즈니스 기획서 발표 보고서 PPT 디자인 레이아웃 템플릿 프레젠테이션</dc:title>
  <cp:lastModifiedBy>CloudDX</cp:lastModifiedBy>
  <cp:revision>3</cp:revision>
  <dcterms:created xsi:type="dcterms:W3CDTF">2006-08-16T00:00:00Z</dcterms:created>
  <dcterms:modified xsi:type="dcterms:W3CDTF">2026-08-13T00:39:58Z</dcterms:modified>
  <dc:identifier>DAHSDvoUxII</dc:identifier>
</cp:coreProperties>
</file>